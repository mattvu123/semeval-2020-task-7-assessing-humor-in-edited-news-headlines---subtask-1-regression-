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3" r:id="rId1"/>
  </p:sldMasterIdLst>
  <p:notesMasterIdLst>
    <p:notesMasterId r:id="rId21"/>
  </p:notesMasterIdLst>
  <p:sldIdLst>
    <p:sldId id="256" r:id="rId2"/>
    <p:sldId id="275" r:id="rId3"/>
    <p:sldId id="276" r:id="rId4"/>
    <p:sldId id="278" r:id="rId5"/>
    <p:sldId id="263" r:id="rId6"/>
    <p:sldId id="261" r:id="rId7"/>
    <p:sldId id="258" r:id="rId8"/>
    <p:sldId id="265" r:id="rId9"/>
    <p:sldId id="280" r:id="rId10"/>
    <p:sldId id="267" r:id="rId11"/>
    <p:sldId id="268" r:id="rId12"/>
    <p:sldId id="269" r:id="rId13"/>
    <p:sldId id="270" r:id="rId14"/>
    <p:sldId id="271" r:id="rId15"/>
    <p:sldId id="272" r:id="rId16"/>
    <p:sldId id="273" r:id="rId17"/>
    <p:sldId id="274" r:id="rId18"/>
    <p:sldId id="266"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51F976-6543-C9A0-D47F-35C0F6734C0C}" name="Matthew L Vu" initials="MV" userId="S::mvu23@gmu.edu::fe204a1e-abb2-4ba0-9b66-4018afdb83d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99C"/>
    <a:srgbClr val="24A3FF"/>
    <a:srgbClr val="0874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00BAB-9595-B849-87F7-9E650FE3287E}" v="385" dt="2023-11-15T04:44:18.976"/>
    <p1510:client id="{23B93DBF-9318-4224-8067-F7E30D519C1E}" v="269" dt="2023-11-16T01:17:26.719"/>
    <p1510:client id="{2C1F263D-0C22-F95F-E4F4-4167D5CE6297}" v="4525" dt="2023-11-15T04:20:17.207"/>
    <p1510:client id="{64DF77A2-DB69-6507-6730-4F42E6737835}" v="4" dt="2023-11-15T03:42:28.753"/>
    <p1510:client id="{6F71E700-712E-40BA-A773-A7A73200520A}" v="67" dt="2023-11-15T04:32:09.9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2746D9-BE31-CC44-AC01-41D2AFCEF9E4}"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6DB6D090-4A9A-BE4D-96D1-DA16959E0A73}">
      <dgm:prSet phldr="0" custT="1"/>
      <dgm:spPr/>
      <dgm:t>
        <a:bodyPr/>
        <a:lstStyle/>
        <a:p>
          <a:pPr algn="ctr"/>
          <a:r>
            <a:rPr lang="en-US" sz="3200">
              <a:latin typeface="+mj-lt"/>
            </a:rPr>
            <a:t>Introduction</a:t>
          </a:r>
        </a:p>
      </dgm:t>
    </dgm:pt>
    <dgm:pt modelId="{61A05D8C-5DBA-DA4F-A866-20BC8C9017ED}" type="sibTrans" cxnId="{2B287C73-40CE-E543-AF24-4ED732519CA7}">
      <dgm:prSet/>
      <dgm:spPr/>
      <dgm:t>
        <a:bodyPr/>
        <a:lstStyle/>
        <a:p>
          <a:endParaRPr lang="en-US"/>
        </a:p>
      </dgm:t>
    </dgm:pt>
    <dgm:pt modelId="{89CF7F20-EA63-3D4C-BD87-B1E720DA0D84}" type="parTrans" cxnId="{2B287C73-40CE-E543-AF24-4ED732519CA7}">
      <dgm:prSet/>
      <dgm:spPr/>
      <dgm:t>
        <a:bodyPr/>
        <a:lstStyle/>
        <a:p>
          <a:endParaRPr lang="en-US"/>
        </a:p>
      </dgm:t>
    </dgm:pt>
    <dgm:pt modelId="{DB94B123-EACD-3D4B-BEE6-D347DA4107A7}" type="pres">
      <dgm:prSet presAssocID="{752746D9-BE31-CC44-AC01-41D2AFCEF9E4}" presName="linear" presStyleCnt="0">
        <dgm:presLayoutVars>
          <dgm:animLvl val="lvl"/>
          <dgm:resizeHandles val="exact"/>
        </dgm:presLayoutVars>
      </dgm:prSet>
      <dgm:spPr/>
    </dgm:pt>
    <dgm:pt modelId="{75C2DF1C-0ADC-014F-AABE-46D88CD19130}" type="pres">
      <dgm:prSet presAssocID="{6DB6D090-4A9A-BE4D-96D1-DA16959E0A73}" presName="parentText" presStyleLbl="node1" presStyleIdx="0" presStyleCnt="1" custLinFactY="14137" custLinFactNeighborX="-33" custLinFactNeighborY="100000">
        <dgm:presLayoutVars>
          <dgm:chMax val="0"/>
          <dgm:bulletEnabled val="1"/>
        </dgm:presLayoutVars>
      </dgm:prSet>
      <dgm:spPr/>
    </dgm:pt>
  </dgm:ptLst>
  <dgm:cxnLst>
    <dgm:cxn modelId="{1069DC63-ED2A-7040-9052-F77C97735CCB}" type="presOf" srcId="{752746D9-BE31-CC44-AC01-41D2AFCEF9E4}" destId="{DB94B123-EACD-3D4B-BEE6-D347DA4107A7}" srcOrd="0" destOrd="0" presId="urn:microsoft.com/office/officeart/2005/8/layout/vList2"/>
    <dgm:cxn modelId="{2B287C73-40CE-E543-AF24-4ED732519CA7}" srcId="{752746D9-BE31-CC44-AC01-41D2AFCEF9E4}" destId="{6DB6D090-4A9A-BE4D-96D1-DA16959E0A73}" srcOrd="0" destOrd="0" parTransId="{89CF7F20-EA63-3D4C-BD87-B1E720DA0D84}" sibTransId="{61A05D8C-5DBA-DA4F-A866-20BC8C9017ED}"/>
    <dgm:cxn modelId="{630C87AD-20F8-9543-8C2B-3ECD6D977570}" type="presOf" srcId="{6DB6D090-4A9A-BE4D-96D1-DA16959E0A73}" destId="{75C2DF1C-0ADC-014F-AABE-46D88CD19130}" srcOrd="0" destOrd="0" presId="urn:microsoft.com/office/officeart/2005/8/layout/vList2"/>
    <dgm:cxn modelId="{47D5B677-C801-A849-95D3-3476D88A73AF}" type="presParOf" srcId="{DB94B123-EACD-3D4B-BEE6-D347DA4107A7}" destId="{75C2DF1C-0ADC-014F-AABE-46D88CD1913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2746D9-BE31-CC44-AC01-41D2AFCEF9E4}"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6DB6D090-4A9A-BE4D-96D1-DA16959E0A73}">
      <dgm:prSet custT="1"/>
      <dgm:spPr/>
      <dgm:t>
        <a:bodyPr/>
        <a:lstStyle/>
        <a:p>
          <a:pPr algn="ctr"/>
          <a:r>
            <a:rPr lang="en-US" sz="3200" baseline="0">
              <a:latin typeface="+mj-lt"/>
            </a:rPr>
            <a:t>Significance</a:t>
          </a:r>
          <a:endParaRPr lang="en-US" sz="3200"/>
        </a:p>
      </dgm:t>
    </dgm:pt>
    <dgm:pt modelId="{89CF7F20-EA63-3D4C-BD87-B1E720DA0D84}" type="parTrans" cxnId="{2B287C73-40CE-E543-AF24-4ED732519CA7}">
      <dgm:prSet/>
      <dgm:spPr/>
      <dgm:t>
        <a:bodyPr/>
        <a:lstStyle/>
        <a:p>
          <a:endParaRPr lang="en-US"/>
        </a:p>
      </dgm:t>
    </dgm:pt>
    <dgm:pt modelId="{61A05D8C-5DBA-DA4F-A866-20BC8C9017ED}" type="sibTrans" cxnId="{2B287C73-40CE-E543-AF24-4ED732519CA7}">
      <dgm:prSet/>
      <dgm:spPr/>
      <dgm:t>
        <a:bodyPr/>
        <a:lstStyle/>
        <a:p>
          <a:endParaRPr lang="en-US"/>
        </a:p>
      </dgm:t>
    </dgm:pt>
    <dgm:pt modelId="{DB94B123-EACD-3D4B-BEE6-D347DA4107A7}" type="pres">
      <dgm:prSet presAssocID="{752746D9-BE31-CC44-AC01-41D2AFCEF9E4}" presName="linear" presStyleCnt="0">
        <dgm:presLayoutVars>
          <dgm:animLvl val="lvl"/>
          <dgm:resizeHandles val="exact"/>
        </dgm:presLayoutVars>
      </dgm:prSet>
      <dgm:spPr/>
    </dgm:pt>
    <dgm:pt modelId="{75C2DF1C-0ADC-014F-AABE-46D88CD19130}" type="pres">
      <dgm:prSet presAssocID="{6DB6D090-4A9A-BE4D-96D1-DA16959E0A73}" presName="parentText" presStyleLbl="node1" presStyleIdx="0" presStyleCnt="1">
        <dgm:presLayoutVars>
          <dgm:chMax val="0"/>
          <dgm:bulletEnabled val="1"/>
        </dgm:presLayoutVars>
      </dgm:prSet>
      <dgm:spPr/>
    </dgm:pt>
  </dgm:ptLst>
  <dgm:cxnLst>
    <dgm:cxn modelId="{1069DC63-ED2A-7040-9052-F77C97735CCB}" type="presOf" srcId="{752746D9-BE31-CC44-AC01-41D2AFCEF9E4}" destId="{DB94B123-EACD-3D4B-BEE6-D347DA4107A7}" srcOrd="0" destOrd="0" presId="urn:microsoft.com/office/officeart/2005/8/layout/vList2"/>
    <dgm:cxn modelId="{2B287C73-40CE-E543-AF24-4ED732519CA7}" srcId="{752746D9-BE31-CC44-AC01-41D2AFCEF9E4}" destId="{6DB6D090-4A9A-BE4D-96D1-DA16959E0A73}" srcOrd="0" destOrd="0" parTransId="{89CF7F20-EA63-3D4C-BD87-B1E720DA0D84}" sibTransId="{61A05D8C-5DBA-DA4F-A866-20BC8C9017ED}"/>
    <dgm:cxn modelId="{630C87AD-20F8-9543-8C2B-3ECD6D977570}" type="presOf" srcId="{6DB6D090-4A9A-BE4D-96D1-DA16959E0A73}" destId="{75C2DF1C-0ADC-014F-AABE-46D88CD19130}" srcOrd="0" destOrd="0" presId="urn:microsoft.com/office/officeart/2005/8/layout/vList2"/>
    <dgm:cxn modelId="{47D5B677-C801-A849-95D3-3476D88A73AF}" type="presParOf" srcId="{DB94B123-EACD-3D4B-BEE6-D347DA4107A7}" destId="{75C2DF1C-0ADC-014F-AABE-46D88CD1913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2746D9-BE31-CC44-AC01-41D2AFCEF9E4}"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6DB6D090-4A9A-BE4D-96D1-DA16959E0A73}">
      <dgm:prSet phldr="0" custT="1"/>
      <dgm:spPr/>
      <dgm:t>
        <a:bodyPr/>
        <a:lstStyle/>
        <a:p>
          <a:pPr algn="ctr" rtl="0"/>
          <a:r>
            <a:rPr lang="en-US" sz="3200">
              <a:latin typeface="+mj-lt"/>
              <a:ea typeface="+mj-lt"/>
              <a:cs typeface="+mj-lt"/>
            </a:rPr>
            <a:t>Subtask 1</a:t>
          </a:r>
        </a:p>
      </dgm:t>
    </dgm:pt>
    <dgm:pt modelId="{89CF7F20-EA63-3D4C-BD87-B1E720DA0D84}" type="parTrans" cxnId="{2B287C73-40CE-E543-AF24-4ED732519CA7}">
      <dgm:prSet/>
      <dgm:spPr/>
      <dgm:t>
        <a:bodyPr/>
        <a:lstStyle/>
        <a:p>
          <a:endParaRPr lang="en-US"/>
        </a:p>
      </dgm:t>
    </dgm:pt>
    <dgm:pt modelId="{61A05D8C-5DBA-DA4F-A866-20BC8C9017ED}" type="sibTrans" cxnId="{2B287C73-40CE-E543-AF24-4ED732519CA7}">
      <dgm:prSet/>
      <dgm:spPr/>
      <dgm:t>
        <a:bodyPr/>
        <a:lstStyle/>
        <a:p>
          <a:endParaRPr lang="en-US"/>
        </a:p>
      </dgm:t>
    </dgm:pt>
    <dgm:pt modelId="{DB94B123-EACD-3D4B-BEE6-D347DA4107A7}" type="pres">
      <dgm:prSet presAssocID="{752746D9-BE31-CC44-AC01-41D2AFCEF9E4}" presName="linear" presStyleCnt="0">
        <dgm:presLayoutVars>
          <dgm:animLvl val="lvl"/>
          <dgm:resizeHandles val="exact"/>
        </dgm:presLayoutVars>
      </dgm:prSet>
      <dgm:spPr/>
    </dgm:pt>
    <dgm:pt modelId="{75C2DF1C-0ADC-014F-AABE-46D88CD19130}" type="pres">
      <dgm:prSet presAssocID="{6DB6D090-4A9A-BE4D-96D1-DA16959E0A73}" presName="parentText" presStyleLbl="node1" presStyleIdx="0" presStyleCnt="1">
        <dgm:presLayoutVars>
          <dgm:chMax val="0"/>
          <dgm:bulletEnabled val="1"/>
        </dgm:presLayoutVars>
      </dgm:prSet>
      <dgm:spPr/>
    </dgm:pt>
  </dgm:ptLst>
  <dgm:cxnLst>
    <dgm:cxn modelId="{1069DC63-ED2A-7040-9052-F77C97735CCB}" type="presOf" srcId="{752746D9-BE31-CC44-AC01-41D2AFCEF9E4}" destId="{DB94B123-EACD-3D4B-BEE6-D347DA4107A7}" srcOrd="0" destOrd="0" presId="urn:microsoft.com/office/officeart/2005/8/layout/vList2"/>
    <dgm:cxn modelId="{2B287C73-40CE-E543-AF24-4ED732519CA7}" srcId="{752746D9-BE31-CC44-AC01-41D2AFCEF9E4}" destId="{6DB6D090-4A9A-BE4D-96D1-DA16959E0A73}" srcOrd="0" destOrd="0" parTransId="{89CF7F20-EA63-3D4C-BD87-B1E720DA0D84}" sibTransId="{61A05D8C-5DBA-DA4F-A866-20BC8C9017ED}"/>
    <dgm:cxn modelId="{630C87AD-20F8-9543-8C2B-3ECD6D977570}" type="presOf" srcId="{6DB6D090-4A9A-BE4D-96D1-DA16959E0A73}" destId="{75C2DF1C-0ADC-014F-AABE-46D88CD19130}" srcOrd="0" destOrd="0" presId="urn:microsoft.com/office/officeart/2005/8/layout/vList2"/>
    <dgm:cxn modelId="{47D5B677-C801-A849-95D3-3476D88A73AF}" type="presParOf" srcId="{DB94B123-EACD-3D4B-BEE6-D347DA4107A7}" destId="{75C2DF1C-0ADC-014F-AABE-46D88CD1913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2746D9-BE31-CC44-AC01-41D2AFCEF9E4}"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6DB6D090-4A9A-BE4D-96D1-DA16959E0A73}">
      <dgm:prSet custT="1"/>
      <dgm:spPr/>
      <dgm:t>
        <a:bodyPr/>
        <a:lstStyle/>
        <a:p>
          <a:pPr algn="ctr"/>
          <a:r>
            <a:rPr lang="en-US" sz="3200" baseline="0">
              <a:latin typeface="+mj-lt"/>
            </a:rPr>
            <a:t>RELATED WORKS</a:t>
          </a:r>
          <a:endParaRPr lang="en-US" sz="3200">
            <a:latin typeface="+mj-lt"/>
          </a:endParaRPr>
        </a:p>
      </dgm:t>
    </dgm:pt>
    <dgm:pt modelId="{89CF7F20-EA63-3D4C-BD87-B1E720DA0D84}" type="parTrans" cxnId="{2B287C73-40CE-E543-AF24-4ED732519CA7}">
      <dgm:prSet/>
      <dgm:spPr/>
      <dgm:t>
        <a:bodyPr/>
        <a:lstStyle/>
        <a:p>
          <a:endParaRPr lang="en-US"/>
        </a:p>
      </dgm:t>
    </dgm:pt>
    <dgm:pt modelId="{61A05D8C-5DBA-DA4F-A866-20BC8C9017ED}" type="sibTrans" cxnId="{2B287C73-40CE-E543-AF24-4ED732519CA7}">
      <dgm:prSet/>
      <dgm:spPr/>
      <dgm:t>
        <a:bodyPr/>
        <a:lstStyle/>
        <a:p>
          <a:endParaRPr lang="en-US"/>
        </a:p>
      </dgm:t>
    </dgm:pt>
    <dgm:pt modelId="{DB94B123-EACD-3D4B-BEE6-D347DA4107A7}" type="pres">
      <dgm:prSet presAssocID="{752746D9-BE31-CC44-AC01-41D2AFCEF9E4}" presName="linear" presStyleCnt="0">
        <dgm:presLayoutVars>
          <dgm:animLvl val="lvl"/>
          <dgm:resizeHandles val="exact"/>
        </dgm:presLayoutVars>
      </dgm:prSet>
      <dgm:spPr/>
    </dgm:pt>
    <dgm:pt modelId="{75C2DF1C-0ADC-014F-AABE-46D88CD19130}" type="pres">
      <dgm:prSet presAssocID="{6DB6D090-4A9A-BE4D-96D1-DA16959E0A73}" presName="parentText" presStyleLbl="node1" presStyleIdx="0" presStyleCnt="1">
        <dgm:presLayoutVars>
          <dgm:chMax val="0"/>
          <dgm:bulletEnabled val="1"/>
        </dgm:presLayoutVars>
      </dgm:prSet>
      <dgm:spPr/>
    </dgm:pt>
  </dgm:ptLst>
  <dgm:cxnLst>
    <dgm:cxn modelId="{1069DC63-ED2A-7040-9052-F77C97735CCB}" type="presOf" srcId="{752746D9-BE31-CC44-AC01-41D2AFCEF9E4}" destId="{DB94B123-EACD-3D4B-BEE6-D347DA4107A7}" srcOrd="0" destOrd="0" presId="urn:microsoft.com/office/officeart/2005/8/layout/vList2"/>
    <dgm:cxn modelId="{2B287C73-40CE-E543-AF24-4ED732519CA7}" srcId="{752746D9-BE31-CC44-AC01-41D2AFCEF9E4}" destId="{6DB6D090-4A9A-BE4D-96D1-DA16959E0A73}" srcOrd="0" destOrd="0" parTransId="{89CF7F20-EA63-3D4C-BD87-B1E720DA0D84}" sibTransId="{61A05D8C-5DBA-DA4F-A866-20BC8C9017ED}"/>
    <dgm:cxn modelId="{630C87AD-20F8-9543-8C2B-3ECD6D977570}" type="presOf" srcId="{6DB6D090-4A9A-BE4D-96D1-DA16959E0A73}" destId="{75C2DF1C-0ADC-014F-AABE-46D88CD19130}" srcOrd="0" destOrd="0" presId="urn:microsoft.com/office/officeart/2005/8/layout/vList2"/>
    <dgm:cxn modelId="{47D5B677-C801-A849-95D3-3476D88A73AF}" type="presParOf" srcId="{DB94B123-EACD-3D4B-BEE6-D347DA4107A7}" destId="{75C2DF1C-0ADC-014F-AABE-46D88CD1913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6A1FB3-E026-C54C-B414-7C70C626740C}" type="doc">
      <dgm:prSet loTypeId="urn:microsoft.com/office/officeart/2005/8/layout/vList2" loCatId="list" qsTypeId="urn:microsoft.com/office/officeart/2005/8/quickstyle/3d1" qsCatId="3D" csTypeId="urn:microsoft.com/office/officeart/2005/8/colors/accent2_5" csCatId="accent2"/>
      <dgm:spPr/>
      <dgm:t>
        <a:bodyPr/>
        <a:lstStyle/>
        <a:p>
          <a:endParaRPr lang="en-US"/>
        </a:p>
      </dgm:t>
    </dgm:pt>
    <dgm:pt modelId="{1998DAD9-576B-C84B-B623-22CDC3D979DE}">
      <dgm:prSet custT="1"/>
      <dgm:spPr/>
      <dgm:t>
        <a:bodyPr/>
        <a:lstStyle/>
        <a:p>
          <a:pPr algn="ctr"/>
          <a:r>
            <a:rPr lang="en-US" sz="3200" baseline="0">
              <a:latin typeface="+mj-lt"/>
            </a:rPr>
            <a:t>INSIGHTS</a:t>
          </a:r>
          <a:endParaRPr lang="en-US" sz="3200">
            <a:latin typeface="+mj-lt"/>
          </a:endParaRPr>
        </a:p>
      </dgm:t>
    </dgm:pt>
    <dgm:pt modelId="{F1E61926-B2C5-D446-AC60-DACE3F6479F8}" type="parTrans" cxnId="{E0A2CBA7-6953-1540-854A-07F9320EE479}">
      <dgm:prSet/>
      <dgm:spPr/>
      <dgm:t>
        <a:bodyPr/>
        <a:lstStyle/>
        <a:p>
          <a:endParaRPr lang="en-US"/>
        </a:p>
      </dgm:t>
    </dgm:pt>
    <dgm:pt modelId="{2030C071-C428-6648-A37C-B8C35D180A1B}" type="sibTrans" cxnId="{E0A2CBA7-6953-1540-854A-07F9320EE479}">
      <dgm:prSet/>
      <dgm:spPr/>
      <dgm:t>
        <a:bodyPr/>
        <a:lstStyle/>
        <a:p>
          <a:endParaRPr lang="en-US"/>
        </a:p>
      </dgm:t>
    </dgm:pt>
    <dgm:pt modelId="{AF9586FE-D45F-824F-9A2E-9F9874913BE5}" type="pres">
      <dgm:prSet presAssocID="{1F6A1FB3-E026-C54C-B414-7C70C626740C}" presName="linear" presStyleCnt="0">
        <dgm:presLayoutVars>
          <dgm:animLvl val="lvl"/>
          <dgm:resizeHandles val="exact"/>
        </dgm:presLayoutVars>
      </dgm:prSet>
      <dgm:spPr/>
    </dgm:pt>
    <dgm:pt modelId="{F4AA6410-AEBB-D542-8C34-7A1F9A68A1BA}" type="pres">
      <dgm:prSet presAssocID="{1998DAD9-576B-C84B-B623-22CDC3D979DE}" presName="parentText" presStyleLbl="node1" presStyleIdx="0" presStyleCnt="1">
        <dgm:presLayoutVars>
          <dgm:chMax val="0"/>
          <dgm:bulletEnabled val="1"/>
        </dgm:presLayoutVars>
      </dgm:prSet>
      <dgm:spPr/>
    </dgm:pt>
  </dgm:ptLst>
  <dgm:cxnLst>
    <dgm:cxn modelId="{62F25E67-EF29-3240-93AE-1C129ADED387}" type="presOf" srcId="{1F6A1FB3-E026-C54C-B414-7C70C626740C}" destId="{AF9586FE-D45F-824F-9A2E-9F9874913BE5}" srcOrd="0" destOrd="0" presId="urn:microsoft.com/office/officeart/2005/8/layout/vList2"/>
    <dgm:cxn modelId="{E6730C98-8107-4146-AAD8-9C2CA3EBCFDE}" type="presOf" srcId="{1998DAD9-576B-C84B-B623-22CDC3D979DE}" destId="{F4AA6410-AEBB-D542-8C34-7A1F9A68A1BA}" srcOrd="0" destOrd="0" presId="urn:microsoft.com/office/officeart/2005/8/layout/vList2"/>
    <dgm:cxn modelId="{E0A2CBA7-6953-1540-854A-07F9320EE479}" srcId="{1F6A1FB3-E026-C54C-B414-7C70C626740C}" destId="{1998DAD9-576B-C84B-B623-22CDC3D979DE}" srcOrd="0" destOrd="0" parTransId="{F1E61926-B2C5-D446-AC60-DACE3F6479F8}" sibTransId="{2030C071-C428-6648-A37C-B8C35D180A1B}"/>
    <dgm:cxn modelId="{8E6ACBC2-0EA8-544F-AC55-334991963E93}" type="presParOf" srcId="{AF9586FE-D45F-824F-9A2E-9F9874913BE5}" destId="{F4AA6410-AEBB-D542-8C34-7A1F9A68A1BA}"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29EB16C-5B87-9F49-9677-05C9292A7B51}" type="doc">
      <dgm:prSet loTypeId="urn:microsoft.com/office/officeart/2005/8/layout/list1" loCatId="process" qsTypeId="urn:microsoft.com/office/officeart/2005/8/quickstyle/simple4" qsCatId="simple" csTypeId="urn:microsoft.com/office/officeart/2005/8/colors/accent2_4" csCatId="accent2" phldr="1"/>
      <dgm:spPr/>
      <dgm:t>
        <a:bodyPr/>
        <a:lstStyle/>
        <a:p>
          <a:endParaRPr lang="en-US"/>
        </a:p>
      </dgm:t>
    </dgm:pt>
    <dgm:pt modelId="{78D3580A-2ACF-2E4A-8A4E-CDC2E1F81904}">
      <dgm:prSet custT="1"/>
      <dgm:spPr/>
      <dgm:t>
        <a:bodyPr/>
        <a:lstStyle/>
        <a:p>
          <a:pPr algn="l"/>
          <a:r>
            <a:rPr lang="en-US" sz="2000" b="1" i="0">
              <a:latin typeface="+mj-lt"/>
            </a:rPr>
            <a:t>Overview:</a:t>
          </a:r>
        </a:p>
      </dgm:t>
    </dgm:pt>
    <dgm:pt modelId="{36DB7275-9552-504C-813A-32AC02C263D4}" type="parTrans" cxnId="{62E1557C-38DF-0541-8641-55BBEC5A0CC3}">
      <dgm:prSet/>
      <dgm:spPr/>
      <dgm:t>
        <a:bodyPr/>
        <a:lstStyle/>
        <a:p>
          <a:endParaRPr lang="en-US"/>
        </a:p>
      </dgm:t>
    </dgm:pt>
    <dgm:pt modelId="{9721E7C7-1EC8-184B-B967-AFA55A602D6C}" type="sibTrans" cxnId="{62E1557C-38DF-0541-8641-55BBEC5A0CC3}">
      <dgm:prSet/>
      <dgm:spPr/>
      <dgm:t>
        <a:bodyPr/>
        <a:lstStyle/>
        <a:p>
          <a:endParaRPr lang="en-US"/>
        </a:p>
      </dgm:t>
    </dgm:pt>
    <dgm:pt modelId="{A32D950A-F7EE-E44D-86DE-06A0D9FCA569}">
      <dgm:prSet custT="1"/>
      <dgm:spPr/>
      <dgm:t>
        <a:bodyPr/>
        <a:lstStyle/>
        <a:p>
          <a:pPr algn="just"/>
          <a:r>
            <a:rPr lang="en-US" sz="1200" i="0">
              <a:latin typeface="+mj-lt"/>
              <a:cs typeface="Times New Roman" panose="02020603050405020304" pitchFamily="18" charset="0"/>
            </a:rPr>
            <a:t>Introduction of </a:t>
          </a:r>
          <a:r>
            <a:rPr lang="en-US" sz="1200" i="0" err="1">
              <a:latin typeface="+mj-lt"/>
              <a:cs typeface="Times New Roman" panose="02020603050405020304" pitchFamily="18" charset="0"/>
            </a:rPr>
            <a:t>Humicroedit</a:t>
          </a:r>
          <a:r>
            <a:rPr lang="en-US" sz="1200" i="0">
              <a:latin typeface="+mj-lt"/>
              <a:cs typeface="Times New Roman" panose="02020603050405020304" pitchFamily="18" charset="0"/>
            </a:rPr>
            <a:t> dataset by Nabil Hossain, John Krumm, and Michael </a:t>
          </a:r>
          <a:r>
            <a:rPr lang="en-US" sz="1200" i="0" err="1">
              <a:latin typeface="+mj-lt"/>
              <a:cs typeface="Times New Roman" panose="02020603050405020304" pitchFamily="18" charset="0"/>
            </a:rPr>
            <a:t>Gamon</a:t>
          </a:r>
          <a:endParaRPr lang="en-US" sz="1200">
            <a:latin typeface="+mj-lt"/>
            <a:cs typeface="Times New Roman" panose="02020603050405020304" pitchFamily="18" charset="0"/>
          </a:endParaRPr>
        </a:p>
      </dgm:t>
    </dgm:pt>
    <dgm:pt modelId="{BA0E1837-7BCD-C54A-88A5-43573D3FD23E}" type="parTrans" cxnId="{DD14AB78-1922-B441-94A2-DB52DD927010}">
      <dgm:prSet/>
      <dgm:spPr/>
      <dgm:t>
        <a:bodyPr/>
        <a:lstStyle/>
        <a:p>
          <a:endParaRPr lang="en-US"/>
        </a:p>
      </dgm:t>
    </dgm:pt>
    <dgm:pt modelId="{CDB50E1E-B66C-2B49-BF4B-F068D70E2F67}" type="sibTrans" cxnId="{DD14AB78-1922-B441-94A2-DB52DD927010}">
      <dgm:prSet/>
      <dgm:spPr/>
      <dgm:t>
        <a:bodyPr/>
        <a:lstStyle/>
        <a:p>
          <a:endParaRPr lang="en-US"/>
        </a:p>
      </dgm:t>
    </dgm:pt>
    <dgm:pt modelId="{75766F3C-A520-9649-98DA-0A69FC810DB5}">
      <dgm:prSet custT="1"/>
      <dgm:spPr/>
      <dgm:t>
        <a:bodyPr/>
        <a:lstStyle/>
        <a:p>
          <a:pPr algn="just"/>
          <a:r>
            <a:rPr lang="en-US" sz="1200" i="0">
              <a:latin typeface="+mj-lt"/>
              <a:cs typeface="Times New Roman" panose="02020603050405020304" pitchFamily="18" charset="0"/>
            </a:rPr>
            <a:t>Aim: Computational humor research, particularly in humor detection and generation</a:t>
          </a:r>
          <a:endParaRPr lang="en-US" sz="1200">
            <a:latin typeface="+mj-lt"/>
            <a:cs typeface="Times New Roman" panose="02020603050405020304" pitchFamily="18" charset="0"/>
          </a:endParaRPr>
        </a:p>
      </dgm:t>
    </dgm:pt>
    <dgm:pt modelId="{1343136F-1236-9C4E-889B-4872882064D2}" type="parTrans" cxnId="{6D9E181B-D241-9C49-9EBE-114B9D5029D7}">
      <dgm:prSet/>
      <dgm:spPr/>
      <dgm:t>
        <a:bodyPr/>
        <a:lstStyle/>
        <a:p>
          <a:endParaRPr lang="en-US"/>
        </a:p>
      </dgm:t>
    </dgm:pt>
    <dgm:pt modelId="{07D45542-C33D-EE46-BEFB-FC6A573443B2}" type="sibTrans" cxnId="{6D9E181B-D241-9C49-9EBE-114B9D5029D7}">
      <dgm:prSet/>
      <dgm:spPr/>
      <dgm:t>
        <a:bodyPr/>
        <a:lstStyle/>
        <a:p>
          <a:endParaRPr lang="en-US"/>
        </a:p>
      </dgm:t>
    </dgm:pt>
    <dgm:pt modelId="{D9458CC0-45D9-2242-A43C-D4022E1B6F6B}">
      <dgm:prSet custT="1"/>
      <dgm:spPr/>
      <dgm:t>
        <a:bodyPr/>
        <a:lstStyle/>
        <a:p>
          <a:pPr algn="l"/>
          <a:r>
            <a:rPr lang="en-US" sz="2000" b="1" i="0">
              <a:latin typeface="+mj-lt"/>
            </a:rPr>
            <a:t>Data Source:</a:t>
          </a:r>
          <a:endParaRPr lang="en-US" sz="2000">
            <a:latin typeface="+mj-lt"/>
          </a:endParaRPr>
        </a:p>
      </dgm:t>
    </dgm:pt>
    <dgm:pt modelId="{E226672F-A41F-CC42-8092-62CD706E7838}" type="parTrans" cxnId="{CAC94797-E6EA-3B4C-84B8-4B6B8096646C}">
      <dgm:prSet/>
      <dgm:spPr/>
      <dgm:t>
        <a:bodyPr/>
        <a:lstStyle/>
        <a:p>
          <a:endParaRPr lang="en-US"/>
        </a:p>
      </dgm:t>
    </dgm:pt>
    <dgm:pt modelId="{A0FF62F2-5F87-554E-86C1-D95ED4D6C19F}" type="sibTrans" cxnId="{CAC94797-E6EA-3B4C-84B8-4B6B8096646C}">
      <dgm:prSet/>
      <dgm:spPr/>
      <dgm:t>
        <a:bodyPr/>
        <a:lstStyle/>
        <a:p>
          <a:endParaRPr lang="en-US"/>
        </a:p>
      </dgm:t>
    </dgm:pt>
    <dgm:pt modelId="{62B1FEFB-167A-4849-9FBF-239B4EDE5DA1}">
      <dgm:prSet custT="1"/>
      <dgm:spPr/>
      <dgm:t>
        <a:bodyPr/>
        <a:lstStyle/>
        <a:p>
          <a:r>
            <a:rPr lang="en-US" sz="1200" b="0" i="0">
              <a:latin typeface="+mj-lt"/>
            </a:rPr>
            <a:t>Original news headlines collected from Reddit (r/</a:t>
          </a:r>
          <a:r>
            <a:rPr lang="en-US" sz="1200" b="0" i="0" err="1">
              <a:latin typeface="+mj-lt"/>
            </a:rPr>
            <a:t>worldnews</a:t>
          </a:r>
          <a:r>
            <a:rPr lang="en-US" sz="1200" b="0" i="0">
              <a:latin typeface="+mj-lt"/>
            </a:rPr>
            <a:t> and r/politics)</a:t>
          </a:r>
          <a:endParaRPr lang="en-US" sz="1200">
            <a:latin typeface="+mj-lt"/>
          </a:endParaRPr>
        </a:p>
      </dgm:t>
    </dgm:pt>
    <dgm:pt modelId="{97AC951B-4C45-2649-96C6-E9E51209FDBC}" type="parTrans" cxnId="{17E3622A-B362-EF4F-8C3B-AC1F35E4B45F}">
      <dgm:prSet/>
      <dgm:spPr/>
      <dgm:t>
        <a:bodyPr/>
        <a:lstStyle/>
        <a:p>
          <a:endParaRPr lang="en-US"/>
        </a:p>
      </dgm:t>
    </dgm:pt>
    <dgm:pt modelId="{BB5DA55E-D8A5-4C47-AF4B-C9B06B6AC7EA}" type="sibTrans" cxnId="{17E3622A-B362-EF4F-8C3B-AC1F35E4B45F}">
      <dgm:prSet/>
      <dgm:spPr/>
      <dgm:t>
        <a:bodyPr/>
        <a:lstStyle/>
        <a:p>
          <a:endParaRPr lang="en-US"/>
        </a:p>
      </dgm:t>
    </dgm:pt>
    <dgm:pt modelId="{2928C407-E393-9A4D-ABEA-94E891B2D536}">
      <dgm:prSet custT="1"/>
      <dgm:spPr/>
      <dgm:t>
        <a:bodyPr/>
        <a:lstStyle/>
        <a:p>
          <a:r>
            <a:rPr lang="en-US" sz="1200" b="0" i="0">
              <a:latin typeface="+mj-lt"/>
            </a:rPr>
            <a:t>Timeframe: January 2017 to May 2018</a:t>
          </a:r>
          <a:endParaRPr lang="en-US" sz="1200">
            <a:latin typeface="+mj-lt"/>
          </a:endParaRPr>
        </a:p>
      </dgm:t>
    </dgm:pt>
    <dgm:pt modelId="{4F46C9BA-28A5-464A-8903-0200C2F013DE}" type="parTrans" cxnId="{11AE525F-7252-1149-87A5-DFDB08E74C63}">
      <dgm:prSet/>
      <dgm:spPr/>
      <dgm:t>
        <a:bodyPr/>
        <a:lstStyle/>
        <a:p>
          <a:endParaRPr lang="en-US"/>
        </a:p>
      </dgm:t>
    </dgm:pt>
    <dgm:pt modelId="{FB5D6EC6-F47B-8944-8D0F-6123EDF4C690}" type="sibTrans" cxnId="{11AE525F-7252-1149-87A5-DFDB08E74C63}">
      <dgm:prSet/>
      <dgm:spPr/>
      <dgm:t>
        <a:bodyPr/>
        <a:lstStyle/>
        <a:p>
          <a:endParaRPr lang="en-US"/>
        </a:p>
      </dgm:t>
    </dgm:pt>
    <dgm:pt modelId="{D0ED67E8-F545-EB4E-AFE2-CE1BD2DFAAF5}">
      <dgm:prSet custT="1"/>
      <dgm:spPr/>
      <dgm:t>
        <a:bodyPr/>
        <a:lstStyle/>
        <a:p>
          <a:r>
            <a:rPr lang="en-US" sz="1200" b="0" i="0">
              <a:latin typeface="+mj-lt"/>
            </a:rPr>
            <a:t>287,076 news headlines initially collected</a:t>
          </a:r>
          <a:endParaRPr lang="en-US" sz="1200">
            <a:latin typeface="+mj-lt"/>
          </a:endParaRPr>
        </a:p>
      </dgm:t>
    </dgm:pt>
    <dgm:pt modelId="{2A48993F-EA5F-724A-9389-52EF24BFAEB7}" type="parTrans" cxnId="{196076CE-1257-744D-BD3B-196FA0D76432}">
      <dgm:prSet/>
      <dgm:spPr/>
      <dgm:t>
        <a:bodyPr/>
        <a:lstStyle/>
        <a:p>
          <a:endParaRPr lang="en-US"/>
        </a:p>
      </dgm:t>
    </dgm:pt>
    <dgm:pt modelId="{46DCEC77-70F4-E948-8424-0E156F757189}" type="sibTrans" cxnId="{196076CE-1257-744D-BD3B-196FA0D76432}">
      <dgm:prSet/>
      <dgm:spPr/>
      <dgm:t>
        <a:bodyPr/>
        <a:lstStyle/>
        <a:p>
          <a:endParaRPr lang="en-US"/>
        </a:p>
      </dgm:t>
    </dgm:pt>
    <dgm:pt modelId="{E7FC5314-8055-494A-9114-22816BE2EA38}">
      <dgm:prSet custT="1"/>
      <dgm:spPr/>
      <dgm:t>
        <a:bodyPr/>
        <a:lstStyle/>
        <a:p>
          <a:r>
            <a:rPr lang="en-US" sz="1200" b="0" i="0">
              <a:latin typeface="+mj-lt"/>
            </a:rPr>
            <a:t>15,095 unique edited headlines</a:t>
          </a:r>
          <a:endParaRPr lang="en-US" sz="1200">
            <a:latin typeface="+mj-lt"/>
          </a:endParaRPr>
        </a:p>
      </dgm:t>
    </dgm:pt>
    <dgm:pt modelId="{DD98A70F-49AF-2F4C-AE9D-B94D5A89EA56}" type="parTrans" cxnId="{D9DAB44E-3D16-6248-9427-9D726AFF4C5F}">
      <dgm:prSet/>
      <dgm:spPr/>
      <dgm:t>
        <a:bodyPr/>
        <a:lstStyle/>
        <a:p>
          <a:endParaRPr lang="en-US"/>
        </a:p>
      </dgm:t>
    </dgm:pt>
    <dgm:pt modelId="{0E65652D-F535-9B44-89EF-554E6A271383}" type="sibTrans" cxnId="{D9DAB44E-3D16-6248-9427-9D726AFF4C5F}">
      <dgm:prSet/>
      <dgm:spPr/>
      <dgm:t>
        <a:bodyPr/>
        <a:lstStyle/>
        <a:p>
          <a:endParaRPr lang="en-US"/>
        </a:p>
      </dgm:t>
    </dgm:pt>
    <dgm:pt modelId="{F542E996-5A57-9A41-9EB5-B70D6B0A9570}">
      <dgm:prSet custT="1"/>
      <dgm:spPr/>
      <dgm:t>
        <a:bodyPr/>
        <a:lstStyle/>
        <a:p>
          <a:pPr algn="l"/>
          <a:r>
            <a:rPr lang="en-US" sz="2000" b="1" i="0" u="none">
              <a:latin typeface="+mj-lt"/>
            </a:rPr>
            <a:t>Annotation Process:</a:t>
          </a:r>
          <a:endParaRPr lang="en-US" sz="2000">
            <a:latin typeface="+mj-lt"/>
          </a:endParaRPr>
        </a:p>
      </dgm:t>
    </dgm:pt>
    <dgm:pt modelId="{55CBAA84-D3FD-3249-A10E-6AF618DD1866}" type="parTrans" cxnId="{DCB92363-BE7F-164E-AD87-BCD38CA29D7D}">
      <dgm:prSet/>
      <dgm:spPr/>
      <dgm:t>
        <a:bodyPr/>
        <a:lstStyle/>
        <a:p>
          <a:endParaRPr lang="en-US"/>
        </a:p>
      </dgm:t>
    </dgm:pt>
    <dgm:pt modelId="{762F3643-7E07-8944-A97C-48233AE5D82F}" type="sibTrans" cxnId="{DCB92363-BE7F-164E-AD87-BCD38CA29D7D}">
      <dgm:prSet/>
      <dgm:spPr/>
      <dgm:t>
        <a:bodyPr/>
        <a:lstStyle/>
        <a:p>
          <a:endParaRPr lang="en-US"/>
        </a:p>
      </dgm:t>
    </dgm:pt>
    <dgm:pt modelId="{7FBD2ABD-9C3B-6A42-90D9-E63D8C53A320}">
      <dgm:prSet custT="1"/>
      <dgm:spPr/>
      <dgm:t>
        <a:bodyPr/>
        <a:lstStyle/>
        <a:p>
          <a:pPr>
            <a:buFont typeface="Arial" panose="020B0604020202020204" pitchFamily="34" charset="0"/>
            <a:buChar char="•"/>
          </a:pPr>
          <a:r>
            <a:rPr lang="en-US" sz="1200" b="0" i="0" u="none">
              <a:latin typeface="+mj-lt"/>
            </a:rPr>
            <a:t>Qualified on Mechanical Turk for humor generation</a:t>
          </a:r>
        </a:p>
      </dgm:t>
    </dgm:pt>
    <dgm:pt modelId="{0D43C14F-537B-F840-A57D-855EE19E60F5}" type="parTrans" cxnId="{214859A0-C90D-7B45-9F6D-121081347FA9}">
      <dgm:prSet/>
      <dgm:spPr/>
      <dgm:t>
        <a:bodyPr/>
        <a:lstStyle/>
        <a:p>
          <a:endParaRPr lang="en-US"/>
        </a:p>
      </dgm:t>
    </dgm:pt>
    <dgm:pt modelId="{FEE1D21F-D880-F747-9CB9-5EEEFB6CE9B3}" type="sibTrans" cxnId="{214859A0-C90D-7B45-9F6D-121081347FA9}">
      <dgm:prSet/>
      <dgm:spPr/>
      <dgm:t>
        <a:bodyPr/>
        <a:lstStyle/>
        <a:p>
          <a:endParaRPr lang="en-US"/>
        </a:p>
      </dgm:t>
    </dgm:pt>
    <dgm:pt modelId="{2DE29F1D-56C8-B547-B931-7C4666720E42}">
      <dgm:prSet custT="1"/>
      <dgm:spPr/>
      <dgm:t>
        <a:bodyPr/>
        <a:lstStyle/>
        <a:p>
          <a:pPr>
            <a:buFont typeface="Arial" panose="020B0604020202020204" pitchFamily="34" charset="0"/>
            <a:buChar char="•"/>
          </a:pPr>
          <a:r>
            <a:rPr lang="en-US" sz="1200" b="0" i="0" u="none">
              <a:latin typeface="+mj-lt"/>
            </a:rPr>
            <a:t>Task: Make headlines funny through micro-edits (single-word replacements)</a:t>
          </a:r>
        </a:p>
      </dgm:t>
    </dgm:pt>
    <dgm:pt modelId="{2745AC37-1906-984C-A0DD-E5B1477874A2}" type="parTrans" cxnId="{CFEE6DDE-0845-C849-8C89-7AE2756F1D5F}">
      <dgm:prSet/>
      <dgm:spPr/>
      <dgm:t>
        <a:bodyPr/>
        <a:lstStyle/>
        <a:p>
          <a:endParaRPr lang="en-US"/>
        </a:p>
      </dgm:t>
    </dgm:pt>
    <dgm:pt modelId="{2DF9BF71-4769-FE4F-8575-0CEC28DDDE46}" type="sibTrans" cxnId="{CFEE6DDE-0845-C849-8C89-7AE2756F1D5F}">
      <dgm:prSet/>
      <dgm:spPr/>
      <dgm:t>
        <a:bodyPr/>
        <a:lstStyle/>
        <a:p>
          <a:endParaRPr lang="en-US"/>
        </a:p>
      </dgm:t>
    </dgm:pt>
    <dgm:pt modelId="{DD4A7CC2-BA6D-614E-9E78-B952FDDBCADF}">
      <dgm:prSet custT="1"/>
      <dgm:spPr/>
      <dgm:t>
        <a:bodyPr/>
        <a:lstStyle/>
        <a:p>
          <a:pPr>
            <a:buFont typeface="Arial" panose="020B0604020202020204" pitchFamily="34" charset="0"/>
            <a:buNone/>
          </a:pPr>
          <a:r>
            <a:rPr lang="en-US" sz="1200" b="0" i="0" u="none">
              <a:latin typeface="+mj-lt"/>
            </a:rPr>
            <a:t>Judges:</a:t>
          </a:r>
        </a:p>
      </dgm:t>
    </dgm:pt>
    <dgm:pt modelId="{6A31CC73-69DF-7B47-B58B-1448FAC35B80}" type="parTrans" cxnId="{C95D735A-A347-2744-9A14-E0F6C4DA5BD3}">
      <dgm:prSet/>
      <dgm:spPr/>
      <dgm:t>
        <a:bodyPr/>
        <a:lstStyle/>
        <a:p>
          <a:endParaRPr lang="en-US"/>
        </a:p>
      </dgm:t>
    </dgm:pt>
    <dgm:pt modelId="{ADD8C244-407D-694A-B6AA-F3E3EF406778}" type="sibTrans" cxnId="{C95D735A-A347-2744-9A14-E0F6C4DA5BD3}">
      <dgm:prSet/>
      <dgm:spPr/>
      <dgm:t>
        <a:bodyPr/>
        <a:lstStyle/>
        <a:p>
          <a:endParaRPr lang="en-US"/>
        </a:p>
      </dgm:t>
    </dgm:pt>
    <dgm:pt modelId="{FCB9759C-ACFA-C046-80B0-D1D2F37B4A53}">
      <dgm:prSet custT="1"/>
      <dgm:spPr/>
      <dgm:t>
        <a:bodyPr/>
        <a:lstStyle/>
        <a:p>
          <a:pPr>
            <a:buFont typeface="Arial" panose="020B0604020202020204" pitchFamily="34" charset="0"/>
            <a:buChar char="•"/>
          </a:pPr>
          <a:r>
            <a:rPr lang="en-US" sz="1200" b="0" i="0" u="none">
              <a:latin typeface="+mj-lt"/>
            </a:rPr>
            <a:t>Qualified for recognizing humor in edited headlines</a:t>
          </a:r>
        </a:p>
      </dgm:t>
    </dgm:pt>
    <dgm:pt modelId="{423EA3C4-1622-0745-BB39-3B317A5701EC}" type="parTrans" cxnId="{9722A667-BA5D-EA49-BD51-23967EE8EAA7}">
      <dgm:prSet/>
      <dgm:spPr/>
      <dgm:t>
        <a:bodyPr/>
        <a:lstStyle/>
        <a:p>
          <a:endParaRPr lang="en-US"/>
        </a:p>
      </dgm:t>
    </dgm:pt>
    <dgm:pt modelId="{96144A82-1C26-134D-8E2C-D28AFB3D7207}" type="sibTrans" cxnId="{9722A667-BA5D-EA49-BD51-23967EE8EAA7}">
      <dgm:prSet/>
      <dgm:spPr/>
      <dgm:t>
        <a:bodyPr/>
        <a:lstStyle/>
        <a:p>
          <a:endParaRPr lang="en-US"/>
        </a:p>
      </dgm:t>
    </dgm:pt>
    <dgm:pt modelId="{4BB7DEBB-269D-3145-A9DC-3AF95910C83C}">
      <dgm:prSet custT="1"/>
      <dgm:spPr/>
      <dgm:t>
        <a:bodyPr/>
        <a:lstStyle/>
        <a:p>
          <a:pPr>
            <a:buFont typeface="Arial" panose="020B0604020202020204" pitchFamily="34" charset="0"/>
            <a:buChar char="•"/>
          </a:pPr>
          <a:r>
            <a:rPr lang="en-US" sz="1200" b="0" i="0" u="none">
              <a:latin typeface="+mj-lt"/>
            </a:rPr>
            <a:t>Grading scale: 0 (Not funny) to 3 (Funny)</a:t>
          </a:r>
        </a:p>
      </dgm:t>
    </dgm:pt>
    <dgm:pt modelId="{6E959580-1944-E847-869E-87FB54FB4F5D}" type="parTrans" cxnId="{A56CC560-3191-F541-82FC-71CF4B68312D}">
      <dgm:prSet/>
      <dgm:spPr/>
      <dgm:t>
        <a:bodyPr/>
        <a:lstStyle/>
        <a:p>
          <a:endParaRPr lang="en-US"/>
        </a:p>
      </dgm:t>
    </dgm:pt>
    <dgm:pt modelId="{D025BC41-99D1-0545-BE88-C75949AD5485}" type="sibTrans" cxnId="{A56CC560-3191-F541-82FC-71CF4B68312D}">
      <dgm:prSet/>
      <dgm:spPr/>
      <dgm:t>
        <a:bodyPr/>
        <a:lstStyle/>
        <a:p>
          <a:endParaRPr lang="en-US"/>
        </a:p>
      </dgm:t>
    </dgm:pt>
    <dgm:pt modelId="{F28686B2-300A-D042-AD8B-404FFB7B436C}">
      <dgm:prSet custT="1"/>
      <dgm:spPr/>
      <dgm:t>
        <a:bodyPr/>
        <a:lstStyle/>
        <a:p>
          <a:pPr>
            <a:buFont typeface="Arial" panose="020B0604020202020204" pitchFamily="34" charset="0"/>
            <a:buChar char="•"/>
          </a:pPr>
          <a:r>
            <a:rPr lang="en-US" sz="1200" b="0" i="0" u="none">
              <a:latin typeface="+mj-lt"/>
            </a:rPr>
            <a:t>Qualification based on internal judge assessment and agreement threshold</a:t>
          </a:r>
        </a:p>
      </dgm:t>
    </dgm:pt>
    <dgm:pt modelId="{46B5F76C-B2CC-E749-AFD8-342977334046}" type="parTrans" cxnId="{215C5824-5F8C-BC45-93BB-19C813F33208}">
      <dgm:prSet/>
      <dgm:spPr/>
      <dgm:t>
        <a:bodyPr/>
        <a:lstStyle/>
        <a:p>
          <a:endParaRPr lang="en-US"/>
        </a:p>
      </dgm:t>
    </dgm:pt>
    <dgm:pt modelId="{7D62BAB4-4BE3-8843-A47B-C3F4A73EAD39}" type="sibTrans" cxnId="{215C5824-5F8C-BC45-93BB-19C813F33208}">
      <dgm:prSet/>
      <dgm:spPr/>
      <dgm:t>
        <a:bodyPr/>
        <a:lstStyle/>
        <a:p>
          <a:endParaRPr lang="en-US"/>
        </a:p>
      </dgm:t>
    </dgm:pt>
    <dgm:pt modelId="{68E5EA5B-6F1E-5A40-A19A-795C174ED40C}">
      <dgm:prSet custT="1"/>
      <dgm:spPr/>
      <dgm:t>
        <a:bodyPr/>
        <a:lstStyle/>
        <a:p>
          <a:pPr>
            <a:buFont typeface="Arial" panose="020B0604020202020204" pitchFamily="34" charset="0"/>
            <a:buNone/>
          </a:pPr>
          <a:r>
            <a:rPr lang="en-US" sz="1200" b="0" i="0" u="none">
              <a:latin typeface="+mj-lt"/>
            </a:rPr>
            <a:t>Editors:</a:t>
          </a:r>
          <a:endParaRPr lang="en-US" sz="1200">
            <a:latin typeface="+mj-lt"/>
          </a:endParaRPr>
        </a:p>
      </dgm:t>
    </dgm:pt>
    <dgm:pt modelId="{8D7A0F27-7156-7549-8100-6932DD4EE324}" type="sibTrans" cxnId="{307DBD8C-830E-0E4F-8674-894C6CFD9749}">
      <dgm:prSet/>
      <dgm:spPr/>
      <dgm:t>
        <a:bodyPr/>
        <a:lstStyle/>
        <a:p>
          <a:endParaRPr lang="en-US"/>
        </a:p>
      </dgm:t>
    </dgm:pt>
    <dgm:pt modelId="{8D03C278-4039-2548-9912-0D74D48A4D50}" type="parTrans" cxnId="{307DBD8C-830E-0E4F-8674-894C6CFD9749}">
      <dgm:prSet/>
      <dgm:spPr/>
      <dgm:t>
        <a:bodyPr/>
        <a:lstStyle/>
        <a:p>
          <a:endParaRPr lang="en-US"/>
        </a:p>
      </dgm:t>
    </dgm:pt>
    <dgm:pt modelId="{D7D18F9F-264E-1C4F-9DB8-F4EF73D1D9DE}" type="pres">
      <dgm:prSet presAssocID="{229EB16C-5B87-9F49-9677-05C9292A7B51}" presName="linear" presStyleCnt="0">
        <dgm:presLayoutVars>
          <dgm:dir/>
          <dgm:animLvl val="lvl"/>
          <dgm:resizeHandles val="exact"/>
        </dgm:presLayoutVars>
      </dgm:prSet>
      <dgm:spPr/>
    </dgm:pt>
    <dgm:pt modelId="{91E74BED-368C-104F-9E23-92E74F2CE44F}" type="pres">
      <dgm:prSet presAssocID="{78D3580A-2ACF-2E4A-8A4E-CDC2E1F81904}" presName="parentLin" presStyleCnt="0"/>
      <dgm:spPr/>
    </dgm:pt>
    <dgm:pt modelId="{DCFEF4F3-D743-B749-97CC-86FC01831EB6}" type="pres">
      <dgm:prSet presAssocID="{78D3580A-2ACF-2E4A-8A4E-CDC2E1F81904}" presName="parentLeftMargin" presStyleLbl="node1" presStyleIdx="0" presStyleCnt="3"/>
      <dgm:spPr/>
    </dgm:pt>
    <dgm:pt modelId="{E8B241A8-F18B-B44F-8B88-B156851002D7}" type="pres">
      <dgm:prSet presAssocID="{78D3580A-2ACF-2E4A-8A4E-CDC2E1F81904}" presName="parentText" presStyleLbl="node1" presStyleIdx="0" presStyleCnt="3">
        <dgm:presLayoutVars>
          <dgm:chMax val="0"/>
          <dgm:bulletEnabled val="1"/>
        </dgm:presLayoutVars>
      </dgm:prSet>
      <dgm:spPr/>
    </dgm:pt>
    <dgm:pt modelId="{F87F9D0C-EC25-1B4B-A510-592A7CB00F3C}" type="pres">
      <dgm:prSet presAssocID="{78D3580A-2ACF-2E4A-8A4E-CDC2E1F81904}" presName="negativeSpace" presStyleCnt="0"/>
      <dgm:spPr/>
    </dgm:pt>
    <dgm:pt modelId="{776D1B37-FF14-7A49-A0F4-A8C74BF58AFC}" type="pres">
      <dgm:prSet presAssocID="{78D3580A-2ACF-2E4A-8A4E-CDC2E1F81904}" presName="childText" presStyleLbl="conFgAcc1" presStyleIdx="0" presStyleCnt="3">
        <dgm:presLayoutVars>
          <dgm:bulletEnabled val="1"/>
        </dgm:presLayoutVars>
      </dgm:prSet>
      <dgm:spPr/>
    </dgm:pt>
    <dgm:pt modelId="{50EF9627-F463-354F-92D0-8CFB59DC386A}" type="pres">
      <dgm:prSet presAssocID="{9721E7C7-1EC8-184B-B967-AFA55A602D6C}" presName="spaceBetweenRectangles" presStyleCnt="0"/>
      <dgm:spPr/>
    </dgm:pt>
    <dgm:pt modelId="{D0D06A37-F4B6-F447-9D63-946C0D874FEE}" type="pres">
      <dgm:prSet presAssocID="{D9458CC0-45D9-2242-A43C-D4022E1B6F6B}" presName="parentLin" presStyleCnt="0"/>
      <dgm:spPr/>
    </dgm:pt>
    <dgm:pt modelId="{CD05D88F-B884-E948-AD66-FFF6AE2A890C}" type="pres">
      <dgm:prSet presAssocID="{D9458CC0-45D9-2242-A43C-D4022E1B6F6B}" presName="parentLeftMargin" presStyleLbl="node1" presStyleIdx="0" presStyleCnt="3"/>
      <dgm:spPr/>
    </dgm:pt>
    <dgm:pt modelId="{DDCBEA84-7B82-BF41-8EF5-7075603C7650}" type="pres">
      <dgm:prSet presAssocID="{D9458CC0-45D9-2242-A43C-D4022E1B6F6B}" presName="parentText" presStyleLbl="node1" presStyleIdx="1" presStyleCnt="3">
        <dgm:presLayoutVars>
          <dgm:chMax val="0"/>
          <dgm:bulletEnabled val="1"/>
        </dgm:presLayoutVars>
      </dgm:prSet>
      <dgm:spPr/>
    </dgm:pt>
    <dgm:pt modelId="{540358F6-0BE0-1D49-9D7F-4C2747107632}" type="pres">
      <dgm:prSet presAssocID="{D9458CC0-45D9-2242-A43C-D4022E1B6F6B}" presName="negativeSpace" presStyleCnt="0"/>
      <dgm:spPr/>
    </dgm:pt>
    <dgm:pt modelId="{C4E004E9-B3D9-A944-858F-A29782236FDA}" type="pres">
      <dgm:prSet presAssocID="{D9458CC0-45D9-2242-A43C-D4022E1B6F6B}" presName="childText" presStyleLbl="conFgAcc1" presStyleIdx="1" presStyleCnt="3">
        <dgm:presLayoutVars>
          <dgm:bulletEnabled val="1"/>
        </dgm:presLayoutVars>
      </dgm:prSet>
      <dgm:spPr/>
    </dgm:pt>
    <dgm:pt modelId="{EA11A30D-F085-B74F-A576-A1BE88877393}" type="pres">
      <dgm:prSet presAssocID="{A0FF62F2-5F87-554E-86C1-D95ED4D6C19F}" presName="spaceBetweenRectangles" presStyleCnt="0"/>
      <dgm:spPr/>
    </dgm:pt>
    <dgm:pt modelId="{78877770-D0DF-A547-94E1-A496C94D6003}" type="pres">
      <dgm:prSet presAssocID="{F542E996-5A57-9A41-9EB5-B70D6B0A9570}" presName="parentLin" presStyleCnt="0"/>
      <dgm:spPr/>
    </dgm:pt>
    <dgm:pt modelId="{C3B8D5A2-D0D7-4344-913C-29C493072AD3}" type="pres">
      <dgm:prSet presAssocID="{F542E996-5A57-9A41-9EB5-B70D6B0A9570}" presName="parentLeftMargin" presStyleLbl="node1" presStyleIdx="1" presStyleCnt="3"/>
      <dgm:spPr/>
    </dgm:pt>
    <dgm:pt modelId="{224D47F4-CEE3-B341-8C34-069B82484A0C}" type="pres">
      <dgm:prSet presAssocID="{F542E996-5A57-9A41-9EB5-B70D6B0A9570}" presName="parentText" presStyleLbl="node1" presStyleIdx="2" presStyleCnt="3">
        <dgm:presLayoutVars>
          <dgm:chMax val="0"/>
          <dgm:bulletEnabled val="1"/>
        </dgm:presLayoutVars>
      </dgm:prSet>
      <dgm:spPr/>
    </dgm:pt>
    <dgm:pt modelId="{62E7E13C-9304-A245-9436-146C458FE20D}" type="pres">
      <dgm:prSet presAssocID="{F542E996-5A57-9A41-9EB5-B70D6B0A9570}" presName="negativeSpace" presStyleCnt="0"/>
      <dgm:spPr/>
    </dgm:pt>
    <dgm:pt modelId="{9E6B7DE8-4015-874F-98F6-FC53273A5123}" type="pres">
      <dgm:prSet presAssocID="{F542E996-5A57-9A41-9EB5-B70D6B0A9570}" presName="childText" presStyleLbl="conFgAcc1" presStyleIdx="2" presStyleCnt="3">
        <dgm:presLayoutVars>
          <dgm:bulletEnabled val="1"/>
        </dgm:presLayoutVars>
      </dgm:prSet>
      <dgm:spPr/>
    </dgm:pt>
  </dgm:ptLst>
  <dgm:cxnLst>
    <dgm:cxn modelId="{6D9E181B-D241-9C49-9EBE-114B9D5029D7}" srcId="{78D3580A-2ACF-2E4A-8A4E-CDC2E1F81904}" destId="{75766F3C-A520-9649-98DA-0A69FC810DB5}" srcOrd="1" destOrd="0" parTransId="{1343136F-1236-9C4E-889B-4872882064D2}" sibTransId="{07D45542-C33D-EE46-BEFB-FC6A573443B2}"/>
    <dgm:cxn modelId="{2E99F31B-D23E-FA40-AE92-36B02B8563A6}" type="presOf" srcId="{62B1FEFB-167A-4849-9FBF-239B4EDE5DA1}" destId="{C4E004E9-B3D9-A944-858F-A29782236FDA}" srcOrd="0" destOrd="0" presId="urn:microsoft.com/office/officeart/2005/8/layout/list1"/>
    <dgm:cxn modelId="{266DA322-334A-B542-A755-DDBA830B6917}" type="presOf" srcId="{4BB7DEBB-269D-3145-A9DC-3AF95910C83C}" destId="{9E6B7DE8-4015-874F-98F6-FC53273A5123}" srcOrd="0" destOrd="5" presId="urn:microsoft.com/office/officeart/2005/8/layout/list1"/>
    <dgm:cxn modelId="{EC71E823-6B7C-DF48-8EC1-6948208C1552}" type="presOf" srcId="{2DE29F1D-56C8-B547-B931-7C4666720E42}" destId="{9E6B7DE8-4015-874F-98F6-FC53273A5123}" srcOrd="0" destOrd="2" presId="urn:microsoft.com/office/officeart/2005/8/layout/list1"/>
    <dgm:cxn modelId="{215C5824-5F8C-BC45-93BB-19C813F33208}" srcId="{DD4A7CC2-BA6D-614E-9E78-B952FDDBCADF}" destId="{F28686B2-300A-D042-AD8B-404FFB7B436C}" srcOrd="2" destOrd="0" parTransId="{46B5F76C-B2CC-E749-AFD8-342977334046}" sibTransId="{7D62BAB4-4BE3-8843-A47B-C3F4A73EAD39}"/>
    <dgm:cxn modelId="{17E3622A-B362-EF4F-8C3B-AC1F35E4B45F}" srcId="{D9458CC0-45D9-2242-A43C-D4022E1B6F6B}" destId="{62B1FEFB-167A-4849-9FBF-239B4EDE5DA1}" srcOrd="0" destOrd="0" parTransId="{97AC951B-4C45-2649-96C6-E9E51209FDBC}" sibTransId="{BB5DA55E-D8A5-4C47-AF4B-C9B06B6AC7EA}"/>
    <dgm:cxn modelId="{EAD2AF31-6845-2B4A-AD59-AB0BDC593294}" type="presOf" srcId="{78D3580A-2ACF-2E4A-8A4E-CDC2E1F81904}" destId="{E8B241A8-F18B-B44F-8B88-B156851002D7}" srcOrd="1" destOrd="0" presId="urn:microsoft.com/office/officeart/2005/8/layout/list1"/>
    <dgm:cxn modelId="{76E0BE5C-BD6F-F74B-B807-48AC61207968}" type="presOf" srcId="{229EB16C-5B87-9F49-9677-05C9292A7B51}" destId="{D7D18F9F-264E-1C4F-9DB8-F4EF73D1D9DE}" srcOrd="0" destOrd="0" presId="urn:microsoft.com/office/officeart/2005/8/layout/list1"/>
    <dgm:cxn modelId="{11AE525F-7252-1149-87A5-DFDB08E74C63}" srcId="{D9458CC0-45D9-2242-A43C-D4022E1B6F6B}" destId="{2928C407-E393-9A4D-ABEA-94E891B2D536}" srcOrd="1" destOrd="0" parTransId="{4F46C9BA-28A5-464A-8903-0200C2F013DE}" sibTransId="{FB5D6EC6-F47B-8944-8D0F-6123EDF4C690}"/>
    <dgm:cxn modelId="{A56CC560-3191-F541-82FC-71CF4B68312D}" srcId="{DD4A7CC2-BA6D-614E-9E78-B952FDDBCADF}" destId="{4BB7DEBB-269D-3145-A9DC-3AF95910C83C}" srcOrd="1" destOrd="0" parTransId="{6E959580-1944-E847-869E-87FB54FB4F5D}" sibTransId="{D025BC41-99D1-0545-BE88-C75949AD5485}"/>
    <dgm:cxn modelId="{DCB92363-BE7F-164E-AD87-BCD38CA29D7D}" srcId="{229EB16C-5B87-9F49-9677-05C9292A7B51}" destId="{F542E996-5A57-9A41-9EB5-B70D6B0A9570}" srcOrd="2" destOrd="0" parTransId="{55CBAA84-D3FD-3249-A10E-6AF618DD1866}" sibTransId="{762F3643-7E07-8944-A97C-48233AE5D82F}"/>
    <dgm:cxn modelId="{9722A667-BA5D-EA49-BD51-23967EE8EAA7}" srcId="{DD4A7CC2-BA6D-614E-9E78-B952FDDBCADF}" destId="{FCB9759C-ACFA-C046-80B0-D1D2F37B4A53}" srcOrd="0" destOrd="0" parTransId="{423EA3C4-1622-0745-BB39-3B317A5701EC}" sibTransId="{96144A82-1C26-134D-8E2C-D28AFB3D7207}"/>
    <dgm:cxn modelId="{E79A576A-2DD2-3B49-9772-5CB462041875}" type="presOf" srcId="{75766F3C-A520-9649-98DA-0A69FC810DB5}" destId="{776D1B37-FF14-7A49-A0F4-A8C74BF58AFC}" srcOrd="0" destOrd="1" presId="urn:microsoft.com/office/officeart/2005/8/layout/list1"/>
    <dgm:cxn modelId="{D9DAB44E-3D16-6248-9427-9D726AFF4C5F}" srcId="{D9458CC0-45D9-2242-A43C-D4022E1B6F6B}" destId="{E7FC5314-8055-494A-9114-22816BE2EA38}" srcOrd="3" destOrd="0" parTransId="{DD98A70F-49AF-2F4C-AE9D-B94D5A89EA56}" sibTransId="{0E65652D-F535-9B44-89EF-554E6A271383}"/>
    <dgm:cxn modelId="{82400A72-9764-F54F-8787-AE5987B03421}" type="presOf" srcId="{D9458CC0-45D9-2242-A43C-D4022E1B6F6B}" destId="{CD05D88F-B884-E948-AD66-FFF6AE2A890C}" srcOrd="0" destOrd="0" presId="urn:microsoft.com/office/officeart/2005/8/layout/list1"/>
    <dgm:cxn modelId="{BBCB9974-0ACE-554A-9957-F4B948C2DBB1}" type="presOf" srcId="{68E5EA5B-6F1E-5A40-A19A-795C174ED40C}" destId="{9E6B7DE8-4015-874F-98F6-FC53273A5123}" srcOrd="0" destOrd="0" presId="urn:microsoft.com/office/officeart/2005/8/layout/list1"/>
    <dgm:cxn modelId="{B7258376-1E12-144D-B8A5-A93B4DF24A34}" type="presOf" srcId="{E7FC5314-8055-494A-9114-22816BE2EA38}" destId="{C4E004E9-B3D9-A944-858F-A29782236FDA}" srcOrd="0" destOrd="3" presId="urn:microsoft.com/office/officeart/2005/8/layout/list1"/>
    <dgm:cxn modelId="{DD14AB78-1922-B441-94A2-DB52DD927010}" srcId="{78D3580A-2ACF-2E4A-8A4E-CDC2E1F81904}" destId="{A32D950A-F7EE-E44D-86DE-06A0D9FCA569}" srcOrd="0" destOrd="0" parTransId="{BA0E1837-7BCD-C54A-88A5-43573D3FD23E}" sibTransId="{CDB50E1E-B66C-2B49-BF4B-F068D70E2F67}"/>
    <dgm:cxn modelId="{C95D735A-A347-2744-9A14-E0F6C4DA5BD3}" srcId="{F542E996-5A57-9A41-9EB5-B70D6B0A9570}" destId="{DD4A7CC2-BA6D-614E-9E78-B952FDDBCADF}" srcOrd="1" destOrd="0" parTransId="{6A31CC73-69DF-7B47-B58B-1448FAC35B80}" sibTransId="{ADD8C244-407D-694A-B6AA-F3E3EF406778}"/>
    <dgm:cxn modelId="{4562F27B-15BB-1745-A166-FE87723FB991}" type="presOf" srcId="{2928C407-E393-9A4D-ABEA-94E891B2D536}" destId="{C4E004E9-B3D9-A944-858F-A29782236FDA}" srcOrd="0" destOrd="1" presId="urn:microsoft.com/office/officeart/2005/8/layout/list1"/>
    <dgm:cxn modelId="{62E1557C-38DF-0541-8641-55BBEC5A0CC3}" srcId="{229EB16C-5B87-9F49-9677-05C9292A7B51}" destId="{78D3580A-2ACF-2E4A-8A4E-CDC2E1F81904}" srcOrd="0" destOrd="0" parTransId="{36DB7275-9552-504C-813A-32AC02C263D4}" sibTransId="{9721E7C7-1EC8-184B-B967-AFA55A602D6C}"/>
    <dgm:cxn modelId="{698F0B8B-A470-DE48-AA6B-0A833D1E9304}" type="presOf" srcId="{D0ED67E8-F545-EB4E-AFE2-CE1BD2DFAAF5}" destId="{C4E004E9-B3D9-A944-858F-A29782236FDA}" srcOrd="0" destOrd="2" presId="urn:microsoft.com/office/officeart/2005/8/layout/list1"/>
    <dgm:cxn modelId="{307DBD8C-830E-0E4F-8674-894C6CFD9749}" srcId="{F542E996-5A57-9A41-9EB5-B70D6B0A9570}" destId="{68E5EA5B-6F1E-5A40-A19A-795C174ED40C}" srcOrd="0" destOrd="0" parTransId="{8D03C278-4039-2548-9912-0D74D48A4D50}" sibTransId="{8D7A0F27-7156-7549-8100-6932DD4EE324}"/>
    <dgm:cxn modelId="{CAC94797-E6EA-3B4C-84B8-4B6B8096646C}" srcId="{229EB16C-5B87-9F49-9677-05C9292A7B51}" destId="{D9458CC0-45D9-2242-A43C-D4022E1B6F6B}" srcOrd="1" destOrd="0" parTransId="{E226672F-A41F-CC42-8092-62CD706E7838}" sibTransId="{A0FF62F2-5F87-554E-86C1-D95ED4D6C19F}"/>
    <dgm:cxn modelId="{9189AD9B-3DE3-7F48-A5B6-C38F49593576}" type="presOf" srcId="{78D3580A-2ACF-2E4A-8A4E-CDC2E1F81904}" destId="{DCFEF4F3-D743-B749-97CC-86FC01831EB6}" srcOrd="0" destOrd="0" presId="urn:microsoft.com/office/officeart/2005/8/layout/list1"/>
    <dgm:cxn modelId="{214859A0-C90D-7B45-9F6D-121081347FA9}" srcId="{68E5EA5B-6F1E-5A40-A19A-795C174ED40C}" destId="{7FBD2ABD-9C3B-6A42-90D9-E63D8C53A320}" srcOrd="0" destOrd="0" parTransId="{0D43C14F-537B-F840-A57D-855EE19E60F5}" sibTransId="{FEE1D21F-D880-F747-9CB9-5EEEFB6CE9B3}"/>
    <dgm:cxn modelId="{35C125A7-FEDA-1E42-A789-423F37419688}" type="presOf" srcId="{A32D950A-F7EE-E44D-86DE-06A0D9FCA569}" destId="{776D1B37-FF14-7A49-A0F4-A8C74BF58AFC}" srcOrd="0" destOrd="0" presId="urn:microsoft.com/office/officeart/2005/8/layout/list1"/>
    <dgm:cxn modelId="{196076CE-1257-744D-BD3B-196FA0D76432}" srcId="{D9458CC0-45D9-2242-A43C-D4022E1B6F6B}" destId="{D0ED67E8-F545-EB4E-AFE2-CE1BD2DFAAF5}" srcOrd="2" destOrd="0" parTransId="{2A48993F-EA5F-724A-9389-52EF24BFAEB7}" sibTransId="{46DCEC77-70F4-E948-8424-0E156F757189}"/>
    <dgm:cxn modelId="{7D1373D0-BB49-0048-B6DC-FE2DD8BE8D33}" type="presOf" srcId="{7FBD2ABD-9C3B-6A42-90D9-E63D8C53A320}" destId="{9E6B7DE8-4015-874F-98F6-FC53273A5123}" srcOrd="0" destOrd="1" presId="urn:microsoft.com/office/officeart/2005/8/layout/list1"/>
    <dgm:cxn modelId="{A0CA3AD4-498B-1345-986C-554E07E6945E}" type="presOf" srcId="{F28686B2-300A-D042-AD8B-404FFB7B436C}" destId="{9E6B7DE8-4015-874F-98F6-FC53273A5123}" srcOrd="0" destOrd="6" presId="urn:microsoft.com/office/officeart/2005/8/layout/list1"/>
    <dgm:cxn modelId="{CFEE6DDE-0845-C849-8C89-7AE2756F1D5F}" srcId="{68E5EA5B-6F1E-5A40-A19A-795C174ED40C}" destId="{2DE29F1D-56C8-B547-B931-7C4666720E42}" srcOrd="1" destOrd="0" parTransId="{2745AC37-1906-984C-A0DD-E5B1477874A2}" sibTransId="{2DF9BF71-4769-FE4F-8575-0CEC28DDDE46}"/>
    <dgm:cxn modelId="{2B034AE2-7970-3348-B5E1-F6DD05A1DA11}" type="presOf" srcId="{F542E996-5A57-9A41-9EB5-B70D6B0A9570}" destId="{C3B8D5A2-D0D7-4344-913C-29C493072AD3}" srcOrd="0" destOrd="0" presId="urn:microsoft.com/office/officeart/2005/8/layout/list1"/>
    <dgm:cxn modelId="{E90250EE-1E3A-DE48-951C-A91D19B2B3E1}" type="presOf" srcId="{DD4A7CC2-BA6D-614E-9E78-B952FDDBCADF}" destId="{9E6B7DE8-4015-874F-98F6-FC53273A5123}" srcOrd="0" destOrd="3" presId="urn:microsoft.com/office/officeart/2005/8/layout/list1"/>
    <dgm:cxn modelId="{71DBE6F3-70E0-0A42-AD6B-E857B7BD5C55}" type="presOf" srcId="{F542E996-5A57-9A41-9EB5-B70D6B0A9570}" destId="{224D47F4-CEE3-B341-8C34-069B82484A0C}" srcOrd="1" destOrd="0" presId="urn:microsoft.com/office/officeart/2005/8/layout/list1"/>
    <dgm:cxn modelId="{422077F8-3127-9549-96B9-DC1A9B39D470}" type="presOf" srcId="{D9458CC0-45D9-2242-A43C-D4022E1B6F6B}" destId="{DDCBEA84-7B82-BF41-8EF5-7075603C7650}" srcOrd="1" destOrd="0" presId="urn:microsoft.com/office/officeart/2005/8/layout/list1"/>
    <dgm:cxn modelId="{6FA795FC-C0C9-524E-A661-838FF1C3BEC4}" type="presOf" srcId="{FCB9759C-ACFA-C046-80B0-D1D2F37B4A53}" destId="{9E6B7DE8-4015-874F-98F6-FC53273A5123}" srcOrd="0" destOrd="4" presId="urn:microsoft.com/office/officeart/2005/8/layout/list1"/>
    <dgm:cxn modelId="{E3611DB0-EA3B-0746-827B-80E3705AE851}" type="presParOf" srcId="{D7D18F9F-264E-1C4F-9DB8-F4EF73D1D9DE}" destId="{91E74BED-368C-104F-9E23-92E74F2CE44F}" srcOrd="0" destOrd="0" presId="urn:microsoft.com/office/officeart/2005/8/layout/list1"/>
    <dgm:cxn modelId="{2AFDF800-4E5C-5047-908B-7772352826AD}" type="presParOf" srcId="{91E74BED-368C-104F-9E23-92E74F2CE44F}" destId="{DCFEF4F3-D743-B749-97CC-86FC01831EB6}" srcOrd="0" destOrd="0" presId="urn:microsoft.com/office/officeart/2005/8/layout/list1"/>
    <dgm:cxn modelId="{69A9CE14-37B3-3643-BE10-955FB8CE7F44}" type="presParOf" srcId="{91E74BED-368C-104F-9E23-92E74F2CE44F}" destId="{E8B241A8-F18B-B44F-8B88-B156851002D7}" srcOrd="1" destOrd="0" presId="urn:microsoft.com/office/officeart/2005/8/layout/list1"/>
    <dgm:cxn modelId="{E5FDD34B-5897-3E4C-8851-6F46EAA0C8B2}" type="presParOf" srcId="{D7D18F9F-264E-1C4F-9DB8-F4EF73D1D9DE}" destId="{F87F9D0C-EC25-1B4B-A510-592A7CB00F3C}" srcOrd="1" destOrd="0" presId="urn:microsoft.com/office/officeart/2005/8/layout/list1"/>
    <dgm:cxn modelId="{57A10589-EB53-AD4E-BF6D-6CDA2F614FC2}" type="presParOf" srcId="{D7D18F9F-264E-1C4F-9DB8-F4EF73D1D9DE}" destId="{776D1B37-FF14-7A49-A0F4-A8C74BF58AFC}" srcOrd="2" destOrd="0" presId="urn:microsoft.com/office/officeart/2005/8/layout/list1"/>
    <dgm:cxn modelId="{975B68DE-440B-394C-A11A-F943E55F43D3}" type="presParOf" srcId="{D7D18F9F-264E-1C4F-9DB8-F4EF73D1D9DE}" destId="{50EF9627-F463-354F-92D0-8CFB59DC386A}" srcOrd="3" destOrd="0" presId="urn:microsoft.com/office/officeart/2005/8/layout/list1"/>
    <dgm:cxn modelId="{09A8FF5D-54E1-4E40-9A27-49F5ACB58398}" type="presParOf" srcId="{D7D18F9F-264E-1C4F-9DB8-F4EF73D1D9DE}" destId="{D0D06A37-F4B6-F447-9D63-946C0D874FEE}" srcOrd="4" destOrd="0" presId="urn:microsoft.com/office/officeart/2005/8/layout/list1"/>
    <dgm:cxn modelId="{700C090B-5CF8-D04B-8920-193035DEC249}" type="presParOf" srcId="{D0D06A37-F4B6-F447-9D63-946C0D874FEE}" destId="{CD05D88F-B884-E948-AD66-FFF6AE2A890C}" srcOrd="0" destOrd="0" presId="urn:microsoft.com/office/officeart/2005/8/layout/list1"/>
    <dgm:cxn modelId="{882C721D-8A0B-374A-8EB9-74950012F802}" type="presParOf" srcId="{D0D06A37-F4B6-F447-9D63-946C0D874FEE}" destId="{DDCBEA84-7B82-BF41-8EF5-7075603C7650}" srcOrd="1" destOrd="0" presId="urn:microsoft.com/office/officeart/2005/8/layout/list1"/>
    <dgm:cxn modelId="{A5E092C3-A8CE-D644-BBC3-A330A0C23CF7}" type="presParOf" srcId="{D7D18F9F-264E-1C4F-9DB8-F4EF73D1D9DE}" destId="{540358F6-0BE0-1D49-9D7F-4C2747107632}" srcOrd="5" destOrd="0" presId="urn:microsoft.com/office/officeart/2005/8/layout/list1"/>
    <dgm:cxn modelId="{6F5C174B-8FB6-6947-B020-9D7286E43C4E}" type="presParOf" srcId="{D7D18F9F-264E-1C4F-9DB8-F4EF73D1D9DE}" destId="{C4E004E9-B3D9-A944-858F-A29782236FDA}" srcOrd="6" destOrd="0" presId="urn:microsoft.com/office/officeart/2005/8/layout/list1"/>
    <dgm:cxn modelId="{83286674-14FD-4C4C-819A-2DE76106F8F2}" type="presParOf" srcId="{D7D18F9F-264E-1C4F-9DB8-F4EF73D1D9DE}" destId="{EA11A30D-F085-B74F-A576-A1BE88877393}" srcOrd="7" destOrd="0" presId="urn:microsoft.com/office/officeart/2005/8/layout/list1"/>
    <dgm:cxn modelId="{E12E2EBF-8CF4-5D45-8528-3C8242584024}" type="presParOf" srcId="{D7D18F9F-264E-1C4F-9DB8-F4EF73D1D9DE}" destId="{78877770-D0DF-A547-94E1-A496C94D6003}" srcOrd="8" destOrd="0" presId="urn:microsoft.com/office/officeart/2005/8/layout/list1"/>
    <dgm:cxn modelId="{D29C33C0-C8D6-A84C-8CE2-FA4C8D62983B}" type="presParOf" srcId="{78877770-D0DF-A547-94E1-A496C94D6003}" destId="{C3B8D5A2-D0D7-4344-913C-29C493072AD3}" srcOrd="0" destOrd="0" presId="urn:microsoft.com/office/officeart/2005/8/layout/list1"/>
    <dgm:cxn modelId="{0558BE12-FD95-1E4B-A963-48A5A6F0257E}" type="presParOf" srcId="{78877770-D0DF-A547-94E1-A496C94D6003}" destId="{224D47F4-CEE3-B341-8C34-069B82484A0C}" srcOrd="1" destOrd="0" presId="urn:microsoft.com/office/officeart/2005/8/layout/list1"/>
    <dgm:cxn modelId="{43B71FC5-AC72-2144-857A-A6E38CFA177D}" type="presParOf" srcId="{D7D18F9F-264E-1C4F-9DB8-F4EF73D1D9DE}" destId="{62E7E13C-9304-A245-9436-146C458FE20D}" srcOrd="9" destOrd="0" presId="urn:microsoft.com/office/officeart/2005/8/layout/list1"/>
    <dgm:cxn modelId="{911581CF-6876-2E49-A54B-6E10E5542C3D}" type="presParOf" srcId="{D7D18F9F-264E-1C4F-9DB8-F4EF73D1D9DE}" destId="{9E6B7DE8-4015-874F-98F6-FC53273A5123}"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C071D28-733E-FF4F-B5C3-F38DEDC206F5}" type="doc">
      <dgm:prSet loTypeId="urn:microsoft.com/office/officeart/2005/8/layout/vList2" loCatId="list" qsTypeId="urn:microsoft.com/office/officeart/2005/8/quickstyle/3d1" qsCatId="3D" csTypeId="urn:microsoft.com/office/officeart/2005/8/colors/accent2_3" csCatId="accent2" phldr="1"/>
      <dgm:spPr/>
      <dgm:t>
        <a:bodyPr/>
        <a:lstStyle/>
        <a:p>
          <a:endParaRPr lang="en-US"/>
        </a:p>
      </dgm:t>
    </dgm:pt>
    <dgm:pt modelId="{59372649-50F7-E04E-AAA5-0330F326C719}">
      <dgm:prSet/>
      <dgm:spPr/>
      <dgm:t>
        <a:bodyPr/>
        <a:lstStyle/>
        <a:p>
          <a:pPr algn="ctr"/>
          <a:r>
            <a:rPr lang="en-US" b="1" baseline="0">
              <a:effectLst/>
            </a:rPr>
            <a:t>DATA INTRODUCTION</a:t>
          </a:r>
          <a:endParaRPr lang="en-US" b="1">
            <a:effectLst/>
          </a:endParaRPr>
        </a:p>
      </dgm:t>
    </dgm:pt>
    <dgm:pt modelId="{186352FC-0B2E-1344-BD18-67669F031FBC}" type="parTrans" cxnId="{5920FE05-66B2-CD47-960F-89293F446A9A}">
      <dgm:prSet/>
      <dgm:spPr/>
      <dgm:t>
        <a:bodyPr/>
        <a:lstStyle/>
        <a:p>
          <a:endParaRPr lang="en-US"/>
        </a:p>
      </dgm:t>
    </dgm:pt>
    <dgm:pt modelId="{10C42645-C34F-7E49-AA17-65BD3EE4B396}" type="sibTrans" cxnId="{5920FE05-66B2-CD47-960F-89293F446A9A}">
      <dgm:prSet/>
      <dgm:spPr/>
      <dgm:t>
        <a:bodyPr/>
        <a:lstStyle/>
        <a:p>
          <a:endParaRPr lang="en-US"/>
        </a:p>
      </dgm:t>
    </dgm:pt>
    <dgm:pt modelId="{89283486-0E0D-8541-BD18-5F2DF22AA218}" type="pres">
      <dgm:prSet presAssocID="{7C071D28-733E-FF4F-B5C3-F38DEDC206F5}" presName="linear" presStyleCnt="0">
        <dgm:presLayoutVars>
          <dgm:animLvl val="lvl"/>
          <dgm:resizeHandles val="exact"/>
        </dgm:presLayoutVars>
      </dgm:prSet>
      <dgm:spPr/>
    </dgm:pt>
    <dgm:pt modelId="{C5CE0904-26DB-524F-9BD2-B0B5834C399E}" type="pres">
      <dgm:prSet presAssocID="{59372649-50F7-E04E-AAA5-0330F326C719}" presName="parentText" presStyleLbl="node1" presStyleIdx="0" presStyleCnt="1" custScaleY="46335">
        <dgm:presLayoutVars>
          <dgm:chMax val="0"/>
          <dgm:bulletEnabled val="1"/>
        </dgm:presLayoutVars>
      </dgm:prSet>
      <dgm:spPr/>
    </dgm:pt>
  </dgm:ptLst>
  <dgm:cxnLst>
    <dgm:cxn modelId="{5920FE05-66B2-CD47-960F-89293F446A9A}" srcId="{7C071D28-733E-FF4F-B5C3-F38DEDC206F5}" destId="{59372649-50F7-E04E-AAA5-0330F326C719}" srcOrd="0" destOrd="0" parTransId="{186352FC-0B2E-1344-BD18-67669F031FBC}" sibTransId="{10C42645-C34F-7E49-AA17-65BD3EE4B396}"/>
    <dgm:cxn modelId="{6F8A90C8-669C-E740-AC3F-0A3E22C8DCBD}" type="presOf" srcId="{7C071D28-733E-FF4F-B5C3-F38DEDC206F5}" destId="{89283486-0E0D-8541-BD18-5F2DF22AA218}" srcOrd="0" destOrd="0" presId="urn:microsoft.com/office/officeart/2005/8/layout/vList2"/>
    <dgm:cxn modelId="{57033DD8-6E42-2C4C-AC61-D5B595BE517A}" type="presOf" srcId="{59372649-50F7-E04E-AAA5-0330F326C719}" destId="{C5CE0904-26DB-524F-9BD2-B0B5834C399E}" srcOrd="0" destOrd="0" presId="urn:microsoft.com/office/officeart/2005/8/layout/vList2"/>
    <dgm:cxn modelId="{0C1D1145-2462-7641-825D-51FA42A09D9E}" type="presParOf" srcId="{89283486-0E0D-8541-BD18-5F2DF22AA218}" destId="{C5CE0904-26DB-524F-9BD2-B0B5834C399E}"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A396AE4-D1E5-DE4B-AEFE-0BB64B38A7A8}" type="doc">
      <dgm:prSet loTypeId="urn:microsoft.com/office/officeart/2005/8/layout/vList2" loCatId="list" qsTypeId="urn:microsoft.com/office/officeart/2005/8/quickstyle/3d1" qsCatId="3D" csTypeId="urn:microsoft.com/office/officeart/2005/8/colors/accent2_3" csCatId="accent2" phldr="1"/>
      <dgm:spPr/>
      <dgm:t>
        <a:bodyPr/>
        <a:lstStyle/>
        <a:p>
          <a:endParaRPr lang="en-US"/>
        </a:p>
      </dgm:t>
    </dgm:pt>
    <dgm:pt modelId="{CF9C3689-9BA4-0A49-9026-0584A632DFB2}">
      <dgm:prSet custT="1"/>
      <dgm:spPr/>
      <dgm:t>
        <a:bodyPr/>
        <a:lstStyle/>
        <a:p>
          <a:pPr algn="ctr"/>
          <a:r>
            <a:rPr lang="en-US" sz="3200" baseline="0">
              <a:latin typeface="+mj-lt"/>
            </a:rPr>
            <a:t>TASK DESCRIPTION &amp; DATASET</a:t>
          </a:r>
          <a:endParaRPr lang="en-US" sz="3200">
            <a:latin typeface="+mj-lt"/>
          </a:endParaRPr>
        </a:p>
      </dgm:t>
    </dgm:pt>
    <dgm:pt modelId="{C9B062B2-48CC-DC46-A604-6CF0EC898ED7}" type="parTrans" cxnId="{1BA343AD-11D5-4640-A57D-00CDE903ACA7}">
      <dgm:prSet/>
      <dgm:spPr/>
      <dgm:t>
        <a:bodyPr/>
        <a:lstStyle/>
        <a:p>
          <a:endParaRPr lang="en-US"/>
        </a:p>
      </dgm:t>
    </dgm:pt>
    <dgm:pt modelId="{FDCA5A94-E6C8-AF43-AC8F-9465E839DFDD}" type="sibTrans" cxnId="{1BA343AD-11D5-4640-A57D-00CDE903ACA7}">
      <dgm:prSet/>
      <dgm:spPr/>
      <dgm:t>
        <a:bodyPr/>
        <a:lstStyle/>
        <a:p>
          <a:endParaRPr lang="en-US"/>
        </a:p>
      </dgm:t>
    </dgm:pt>
    <dgm:pt modelId="{5BFFA493-EECF-FD46-B2F5-E6A63296FF3B}" type="pres">
      <dgm:prSet presAssocID="{2A396AE4-D1E5-DE4B-AEFE-0BB64B38A7A8}" presName="linear" presStyleCnt="0">
        <dgm:presLayoutVars>
          <dgm:animLvl val="lvl"/>
          <dgm:resizeHandles val="exact"/>
        </dgm:presLayoutVars>
      </dgm:prSet>
      <dgm:spPr/>
    </dgm:pt>
    <dgm:pt modelId="{75FE5C94-25E1-AD44-9511-8181447A813A}" type="pres">
      <dgm:prSet presAssocID="{CF9C3689-9BA4-0A49-9026-0584A632DFB2}" presName="parentText" presStyleLbl="node1" presStyleIdx="0" presStyleCnt="1" custScaleY="72893">
        <dgm:presLayoutVars>
          <dgm:chMax val="0"/>
          <dgm:bulletEnabled val="1"/>
        </dgm:presLayoutVars>
      </dgm:prSet>
      <dgm:spPr/>
    </dgm:pt>
  </dgm:ptLst>
  <dgm:cxnLst>
    <dgm:cxn modelId="{F15B9A19-7C08-6742-B82F-41E3D2679905}" type="presOf" srcId="{CF9C3689-9BA4-0A49-9026-0584A632DFB2}" destId="{75FE5C94-25E1-AD44-9511-8181447A813A}" srcOrd="0" destOrd="0" presId="urn:microsoft.com/office/officeart/2005/8/layout/vList2"/>
    <dgm:cxn modelId="{FF0B4E32-638F-DC46-987F-A79A88D72D63}" type="presOf" srcId="{2A396AE4-D1E5-DE4B-AEFE-0BB64B38A7A8}" destId="{5BFFA493-EECF-FD46-B2F5-E6A63296FF3B}" srcOrd="0" destOrd="0" presId="urn:microsoft.com/office/officeart/2005/8/layout/vList2"/>
    <dgm:cxn modelId="{1BA343AD-11D5-4640-A57D-00CDE903ACA7}" srcId="{2A396AE4-D1E5-DE4B-AEFE-0BB64B38A7A8}" destId="{CF9C3689-9BA4-0A49-9026-0584A632DFB2}" srcOrd="0" destOrd="0" parTransId="{C9B062B2-48CC-DC46-A604-6CF0EC898ED7}" sibTransId="{FDCA5A94-E6C8-AF43-AC8F-9465E839DFDD}"/>
    <dgm:cxn modelId="{21E65587-F782-0545-B121-5D50449F3B97}" type="presParOf" srcId="{5BFFA493-EECF-FD46-B2F5-E6A63296FF3B}" destId="{75FE5C94-25E1-AD44-9511-8181447A813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710FF65-BB1A-1F4E-8D13-069992AB4BE7}" type="doc">
      <dgm:prSet loTypeId="urn:microsoft.com/office/officeart/2005/8/layout/list1" loCatId="process" qsTypeId="urn:microsoft.com/office/officeart/2005/8/quickstyle/simple4" qsCatId="simple" csTypeId="urn:microsoft.com/office/officeart/2005/8/colors/accent2_3" csCatId="accent2" phldr="1"/>
      <dgm:spPr/>
      <dgm:t>
        <a:bodyPr/>
        <a:lstStyle/>
        <a:p>
          <a:endParaRPr lang="en-US"/>
        </a:p>
      </dgm:t>
    </dgm:pt>
    <dgm:pt modelId="{6DA6517D-224E-2C4F-B370-8FBE8907DFC5}">
      <dgm:prSet custT="1"/>
      <dgm:spPr/>
      <dgm:t>
        <a:bodyPr/>
        <a:lstStyle/>
        <a:p>
          <a:r>
            <a:rPr lang="en-US" sz="2000" b="1" i="0">
              <a:latin typeface="+mj-lt"/>
            </a:rPr>
            <a:t>Task Description</a:t>
          </a:r>
          <a:r>
            <a:rPr lang="en-US" sz="2000" b="1" i="0">
              <a:latin typeface="+mn-lt"/>
            </a:rPr>
            <a:t>:</a:t>
          </a:r>
          <a:endParaRPr lang="en-US" sz="2000" b="1">
            <a:latin typeface="+mn-lt"/>
          </a:endParaRPr>
        </a:p>
      </dgm:t>
    </dgm:pt>
    <dgm:pt modelId="{FE2CF1A4-CF3B-914E-84D8-AC005BC3C5BF}" type="parTrans" cxnId="{39648898-5EA1-6841-8AD9-C9690D566337}">
      <dgm:prSet/>
      <dgm:spPr/>
      <dgm:t>
        <a:bodyPr/>
        <a:lstStyle/>
        <a:p>
          <a:endParaRPr lang="en-US"/>
        </a:p>
      </dgm:t>
    </dgm:pt>
    <dgm:pt modelId="{0719A2BF-4934-4946-BF73-DC4B6B8CE711}" type="sibTrans" cxnId="{39648898-5EA1-6841-8AD9-C9690D566337}">
      <dgm:prSet/>
      <dgm:spPr/>
      <dgm:t>
        <a:bodyPr/>
        <a:lstStyle/>
        <a:p>
          <a:endParaRPr lang="en-US"/>
        </a:p>
      </dgm:t>
    </dgm:pt>
    <dgm:pt modelId="{8177C87C-3D3F-CB4E-9751-4A203376E756}">
      <dgm:prSet custT="1"/>
      <dgm:spPr/>
      <dgm:t>
        <a:bodyPr/>
        <a:lstStyle/>
        <a:p>
          <a:r>
            <a:rPr lang="en-US" sz="2000" b="1" i="0">
              <a:latin typeface="+mj-lt"/>
            </a:rPr>
            <a:t>Dataset</a:t>
          </a:r>
          <a:r>
            <a:rPr lang="en-US" sz="2100" b="0" i="0"/>
            <a:t> </a:t>
          </a:r>
          <a:endParaRPr lang="en-US" sz="2100"/>
        </a:p>
      </dgm:t>
    </dgm:pt>
    <dgm:pt modelId="{B1554040-4C53-B847-B137-208F970D83C4}" type="parTrans" cxnId="{995D364D-FD0A-A242-A21E-316D1FC13AFD}">
      <dgm:prSet/>
      <dgm:spPr/>
      <dgm:t>
        <a:bodyPr/>
        <a:lstStyle/>
        <a:p>
          <a:endParaRPr lang="en-US"/>
        </a:p>
      </dgm:t>
    </dgm:pt>
    <dgm:pt modelId="{6283E214-00D5-824E-9507-9085F3F4F7E2}" type="sibTrans" cxnId="{995D364D-FD0A-A242-A21E-316D1FC13AFD}">
      <dgm:prSet/>
      <dgm:spPr/>
      <dgm:t>
        <a:bodyPr/>
        <a:lstStyle/>
        <a:p>
          <a:endParaRPr lang="en-US"/>
        </a:p>
      </dgm:t>
    </dgm:pt>
    <dgm:pt modelId="{655C205D-ED45-2049-94C7-62BD64D31446}">
      <dgm:prSet custT="1"/>
      <dgm:spPr/>
      <dgm:t>
        <a:bodyPr/>
        <a:lstStyle/>
        <a:p>
          <a:r>
            <a:rPr lang="en-US" sz="1400" b="0" i="0">
              <a:latin typeface="+mj-lt"/>
            </a:rPr>
            <a:t>Dataset provided in three files: "</a:t>
          </a:r>
          <a:r>
            <a:rPr lang="en-US" sz="1400" b="0" i="0" err="1">
              <a:latin typeface="+mj-lt"/>
            </a:rPr>
            <a:t>train.csv</a:t>
          </a:r>
          <a:r>
            <a:rPr lang="en-US" sz="1400" b="0" i="0">
              <a:latin typeface="+mj-lt"/>
            </a:rPr>
            <a:t>," "</a:t>
          </a:r>
          <a:r>
            <a:rPr lang="en-US" sz="1400" b="0" i="0" err="1">
              <a:latin typeface="+mj-lt"/>
            </a:rPr>
            <a:t>dev.csv</a:t>
          </a:r>
          <a:r>
            <a:rPr lang="en-US" sz="1400" b="0" i="0">
              <a:latin typeface="+mj-lt"/>
            </a:rPr>
            <a:t>," and "</a:t>
          </a:r>
          <a:r>
            <a:rPr lang="en-US" sz="1400" b="0" i="0" err="1">
              <a:latin typeface="+mj-lt"/>
            </a:rPr>
            <a:t>test.csv</a:t>
          </a:r>
          <a:r>
            <a:rPr lang="en-US" sz="1400" b="0" i="0">
              <a:latin typeface="+mj-lt"/>
            </a:rPr>
            <a:t>"</a:t>
          </a:r>
          <a:endParaRPr lang="en-US" sz="1400">
            <a:latin typeface="+mj-lt"/>
          </a:endParaRPr>
        </a:p>
      </dgm:t>
    </dgm:pt>
    <dgm:pt modelId="{456D54EA-0B38-2742-B8C2-1D773744D718}" type="parTrans" cxnId="{6B6D0E62-9550-9C4E-B93C-6513A5E1F375}">
      <dgm:prSet/>
      <dgm:spPr/>
      <dgm:t>
        <a:bodyPr/>
        <a:lstStyle/>
        <a:p>
          <a:endParaRPr lang="en-US"/>
        </a:p>
      </dgm:t>
    </dgm:pt>
    <dgm:pt modelId="{61C53E9B-54B2-E04A-86DB-3E163E1919D0}" type="sibTrans" cxnId="{6B6D0E62-9550-9C4E-B93C-6513A5E1F375}">
      <dgm:prSet/>
      <dgm:spPr/>
      <dgm:t>
        <a:bodyPr/>
        <a:lstStyle/>
        <a:p>
          <a:endParaRPr lang="en-US"/>
        </a:p>
      </dgm:t>
    </dgm:pt>
    <dgm:pt modelId="{07DFC360-5866-C04D-B315-CFEF9C039938}">
      <dgm:prSet custT="1"/>
      <dgm:spPr/>
      <dgm:t>
        <a:bodyPr/>
        <a:lstStyle/>
        <a:p>
          <a:r>
            <a:rPr lang="en-US" sz="1400" b="0" i="0">
              <a:latin typeface="+mj-lt"/>
            </a:rPr>
            <a:t>Random partitioning: Training (64%), Validation (16%), Test (20%)</a:t>
          </a:r>
          <a:endParaRPr lang="en-US" sz="1400">
            <a:latin typeface="+mj-lt"/>
          </a:endParaRPr>
        </a:p>
      </dgm:t>
    </dgm:pt>
    <dgm:pt modelId="{1572EFBD-2344-6046-9AE2-439BABDEC79B}" type="parTrans" cxnId="{F2105286-8ABB-854B-AD31-874E3ECFA2FF}">
      <dgm:prSet/>
      <dgm:spPr/>
      <dgm:t>
        <a:bodyPr/>
        <a:lstStyle/>
        <a:p>
          <a:endParaRPr lang="en-US"/>
        </a:p>
      </dgm:t>
    </dgm:pt>
    <dgm:pt modelId="{C7FDB7A8-C360-884E-8EA9-CE456749967D}" type="sibTrans" cxnId="{F2105286-8ABB-854B-AD31-874E3ECFA2FF}">
      <dgm:prSet/>
      <dgm:spPr/>
      <dgm:t>
        <a:bodyPr/>
        <a:lstStyle/>
        <a:p>
          <a:endParaRPr lang="en-US"/>
        </a:p>
      </dgm:t>
    </dgm:pt>
    <dgm:pt modelId="{F177899A-DFD9-AB42-BFA9-39EC83059BDB}">
      <dgm:prSet custT="1"/>
      <dgm:spPr/>
      <dgm:t>
        <a:bodyPr/>
        <a:lstStyle/>
        <a:p>
          <a:r>
            <a:rPr lang="en-US" sz="1400" b="0" i="0">
              <a:latin typeface="+mj-lt"/>
            </a:rPr>
            <a:t>Total instances: 9652, 2419, and 3024 in the training, validation, and test sets, respectively (Hossain et al., 2020)</a:t>
          </a:r>
          <a:endParaRPr lang="en-US" sz="1400">
            <a:latin typeface="+mj-lt"/>
          </a:endParaRPr>
        </a:p>
      </dgm:t>
    </dgm:pt>
    <dgm:pt modelId="{5C05523F-8F02-5D40-887E-CBD7E961CE7E}" type="parTrans" cxnId="{428C891E-DAB5-FA46-83CB-F0B5A4AAC477}">
      <dgm:prSet/>
      <dgm:spPr/>
      <dgm:t>
        <a:bodyPr/>
        <a:lstStyle/>
        <a:p>
          <a:endParaRPr lang="en-US"/>
        </a:p>
      </dgm:t>
    </dgm:pt>
    <dgm:pt modelId="{538CA140-98CF-C147-A39B-E143BAA5E716}" type="sibTrans" cxnId="{428C891E-DAB5-FA46-83CB-F0B5A4AAC477}">
      <dgm:prSet/>
      <dgm:spPr/>
      <dgm:t>
        <a:bodyPr/>
        <a:lstStyle/>
        <a:p>
          <a:endParaRPr lang="en-US"/>
        </a:p>
      </dgm:t>
    </dgm:pt>
    <dgm:pt modelId="{84C0F658-2B8A-F349-8321-5F7FA7E37CC3}">
      <dgm:prSet custT="1"/>
      <dgm:spPr/>
      <dgm:t>
        <a:bodyPr/>
        <a:lstStyle/>
        <a:p>
          <a:r>
            <a:rPr lang="en-US" sz="1400" b="0" i="0">
              <a:latin typeface="+mj-lt"/>
            </a:rPr>
            <a:t>Regression</a:t>
          </a:r>
          <a:r>
            <a:rPr lang="en-US" sz="1400" b="1" i="0">
              <a:latin typeface="+mj-lt"/>
            </a:rPr>
            <a:t>:</a:t>
          </a:r>
          <a:r>
            <a:rPr lang="en-US" sz="1400" b="0" i="0">
              <a:latin typeface="+mj-lt"/>
            </a:rPr>
            <a:t> Given the original and the edited headline, the participant is required to predict the mean funniness of the edited headline.</a:t>
          </a:r>
          <a:endParaRPr lang="en-US" sz="1400">
            <a:latin typeface="+mj-lt"/>
          </a:endParaRPr>
        </a:p>
      </dgm:t>
    </dgm:pt>
    <dgm:pt modelId="{EC10F218-8CC7-8541-B30E-69E28934490F}" type="sibTrans" cxnId="{C72E77D5-4999-4547-883C-10A9D33DB8F1}">
      <dgm:prSet/>
      <dgm:spPr/>
      <dgm:t>
        <a:bodyPr/>
        <a:lstStyle/>
        <a:p>
          <a:endParaRPr lang="en-US"/>
        </a:p>
      </dgm:t>
    </dgm:pt>
    <dgm:pt modelId="{55E6873A-A8E9-0048-8CD5-9E0812E78845}" type="parTrans" cxnId="{C72E77D5-4999-4547-883C-10A9D33DB8F1}">
      <dgm:prSet/>
      <dgm:spPr/>
      <dgm:t>
        <a:bodyPr/>
        <a:lstStyle/>
        <a:p>
          <a:endParaRPr lang="en-US"/>
        </a:p>
      </dgm:t>
    </dgm:pt>
    <dgm:pt modelId="{E949B6B5-48B4-CC47-8AD1-95DBD89AA00B}" type="pres">
      <dgm:prSet presAssocID="{2710FF65-BB1A-1F4E-8D13-069992AB4BE7}" presName="linear" presStyleCnt="0">
        <dgm:presLayoutVars>
          <dgm:dir/>
          <dgm:animLvl val="lvl"/>
          <dgm:resizeHandles val="exact"/>
        </dgm:presLayoutVars>
      </dgm:prSet>
      <dgm:spPr/>
    </dgm:pt>
    <dgm:pt modelId="{C9D88C63-1D93-3342-9836-742766A68D73}" type="pres">
      <dgm:prSet presAssocID="{6DA6517D-224E-2C4F-B370-8FBE8907DFC5}" presName="parentLin" presStyleCnt="0"/>
      <dgm:spPr/>
    </dgm:pt>
    <dgm:pt modelId="{E2548ECE-D557-7043-9585-FC929DAA3D6C}" type="pres">
      <dgm:prSet presAssocID="{6DA6517D-224E-2C4F-B370-8FBE8907DFC5}" presName="parentLeftMargin" presStyleLbl="node1" presStyleIdx="0" presStyleCnt="2"/>
      <dgm:spPr/>
    </dgm:pt>
    <dgm:pt modelId="{539993AC-43E9-884F-B600-4A74A0FA1B54}" type="pres">
      <dgm:prSet presAssocID="{6DA6517D-224E-2C4F-B370-8FBE8907DFC5}" presName="parentText" presStyleLbl="node1" presStyleIdx="0" presStyleCnt="2">
        <dgm:presLayoutVars>
          <dgm:chMax val="0"/>
          <dgm:bulletEnabled val="1"/>
        </dgm:presLayoutVars>
      </dgm:prSet>
      <dgm:spPr/>
    </dgm:pt>
    <dgm:pt modelId="{4A3C4752-D7C4-E24E-B042-41177D1928FE}" type="pres">
      <dgm:prSet presAssocID="{6DA6517D-224E-2C4F-B370-8FBE8907DFC5}" presName="negativeSpace" presStyleCnt="0"/>
      <dgm:spPr/>
    </dgm:pt>
    <dgm:pt modelId="{F09E90FF-7895-BE43-87EC-BFAB0E4760FA}" type="pres">
      <dgm:prSet presAssocID="{6DA6517D-224E-2C4F-B370-8FBE8907DFC5}" presName="childText" presStyleLbl="conFgAcc1" presStyleIdx="0" presStyleCnt="2">
        <dgm:presLayoutVars>
          <dgm:bulletEnabled val="1"/>
        </dgm:presLayoutVars>
      </dgm:prSet>
      <dgm:spPr/>
    </dgm:pt>
    <dgm:pt modelId="{F8E2E61A-A8CF-324B-9520-ED06A11D1E27}" type="pres">
      <dgm:prSet presAssocID="{0719A2BF-4934-4946-BF73-DC4B6B8CE711}" presName="spaceBetweenRectangles" presStyleCnt="0"/>
      <dgm:spPr/>
    </dgm:pt>
    <dgm:pt modelId="{5CC13496-7D7F-5E42-A8D5-1F09C5426BAC}" type="pres">
      <dgm:prSet presAssocID="{8177C87C-3D3F-CB4E-9751-4A203376E756}" presName="parentLin" presStyleCnt="0"/>
      <dgm:spPr/>
    </dgm:pt>
    <dgm:pt modelId="{F074374D-1131-5E47-93B7-E2D449EAAF86}" type="pres">
      <dgm:prSet presAssocID="{8177C87C-3D3F-CB4E-9751-4A203376E756}" presName="parentLeftMargin" presStyleLbl="node1" presStyleIdx="0" presStyleCnt="2"/>
      <dgm:spPr/>
    </dgm:pt>
    <dgm:pt modelId="{C73D36F3-5D62-BA4A-AA86-A056617CA0E1}" type="pres">
      <dgm:prSet presAssocID="{8177C87C-3D3F-CB4E-9751-4A203376E756}" presName="parentText" presStyleLbl="node1" presStyleIdx="1" presStyleCnt="2">
        <dgm:presLayoutVars>
          <dgm:chMax val="0"/>
          <dgm:bulletEnabled val="1"/>
        </dgm:presLayoutVars>
      </dgm:prSet>
      <dgm:spPr/>
    </dgm:pt>
    <dgm:pt modelId="{20D23705-0BE8-694C-A81F-946C24AA7176}" type="pres">
      <dgm:prSet presAssocID="{8177C87C-3D3F-CB4E-9751-4A203376E756}" presName="negativeSpace" presStyleCnt="0"/>
      <dgm:spPr/>
    </dgm:pt>
    <dgm:pt modelId="{4F9F3AB0-575C-594E-9650-16D8D9D51341}" type="pres">
      <dgm:prSet presAssocID="{8177C87C-3D3F-CB4E-9751-4A203376E756}" presName="childText" presStyleLbl="conFgAcc1" presStyleIdx="1" presStyleCnt="2">
        <dgm:presLayoutVars>
          <dgm:bulletEnabled val="1"/>
        </dgm:presLayoutVars>
      </dgm:prSet>
      <dgm:spPr/>
    </dgm:pt>
  </dgm:ptLst>
  <dgm:cxnLst>
    <dgm:cxn modelId="{88317F01-D7AE-C143-9FD5-45C5D15421BF}" type="presOf" srcId="{8177C87C-3D3F-CB4E-9751-4A203376E756}" destId="{C73D36F3-5D62-BA4A-AA86-A056617CA0E1}" srcOrd="1" destOrd="0" presId="urn:microsoft.com/office/officeart/2005/8/layout/list1"/>
    <dgm:cxn modelId="{0A3CD418-1908-A64A-ACC1-EC09EAA6F36C}" type="presOf" srcId="{2710FF65-BB1A-1F4E-8D13-069992AB4BE7}" destId="{E949B6B5-48B4-CC47-8AD1-95DBD89AA00B}" srcOrd="0" destOrd="0" presId="urn:microsoft.com/office/officeart/2005/8/layout/list1"/>
    <dgm:cxn modelId="{428C891E-DAB5-FA46-83CB-F0B5A4AAC477}" srcId="{8177C87C-3D3F-CB4E-9751-4A203376E756}" destId="{F177899A-DFD9-AB42-BFA9-39EC83059BDB}" srcOrd="2" destOrd="0" parTransId="{5C05523F-8F02-5D40-887E-CBD7E961CE7E}" sibTransId="{538CA140-98CF-C147-A39B-E143BAA5E716}"/>
    <dgm:cxn modelId="{8326E737-9977-874E-86F4-9B9AD41568E6}" type="presOf" srcId="{84C0F658-2B8A-F349-8321-5F7FA7E37CC3}" destId="{F09E90FF-7895-BE43-87EC-BFAB0E4760FA}" srcOrd="0" destOrd="0" presId="urn:microsoft.com/office/officeart/2005/8/layout/list1"/>
    <dgm:cxn modelId="{4103CC38-55C7-BC4A-B5DC-67FBC42D19E2}" type="presOf" srcId="{6DA6517D-224E-2C4F-B370-8FBE8907DFC5}" destId="{539993AC-43E9-884F-B600-4A74A0FA1B54}" srcOrd="1" destOrd="0" presId="urn:microsoft.com/office/officeart/2005/8/layout/list1"/>
    <dgm:cxn modelId="{6B6D0E62-9550-9C4E-B93C-6513A5E1F375}" srcId="{8177C87C-3D3F-CB4E-9751-4A203376E756}" destId="{655C205D-ED45-2049-94C7-62BD64D31446}" srcOrd="0" destOrd="0" parTransId="{456D54EA-0B38-2742-B8C2-1D773744D718}" sibTransId="{61C53E9B-54B2-E04A-86DB-3E163E1919D0}"/>
    <dgm:cxn modelId="{995D364D-FD0A-A242-A21E-316D1FC13AFD}" srcId="{2710FF65-BB1A-1F4E-8D13-069992AB4BE7}" destId="{8177C87C-3D3F-CB4E-9751-4A203376E756}" srcOrd="1" destOrd="0" parTransId="{B1554040-4C53-B847-B137-208F970D83C4}" sibTransId="{6283E214-00D5-824E-9507-9085F3F4F7E2}"/>
    <dgm:cxn modelId="{F2105286-8ABB-854B-AD31-874E3ECFA2FF}" srcId="{8177C87C-3D3F-CB4E-9751-4A203376E756}" destId="{07DFC360-5866-C04D-B315-CFEF9C039938}" srcOrd="1" destOrd="0" parTransId="{1572EFBD-2344-6046-9AE2-439BABDEC79B}" sibTransId="{C7FDB7A8-C360-884E-8EA9-CE456749967D}"/>
    <dgm:cxn modelId="{64222A8B-94B4-6E4E-88A3-2EE0CCEAF460}" type="presOf" srcId="{8177C87C-3D3F-CB4E-9751-4A203376E756}" destId="{F074374D-1131-5E47-93B7-E2D449EAAF86}" srcOrd="0" destOrd="0" presId="urn:microsoft.com/office/officeart/2005/8/layout/list1"/>
    <dgm:cxn modelId="{39648898-5EA1-6841-8AD9-C9690D566337}" srcId="{2710FF65-BB1A-1F4E-8D13-069992AB4BE7}" destId="{6DA6517D-224E-2C4F-B370-8FBE8907DFC5}" srcOrd="0" destOrd="0" parTransId="{FE2CF1A4-CF3B-914E-84D8-AC005BC3C5BF}" sibTransId="{0719A2BF-4934-4946-BF73-DC4B6B8CE711}"/>
    <dgm:cxn modelId="{59989AA8-2A3E-2948-9DD5-54A02EEDA3D4}" type="presOf" srcId="{655C205D-ED45-2049-94C7-62BD64D31446}" destId="{4F9F3AB0-575C-594E-9650-16D8D9D51341}" srcOrd="0" destOrd="0" presId="urn:microsoft.com/office/officeart/2005/8/layout/list1"/>
    <dgm:cxn modelId="{77743FCB-0854-1144-A87C-5C4FE35CE899}" type="presOf" srcId="{6DA6517D-224E-2C4F-B370-8FBE8907DFC5}" destId="{E2548ECE-D557-7043-9585-FC929DAA3D6C}" srcOrd="0" destOrd="0" presId="urn:microsoft.com/office/officeart/2005/8/layout/list1"/>
    <dgm:cxn modelId="{C72E77D5-4999-4547-883C-10A9D33DB8F1}" srcId="{6DA6517D-224E-2C4F-B370-8FBE8907DFC5}" destId="{84C0F658-2B8A-F349-8321-5F7FA7E37CC3}" srcOrd="0" destOrd="0" parTransId="{55E6873A-A8E9-0048-8CD5-9E0812E78845}" sibTransId="{EC10F218-8CC7-8541-B30E-69E28934490F}"/>
    <dgm:cxn modelId="{2314F4F2-0D52-B84B-83FF-5AEB1FB9A6D9}" type="presOf" srcId="{F177899A-DFD9-AB42-BFA9-39EC83059BDB}" destId="{4F9F3AB0-575C-594E-9650-16D8D9D51341}" srcOrd="0" destOrd="2" presId="urn:microsoft.com/office/officeart/2005/8/layout/list1"/>
    <dgm:cxn modelId="{404B66F9-5BF1-F74F-A2CB-CCF1E9A63981}" type="presOf" srcId="{07DFC360-5866-C04D-B315-CFEF9C039938}" destId="{4F9F3AB0-575C-594E-9650-16D8D9D51341}" srcOrd="0" destOrd="1" presId="urn:microsoft.com/office/officeart/2005/8/layout/list1"/>
    <dgm:cxn modelId="{32B2B473-E264-134D-B1A3-338A49170E9B}" type="presParOf" srcId="{E949B6B5-48B4-CC47-8AD1-95DBD89AA00B}" destId="{C9D88C63-1D93-3342-9836-742766A68D73}" srcOrd="0" destOrd="0" presId="urn:microsoft.com/office/officeart/2005/8/layout/list1"/>
    <dgm:cxn modelId="{34447807-3929-6246-B3BF-E1F07E5906CB}" type="presParOf" srcId="{C9D88C63-1D93-3342-9836-742766A68D73}" destId="{E2548ECE-D557-7043-9585-FC929DAA3D6C}" srcOrd="0" destOrd="0" presId="urn:microsoft.com/office/officeart/2005/8/layout/list1"/>
    <dgm:cxn modelId="{9D40F308-C542-514D-A6B5-9675C23EB721}" type="presParOf" srcId="{C9D88C63-1D93-3342-9836-742766A68D73}" destId="{539993AC-43E9-884F-B600-4A74A0FA1B54}" srcOrd="1" destOrd="0" presId="urn:microsoft.com/office/officeart/2005/8/layout/list1"/>
    <dgm:cxn modelId="{4B064509-D4FD-B446-84A7-9E770E98AB75}" type="presParOf" srcId="{E949B6B5-48B4-CC47-8AD1-95DBD89AA00B}" destId="{4A3C4752-D7C4-E24E-B042-41177D1928FE}" srcOrd="1" destOrd="0" presId="urn:microsoft.com/office/officeart/2005/8/layout/list1"/>
    <dgm:cxn modelId="{3744793F-B55F-FC4E-8218-4FBD2106D177}" type="presParOf" srcId="{E949B6B5-48B4-CC47-8AD1-95DBD89AA00B}" destId="{F09E90FF-7895-BE43-87EC-BFAB0E4760FA}" srcOrd="2" destOrd="0" presId="urn:microsoft.com/office/officeart/2005/8/layout/list1"/>
    <dgm:cxn modelId="{51763B32-D7F2-3941-A71E-59F5BEA1CEE3}" type="presParOf" srcId="{E949B6B5-48B4-CC47-8AD1-95DBD89AA00B}" destId="{F8E2E61A-A8CF-324B-9520-ED06A11D1E27}" srcOrd="3" destOrd="0" presId="urn:microsoft.com/office/officeart/2005/8/layout/list1"/>
    <dgm:cxn modelId="{4C20825C-8C32-4041-8E07-666068EB7C00}" type="presParOf" srcId="{E949B6B5-48B4-CC47-8AD1-95DBD89AA00B}" destId="{5CC13496-7D7F-5E42-A8D5-1F09C5426BAC}" srcOrd="4" destOrd="0" presId="urn:microsoft.com/office/officeart/2005/8/layout/list1"/>
    <dgm:cxn modelId="{FCF3662B-4A68-2841-A02F-E6127D419C7B}" type="presParOf" srcId="{5CC13496-7D7F-5E42-A8D5-1F09C5426BAC}" destId="{F074374D-1131-5E47-93B7-E2D449EAAF86}" srcOrd="0" destOrd="0" presId="urn:microsoft.com/office/officeart/2005/8/layout/list1"/>
    <dgm:cxn modelId="{16D7FC06-6B55-1F4F-A4DF-DA0B53F2792E}" type="presParOf" srcId="{5CC13496-7D7F-5E42-A8D5-1F09C5426BAC}" destId="{C73D36F3-5D62-BA4A-AA86-A056617CA0E1}" srcOrd="1" destOrd="0" presId="urn:microsoft.com/office/officeart/2005/8/layout/list1"/>
    <dgm:cxn modelId="{6C3EDC8E-9ECD-5E45-A2EE-3074071976AC}" type="presParOf" srcId="{E949B6B5-48B4-CC47-8AD1-95DBD89AA00B}" destId="{20D23705-0BE8-694C-A81F-946C24AA7176}" srcOrd="5" destOrd="0" presId="urn:microsoft.com/office/officeart/2005/8/layout/list1"/>
    <dgm:cxn modelId="{F73C8E22-73E3-1D41-91CA-EC7145CCF52A}" type="presParOf" srcId="{E949B6B5-48B4-CC47-8AD1-95DBD89AA00B}" destId="{4F9F3AB0-575C-594E-9650-16D8D9D51341}"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CF9F284-308A-BB43-97AB-4290EEAA57D1}"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998DAD9D-900A-5C45-BE31-49C7DA1BB91C}">
      <dgm:prSet custT="1"/>
      <dgm:spPr/>
      <dgm:t>
        <a:bodyPr/>
        <a:lstStyle/>
        <a:p>
          <a:pPr algn="ctr" rtl="0"/>
          <a:r>
            <a:rPr lang="en-US" sz="3200">
              <a:latin typeface="+mj-lt"/>
            </a:rPr>
            <a:t>METHODS PART 5: FINAL EVALUATION</a:t>
          </a:r>
        </a:p>
      </dgm:t>
    </dgm:pt>
    <dgm:pt modelId="{4C79747F-9A0E-E146-901B-88EEBFB96FAA}" type="parTrans" cxnId="{C2F09A6E-028A-5C41-B62F-0232C7886452}">
      <dgm:prSet/>
      <dgm:spPr/>
      <dgm:t>
        <a:bodyPr/>
        <a:lstStyle/>
        <a:p>
          <a:endParaRPr lang="en-US"/>
        </a:p>
      </dgm:t>
    </dgm:pt>
    <dgm:pt modelId="{1F047816-5F96-7942-BFAC-A941FBCC76D8}" type="sibTrans" cxnId="{C2F09A6E-028A-5C41-B62F-0232C7886452}">
      <dgm:prSet/>
      <dgm:spPr/>
      <dgm:t>
        <a:bodyPr/>
        <a:lstStyle/>
        <a:p>
          <a:endParaRPr lang="en-US"/>
        </a:p>
      </dgm:t>
    </dgm:pt>
    <dgm:pt modelId="{E7894683-28C1-0640-B35C-0B972B0CD743}" type="pres">
      <dgm:prSet presAssocID="{7CF9F284-308A-BB43-97AB-4290EEAA57D1}" presName="linear" presStyleCnt="0">
        <dgm:presLayoutVars>
          <dgm:animLvl val="lvl"/>
          <dgm:resizeHandles val="exact"/>
        </dgm:presLayoutVars>
      </dgm:prSet>
      <dgm:spPr/>
    </dgm:pt>
    <dgm:pt modelId="{28CCD09E-03AE-C344-95C1-3ECE8CEEE9E0}" type="pres">
      <dgm:prSet presAssocID="{998DAD9D-900A-5C45-BE31-49C7DA1BB91C}" presName="parentText" presStyleLbl="node1" presStyleIdx="0" presStyleCnt="1">
        <dgm:presLayoutVars>
          <dgm:chMax val="0"/>
          <dgm:bulletEnabled val="1"/>
        </dgm:presLayoutVars>
      </dgm:prSet>
      <dgm:spPr/>
    </dgm:pt>
  </dgm:ptLst>
  <dgm:cxnLst>
    <dgm:cxn modelId="{0020FF3F-1C76-C84F-BED1-0367E8308B13}" type="presOf" srcId="{998DAD9D-900A-5C45-BE31-49C7DA1BB91C}" destId="{28CCD09E-03AE-C344-95C1-3ECE8CEEE9E0}" srcOrd="0" destOrd="0" presId="urn:microsoft.com/office/officeart/2005/8/layout/vList2"/>
    <dgm:cxn modelId="{C2F09A6E-028A-5C41-B62F-0232C7886452}" srcId="{7CF9F284-308A-BB43-97AB-4290EEAA57D1}" destId="{998DAD9D-900A-5C45-BE31-49C7DA1BB91C}" srcOrd="0" destOrd="0" parTransId="{4C79747F-9A0E-E146-901B-88EEBFB96FAA}" sibTransId="{1F047816-5F96-7942-BFAC-A941FBCC76D8}"/>
    <dgm:cxn modelId="{4AA51EF5-1A7A-B546-9320-D05E556C1088}" type="presOf" srcId="{7CF9F284-308A-BB43-97AB-4290EEAA57D1}" destId="{E7894683-28C1-0640-B35C-0B972B0CD743}" srcOrd="0" destOrd="0" presId="urn:microsoft.com/office/officeart/2005/8/layout/vList2"/>
    <dgm:cxn modelId="{C119EB6A-F138-A143-AE7A-75BFB36A92F1}" type="presParOf" srcId="{E7894683-28C1-0640-B35C-0B972B0CD743}" destId="{28CCD09E-03AE-C344-95C1-3ECE8CEEE9E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1982FAA-B004-FF48-A90F-7F75CA064EBF}"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4D77D864-28E3-274D-B58C-55583EB909E3}">
      <dgm:prSet custT="1"/>
      <dgm:spPr/>
      <dgm:t>
        <a:bodyPr/>
        <a:lstStyle/>
        <a:p>
          <a:pPr algn="ctr" rtl="0"/>
          <a:r>
            <a:rPr lang="en-US" sz="3200">
              <a:latin typeface="+mj-lt"/>
            </a:rPr>
            <a:t> METHODS PART 6: CODE, SOFTWARE, AND PROCESSING</a:t>
          </a:r>
        </a:p>
      </dgm:t>
    </dgm:pt>
    <dgm:pt modelId="{46793CAA-3D45-3241-A56F-22EF8231174D}" type="parTrans" cxnId="{C544F38E-ED5C-CF42-9563-7C029CA01951}">
      <dgm:prSet/>
      <dgm:spPr/>
      <dgm:t>
        <a:bodyPr/>
        <a:lstStyle/>
        <a:p>
          <a:endParaRPr lang="en-US"/>
        </a:p>
      </dgm:t>
    </dgm:pt>
    <dgm:pt modelId="{4BD1021B-139C-AD49-BE07-C1CCF2D73FF7}" type="sibTrans" cxnId="{C544F38E-ED5C-CF42-9563-7C029CA01951}">
      <dgm:prSet/>
      <dgm:spPr/>
      <dgm:t>
        <a:bodyPr/>
        <a:lstStyle/>
        <a:p>
          <a:endParaRPr lang="en-US"/>
        </a:p>
      </dgm:t>
    </dgm:pt>
    <dgm:pt modelId="{5058B507-5A17-9C40-BC89-9E33D82DCF09}" type="pres">
      <dgm:prSet presAssocID="{C1982FAA-B004-FF48-A90F-7F75CA064EBF}" presName="linear" presStyleCnt="0">
        <dgm:presLayoutVars>
          <dgm:animLvl val="lvl"/>
          <dgm:resizeHandles val="exact"/>
        </dgm:presLayoutVars>
      </dgm:prSet>
      <dgm:spPr/>
    </dgm:pt>
    <dgm:pt modelId="{18D2F6A9-4393-404F-A9C0-AA40B271F16E}" type="pres">
      <dgm:prSet presAssocID="{4D77D864-28E3-274D-B58C-55583EB909E3}" presName="parentText" presStyleLbl="node1" presStyleIdx="0" presStyleCnt="1" custLinFactNeighborX="1875" custLinFactNeighborY="5215">
        <dgm:presLayoutVars>
          <dgm:chMax val="0"/>
          <dgm:bulletEnabled val="1"/>
        </dgm:presLayoutVars>
      </dgm:prSet>
      <dgm:spPr/>
    </dgm:pt>
  </dgm:ptLst>
  <dgm:cxnLst>
    <dgm:cxn modelId="{C993A985-C153-C442-ADA0-951C0CECF1EB}" type="presOf" srcId="{C1982FAA-B004-FF48-A90F-7F75CA064EBF}" destId="{5058B507-5A17-9C40-BC89-9E33D82DCF09}" srcOrd="0" destOrd="0" presId="urn:microsoft.com/office/officeart/2005/8/layout/vList2"/>
    <dgm:cxn modelId="{C544F38E-ED5C-CF42-9563-7C029CA01951}" srcId="{C1982FAA-B004-FF48-A90F-7F75CA064EBF}" destId="{4D77D864-28E3-274D-B58C-55583EB909E3}" srcOrd="0" destOrd="0" parTransId="{46793CAA-3D45-3241-A56F-22EF8231174D}" sibTransId="{4BD1021B-139C-AD49-BE07-C1CCF2D73FF7}"/>
    <dgm:cxn modelId="{9E1E09CD-BF03-774B-8A04-6D21EFD738A9}" type="presOf" srcId="{4D77D864-28E3-274D-B58C-55583EB909E3}" destId="{18D2F6A9-4393-404F-A9C0-AA40B271F16E}" srcOrd="0" destOrd="0" presId="urn:microsoft.com/office/officeart/2005/8/layout/vList2"/>
    <dgm:cxn modelId="{4A88318E-C4AD-4D48-A100-8B5941D1D57E}" type="presParOf" srcId="{5058B507-5A17-9C40-BC89-9E33D82DCF09}" destId="{18D2F6A9-4393-404F-A9C0-AA40B271F16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670BC39-F683-604D-BFB5-AE4C08E1A735}"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1222ABD4-5657-DD4A-8766-F9C5DC01DBF9}">
      <dgm:prSet custT="1"/>
      <dgm:spPr/>
      <dgm:t>
        <a:bodyPr/>
        <a:lstStyle/>
        <a:p>
          <a:pPr algn="ctr"/>
          <a:r>
            <a:rPr lang="en-US" sz="3200">
              <a:latin typeface="+mj-lt"/>
            </a:rPr>
            <a:t>RESULTS AND BEST MODEL PART 1</a:t>
          </a:r>
        </a:p>
      </dgm:t>
    </dgm:pt>
    <dgm:pt modelId="{40CE2AF5-F1FA-5441-943F-7AF45160DE70}" type="parTrans" cxnId="{AB3C7886-31E1-004E-B9E8-6C3006B45260}">
      <dgm:prSet/>
      <dgm:spPr/>
      <dgm:t>
        <a:bodyPr/>
        <a:lstStyle/>
        <a:p>
          <a:endParaRPr lang="en-US"/>
        </a:p>
      </dgm:t>
    </dgm:pt>
    <dgm:pt modelId="{6E779754-C2C1-E944-B1C7-C3C319B60036}" type="sibTrans" cxnId="{AB3C7886-31E1-004E-B9E8-6C3006B45260}">
      <dgm:prSet/>
      <dgm:spPr/>
      <dgm:t>
        <a:bodyPr/>
        <a:lstStyle/>
        <a:p>
          <a:endParaRPr lang="en-US"/>
        </a:p>
      </dgm:t>
    </dgm:pt>
    <dgm:pt modelId="{4B6289E3-53BA-3446-93C6-422BAF872017}" type="pres">
      <dgm:prSet presAssocID="{C670BC39-F683-604D-BFB5-AE4C08E1A735}" presName="linear" presStyleCnt="0">
        <dgm:presLayoutVars>
          <dgm:animLvl val="lvl"/>
          <dgm:resizeHandles val="exact"/>
        </dgm:presLayoutVars>
      </dgm:prSet>
      <dgm:spPr/>
    </dgm:pt>
    <dgm:pt modelId="{2E9C8603-22B9-E84A-9026-C3AEE31A388E}" type="pres">
      <dgm:prSet presAssocID="{1222ABD4-5657-DD4A-8766-F9C5DC01DBF9}" presName="parentText" presStyleLbl="node1" presStyleIdx="0" presStyleCnt="1">
        <dgm:presLayoutVars>
          <dgm:chMax val="0"/>
          <dgm:bulletEnabled val="1"/>
        </dgm:presLayoutVars>
      </dgm:prSet>
      <dgm:spPr/>
    </dgm:pt>
  </dgm:ptLst>
  <dgm:cxnLst>
    <dgm:cxn modelId="{355E0D55-343F-614D-96AD-CDB9EF038957}" type="presOf" srcId="{1222ABD4-5657-DD4A-8766-F9C5DC01DBF9}" destId="{2E9C8603-22B9-E84A-9026-C3AEE31A388E}" srcOrd="0" destOrd="0" presId="urn:microsoft.com/office/officeart/2005/8/layout/vList2"/>
    <dgm:cxn modelId="{AB3C7886-31E1-004E-B9E8-6C3006B45260}" srcId="{C670BC39-F683-604D-BFB5-AE4C08E1A735}" destId="{1222ABD4-5657-DD4A-8766-F9C5DC01DBF9}" srcOrd="0" destOrd="0" parTransId="{40CE2AF5-F1FA-5441-943F-7AF45160DE70}" sibTransId="{6E779754-C2C1-E944-B1C7-C3C319B60036}"/>
    <dgm:cxn modelId="{104C03E8-9FEA-4D4A-B8F8-A441D614BDB8}" type="presOf" srcId="{C670BC39-F683-604D-BFB5-AE4C08E1A735}" destId="{4B6289E3-53BA-3446-93C6-422BAF872017}" srcOrd="0" destOrd="0" presId="urn:microsoft.com/office/officeart/2005/8/layout/vList2"/>
    <dgm:cxn modelId="{DA717A0E-46F8-514F-9911-B7A7E96773E8}" type="presParOf" srcId="{4B6289E3-53BA-3446-93C6-422BAF872017}" destId="{2E9C8603-22B9-E84A-9026-C3AEE31A388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26AF26F-FEDC-6D46-B26D-19184DEF26C0}"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BF901F1B-0696-A449-B681-2E2CEAED8E5A}">
      <dgm:prSet custT="1"/>
      <dgm:spPr/>
      <dgm:t>
        <a:bodyPr/>
        <a:lstStyle/>
        <a:p>
          <a:pPr algn="ctr"/>
          <a:r>
            <a:rPr lang="en-US" sz="3200">
              <a:latin typeface="+mj-lt"/>
            </a:rPr>
            <a:t>RESULTS AND BEST MODEL PART 2</a:t>
          </a:r>
        </a:p>
      </dgm:t>
    </dgm:pt>
    <dgm:pt modelId="{96FC83F3-C8F4-DF43-9AC3-C8A26E1CA0C0}" type="parTrans" cxnId="{A9C98964-C775-F44C-9010-A80409D384C4}">
      <dgm:prSet/>
      <dgm:spPr/>
      <dgm:t>
        <a:bodyPr/>
        <a:lstStyle/>
        <a:p>
          <a:endParaRPr lang="en-US"/>
        </a:p>
      </dgm:t>
    </dgm:pt>
    <dgm:pt modelId="{EE2C9A63-1841-BA44-9604-5702B6C88F8C}" type="sibTrans" cxnId="{A9C98964-C775-F44C-9010-A80409D384C4}">
      <dgm:prSet/>
      <dgm:spPr/>
      <dgm:t>
        <a:bodyPr/>
        <a:lstStyle/>
        <a:p>
          <a:endParaRPr lang="en-US"/>
        </a:p>
      </dgm:t>
    </dgm:pt>
    <dgm:pt modelId="{40C132D2-A311-DD43-8677-687E36DA4D50}" type="pres">
      <dgm:prSet presAssocID="{626AF26F-FEDC-6D46-B26D-19184DEF26C0}" presName="linear" presStyleCnt="0">
        <dgm:presLayoutVars>
          <dgm:animLvl val="lvl"/>
          <dgm:resizeHandles val="exact"/>
        </dgm:presLayoutVars>
      </dgm:prSet>
      <dgm:spPr/>
    </dgm:pt>
    <dgm:pt modelId="{681831D0-A8A0-3F4E-BEFC-B3941A811545}" type="pres">
      <dgm:prSet presAssocID="{BF901F1B-0696-A449-B681-2E2CEAED8E5A}" presName="parentText" presStyleLbl="node1" presStyleIdx="0" presStyleCnt="1">
        <dgm:presLayoutVars>
          <dgm:chMax val="0"/>
          <dgm:bulletEnabled val="1"/>
        </dgm:presLayoutVars>
      </dgm:prSet>
      <dgm:spPr/>
    </dgm:pt>
  </dgm:ptLst>
  <dgm:cxnLst>
    <dgm:cxn modelId="{A9C98964-C775-F44C-9010-A80409D384C4}" srcId="{626AF26F-FEDC-6D46-B26D-19184DEF26C0}" destId="{BF901F1B-0696-A449-B681-2E2CEAED8E5A}" srcOrd="0" destOrd="0" parTransId="{96FC83F3-C8F4-DF43-9AC3-C8A26E1CA0C0}" sibTransId="{EE2C9A63-1841-BA44-9604-5702B6C88F8C}"/>
    <dgm:cxn modelId="{B52F8A7D-3BB8-4C48-91C1-208A92F886B0}" type="presOf" srcId="{BF901F1B-0696-A449-B681-2E2CEAED8E5A}" destId="{681831D0-A8A0-3F4E-BEFC-B3941A811545}" srcOrd="0" destOrd="0" presId="urn:microsoft.com/office/officeart/2005/8/layout/vList2"/>
    <dgm:cxn modelId="{9FCBD17D-0214-D948-801F-05C5D7142C4E}" type="presOf" srcId="{626AF26F-FEDC-6D46-B26D-19184DEF26C0}" destId="{40C132D2-A311-DD43-8677-687E36DA4D50}" srcOrd="0" destOrd="0" presId="urn:microsoft.com/office/officeart/2005/8/layout/vList2"/>
    <dgm:cxn modelId="{64B6B07F-7142-7C46-A00D-38CB06194EAE}" type="presParOf" srcId="{40C132D2-A311-DD43-8677-687E36DA4D50}" destId="{681831D0-A8A0-3F4E-BEFC-B3941A81154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0E08DFC-4549-7944-B8E1-C82A0207099C}"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86BAB12C-645F-3640-983E-7154BAC2A1F8}">
      <dgm:prSet custT="1"/>
      <dgm:spPr/>
      <dgm:t>
        <a:bodyPr/>
        <a:lstStyle/>
        <a:p>
          <a:pPr algn="ctr"/>
          <a:r>
            <a:rPr lang="en-US" sz="3200">
              <a:latin typeface="+mj-lt"/>
            </a:rPr>
            <a:t>STRANGE RESULTS</a:t>
          </a:r>
        </a:p>
      </dgm:t>
    </dgm:pt>
    <dgm:pt modelId="{85C98536-F57B-344A-A1D3-668E8559CD3A}" type="parTrans" cxnId="{9F554CB5-7FCB-7145-9403-202B0FEDB729}">
      <dgm:prSet/>
      <dgm:spPr/>
      <dgm:t>
        <a:bodyPr/>
        <a:lstStyle/>
        <a:p>
          <a:endParaRPr lang="en-US"/>
        </a:p>
      </dgm:t>
    </dgm:pt>
    <dgm:pt modelId="{38F70C89-0CF8-0848-B885-9B16BBE01A3F}" type="sibTrans" cxnId="{9F554CB5-7FCB-7145-9403-202B0FEDB729}">
      <dgm:prSet/>
      <dgm:spPr/>
      <dgm:t>
        <a:bodyPr/>
        <a:lstStyle/>
        <a:p>
          <a:endParaRPr lang="en-US"/>
        </a:p>
      </dgm:t>
    </dgm:pt>
    <dgm:pt modelId="{B9E80DA0-FF44-544A-A805-DFC2BB08C1D6}" type="pres">
      <dgm:prSet presAssocID="{F0E08DFC-4549-7944-B8E1-C82A0207099C}" presName="linear" presStyleCnt="0">
        <dgm:presLayoutVars>
          <dgm:animLvl val="lvl"/>
          <dgm:resizeHandles val="exact"/>
        </dgm:presLayoutVars>
      </dgm:prSet>
      <dgm:spPr/>
    </dgm:pt>
    <dgm:pt modelId="{59BE0ECB-D60B-294E-96CD-F1399E6DA090}" type="pres">
      <dgm:prSet presAssocID="{86BAB12C-645F-3640-983E-7154BAC2A1F8}" presName="parentText" presStyleLbl="node1" presStyleIdx="0" presStyleCnt="1">
        <dgm:presLayoutVars>
          <dgm:chMax val="0"/>
          <dgm:bulletEnabled val="1"/>
        </dgm:presLayoutVars>
      </dgm:prSet>
      <dgm:spPr/>
    </dgm:pt>
  </dgm:ptLst>
  <dgm:cxnLst>
    <dgm:cxn modelId="{079B5678-5CA4-4F48-8F91-2F5D02B35E4D}" type="presOf" srcId="{86BAB12C-645F-3640-983E-7154BAC2A1F8}" destId="{59BE0ECB-D60B-294E-96CD-F1399E6DA090}" srcOrd="0" destOrd="0" presId="urn:microsoft.com/office/officeart/2005/8/layout/vList2"/>
    <dgm:cxn modelId="{9F554CB5-7FCB-7145-9403-202B0FEDB729}" srcId="{F0E08DFC-4549-7944-B8E1-C82A0207099C}" destId="{86BAB12C-645F-3640-983E-7154BAC2A1F8}" srcOrd="0" destOrd="0" parTransId="{85C98536-F57B-344A-A1D3-668E8559CD3A}" sibTransId="{38F70C89-0CF8-0848-B885-9B16BBE01A3F}"/>
    <dgm:cxn modelId="{FC15F4E7-0C72-2C42-ABB5-8B34607BEEC8}" type="presOf" srcId="{F0E08DFC-4549-7944-B8E1-C82A0207099C}" destId="{B9E80DA0-FF44-544A-A805-DFC2BB08C1D6}" srcOrd="0" destOrd="0" presId="urn:microsoft.com/office/officeart/2005/8/layout/vList2"/>
    <dgm:cxn modelId="{EC9809DB-4664-F548-B149-E60FAE8B9F82}" type="presParOf" srcId="{B9E80DA0-FF44-544A-A805-DFC2BB08C1D6}" destId="{59BE0ECB-D60B-294E-96CD-F1399E6DA09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99DAFE0-E95C-0344-868D-8B2BABB9F0B8}"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62BE29FC-1568-8941-9415-170512F7BE6C}">
      <dgm:prSet custT="1"/>
      <dgm:spPr/>
      <dgm:t>
        <a:bodyPr/>
        <a:lstStyle/>
        <a:p>
          <a:pPr algn="ctr"/>
          <a:r>
            <a:rPr lang="en-US" sz="3200">
              <a:latin typeface="+mj-lt"/>
            </a:rPr>
            <a:t>CONCLUSION</a:t>
          </a:r>
        </a:p>
      </dgm:t>
    </dgm:pt>
    <dgm:pt modelId="{65BAC5F6-FCF3-2949-A783-305A6E4B5A1A}" type="parTrans" cxnId="{F693F6D9-0D30-D04A-8E62-CA58367341E9}">
      <dgm:prSet/>
      <dgm:spPr/>
      <dgm:t>
        <a:bodyPr/>
        <a:lstStyle/>
        <a:p>
          <a:endParaRPr lang="en-US"/>
        </a:p>
      </dgm:t>
    </dgm:pt>
    <dgm:pt modelId="{62EBCEF0-95CE-EC4C-85B1-BDE594B48D6A}" type="sibTrans" cxnId="{F693F6D9-0D30-D04A-8E62-CA58367341E9}">
      <dgm:prSet/>
      <dgm:spPr/>
      <dgm:t>
        <a:bodyPr/>
        <a:lstStyle/>
        <a:p>
          <a:endParaRPr lang="en-US"/>
        </a:p>
      </dgm:t>
    </dgm:pt>
    <dgm:pt modelId="{2829B863-D5D7-FA48-B78F-EB5D5DA24C0A}" type="pres">
      <dgm:prSet presAssocID="{199DAFE0-E95C-0344-868D-8B2BABB9F0B8}" presName="linear" presStyleCnt="0">
        <dgm:presLayoutVars>
          <dgm:animLvl val="lvl"/>
          <dgm:resizeHandles val="exact"/>
        </dgm:presLayoutVars>
      </dgm:prSet>
      <dgm:spPr/>
    </dgm:pt>
    <dgm:pt modelId="{6EAA9F5F-0720-A944-AE7D-753A0778C869}" type="pres">
      <dgm:prSet presAssocID="{62BE29FC-1568-8941-9415-170512F7BE6C}" presName="parentText" presStyleLbl="node1" presStyleIdx="0" presStyleCnt="1">
        <dgm:presLayoutVars>
          <dgm:chMax val="0"/>
          <dgm:bulletEnabled val="1"/>
        </dgm:presLayoutVars>
      </dgm:prSet>
      <dgm:spPr/>
    </dgm:pt>
  </dgm:ptLst>
  <dgm:cxnLst>
    <dgm:cxn modelId="{6B88EFAE-3427-B145-9CB3-6D04BD408C24}" type="presOf" srcId="{62BE29FC-1568-8941-9415-170512F7BE6C}" destId="{6EAA9F5F-0720-A944-AE7D-753A0778C869}" srcOrd="0" destOrd="0" presId="urn:microsoft.com/office/officeart/2005/8/layout/vList2"/>
    <dgm:cxn modelId="{F693F6D9-0D30-D04A-8E62-CA58367341E9}" srcId="{199DAFE0-E95C-0344-868D-8B2BABB9F0B8}" destId="{62BE29FC-1568-8941-9415-170512F7BE6C}" srcOrd="0" destOrd="0" parTransId="{65BAC5F6-FCF3-2949-A783-305A6E4B5A1A}" sibTransId="{62EBCEF0-95CE-EC4C-85B1-BDE594B48D6A}"/>
    <dgm:cxn modelId="{A9034AE1-5706-F44C-95B1-89E525BC61F6}" type="presOf" srcId="{199DAFE0-E95C-0344-868D-8B2BABB9F0B8}" destId="{2829B863-D5D7-FA48-B78F-EB5D5DA24C0A}" srcOrd="0" destOrd="0" presId="urn:microsoft.com/office/officeart/2005/8/layout/vList2"/>
    <dgm:cxn modelId="{B14710E2-E3CE-0D46-A678-3B7193AAAD19}" type="presParOf" srcId="{2829B863-D5D7-FA48-B78F-EB5D5DA24C0A}" destId="{6EAA9F5F-0720-A944-AE7D-753A0778C86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4051686-3DC5-1C44-BDCB-09E62F658966}" type="doc">
      <dgm:prSet loTypeId="urn:microsoft.com/office/officeart/2005/8/layout/vList2" loCatId="list" qsTypeId="urn:microsoft.com/office/officeart/2005/8/quickstyle/3d1" qsCatId="3D" csTypeId="urn:microsoft.com/office/officeart/2005/8/colors/accent2_5" csCatId="accent2" phldr="1"/>
      <dgm:spPr/>
      <dgm:t>
        <a:bodyPr/>
        <a:lstStyle/>
        <a:p>
          <a:endParaRPr lang="en-US"/>
        </a:p>
      </dgm:t>
    </dgm:pt>
    <dgm:pt modelId="{CFD6D53B-4216-8A48-ACCB-80A1F3246314}">
      <dgm:prSet phldr="0" custT="1"/>
      <dgm:spPr/>
      <dgm:t>
        <a:bodyPr/>
        <a:lstStyle/>
        <a:p>
          <a:pPr algn="ctr"/>
          <a:r>
            <a:rPr lang="en-US" sz="3200">
              <a:latin typeface="+mj-lt"/>
            </a:rPr>
            <a:t>ACKNOWLEDGMENTS</a:t>
          </a:r>
        </a:p>
      </dgm:t>
    </dgm:pt>
    <dgm:pt modelId="{6F243050-8230-5A4E-AF2E-37CCA2BE8620}" type="parTrans" cxnId="{2A39C28F-4383-7540-B177-DE93D96350F5}">
      <dgm:prSet/>
      <dgm:spPr/>
      <dgm:t>
        <a:bodyPr/>
        <a:lstStyle/>
        <a:p>
          <a:endParaRPr lang="en-US"/>
        </a:p>
      </dgm:t>
    </dgm:pt>
    <dgm:pt modelId="{7015542F-C6B2-A745-A218-B638A2AFA929}" type="sibTrans" cxnId="{2A39C28F-4383-7540-B177-DE93D96350F5}">
      <dgm:prSet/>
      <dgm:spPr/>
      <dgm:t>
        <a:bodyPr/>
        <a:lstStyle/>
        <a:p>
          <a:endParaRPr lang="en-US"/>
        </a:p>
      </dgm:t>
    </dgm:pt>
    <dgm:pt modelId="{DDFD01FB-F0F6-1C4E-AD13-79526465222C}" type="pres">
      <dgm:prSet presAssocID="{D4051686-3DC5-1C44-BDCB-09E62F658966}" presName="linear" presStyleCnt="0">
        <dgm:presLayoutVars>
          <dgm:animLvl val="lvl"/>
          <dgm:resizeHandles val="exact"/>
        </dgm:presLayoutVars>
      </dgm:prSet>
      <dgm:spPr/>
    </dgm:pt>
    <dgm:pt modelId="{C97DDCEB-C2DD-CF40-A5CA-DEB1DCA4FB9B}" type="pres">
      <dgm:prSet presAssocID="{CFD6D53B-4216-8A48-ACCB-80A1F3246314}" presName="parentText" presStyleLbl="node1" presStyleIdx="0" presStyleCnt="1" custScaleY="46596">
        <dgm:presLayoutVars>
          <dgm:chMax val="0"/>
          <dgm:bulletEnabled val="1"/>
        </dgm:presLayoutVars>
      </dgm:prSet>
      <dgm:spPr/>
    </dgm:pt>
  </dgm:ptLst>
  <dgm:cxnLst>
    <dgm:cxn modelId="{AC2E4222-E935-A848-B228-1EE552297708}" type="presOf" srcId="{D4051686-3DC5-1C44-BDCB-09E62F658966}" destId="{DDFD01FB-F0F6-1C4E-AD13-79526465222C}" srcOrd="0" destOrd="0" presId="urn:microsoft.com/office/officeart/2005/8/layout/vList2"/>
    <dgm:cxn modelId="{2A39C28F-4383-7540-B177-DE93D96350F5}" srcId="{D4051686-3DC5-1C44-BDCB-09E62F658966}" destId="{CFD6D53B-4216-8A48-ACCB-80A1F3246314}" srcOrd="0" destOrd="0" parTransId="{6F243050-8230-5A4E-AF2E-37CCA2BE8620}" sibTransId="{7015542F-C6B2-A745-A218-B638A2AFA929}"/>
    <dgm:cxn modelId="{C06E4CBD-ABFA-374C-8B02-845C829A2802}" type="presOf" srcId="{CFD6D53B-4216-8A48-ACCB-80A1F3246314}" destId="{C97DDCEB-C2DD-CF40-A5CA-DEB1DCA4FB9B}" srcOrd="0" destOrd="0" presId="urn:microsoft.com/office/officeart/2005/8/layout/vList2"/>
    <dgm:cxn modelId="{C16F1C17-0968-7446-85F6-3F86D091F241}" type="presParOf" srcId="{DDFD01FB-F0F6-1C4E-AD13-79526465222C}" destId="{C97DDCEB-C2DD-CF40-A5CA-DEB1DCA4FB9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2DF1C-0ADC-014F-AABE-46D88CD19130}">
      <dsp:nvSpPr>
        <dsp:cNvPr id="0" name=""/>
        <dsp:cNvSpPr/>
      </dsp:nvSpPr>
      <dsp:spPr>
        <a:xfrm>
          <a:off x="0" y="126"/>
          <a:ext cx="10625228" cy="630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Introduction</a:t>
          </a:r>
        </a:p>
      </dsp:txBody>
      <dsp:txXfrm>
        <a:off x="30775" y="30901"/>
        <a:ext cx="10563678" cy="5688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2DF1C-0ADC-014F-AABE-46D88CD19130}">
      <dsp:nvSpPr>
        <dsp:cNvPr id="0" name=""/>
        <dsp:cNvSpPr/>
      </dsp:nvSpPr>
      <dsp:spPr>
        <a:xfrm>
          <a:off x="0" y="63"/>
          <a:ext cx="10625228" cy="630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baseline="0">
              <a:latin typeface="+mj-lt"/>
            </a:rPr>
            <a:t>Significance</a:t>
          </a:r>
          <a:endParaRPr lang="en-US" sz="3200" kern="1200"/>
        </a:p>
      </dsp:txBody>
      <dsp:txXfrm>
        <a:off x="30775" y="30838"/>
        <a:ext cx="10563678" cy="5688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2DF1C-0ADC-014F-AABE-46D88CD19130}">
      <dsp:nvSpPr>
        <dsp:cNvPr id="0" name=""/>
        <dsp:cNvSpPr/>
      </dsp:nvSpPr>
      <dsp:spPr>
        <a:xfrm>
          <a:off x="0" y="63"/>
          <a:ext cx="10625228" cy="630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j-lt"/>
              <a:ea typeface="+mj-lt"/>
              <a:cs typeface="+mj-lt"/>
            </a:rPr>
            <a:t>Subtask 1</a:t>
          </a:r>
        </a:p>
      </dsp:txBody>
      <dsp:txXfrm>
        <a:off x="30775" y="30838"/>
        <a:ext cx="10563678" cy="5688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2DF1C-0ADC-014F-AABE-46D88CD19130}">
      <dsp:nvSpPr>
        <dsp:cNvPr id="0" name=""/>
        <dsp:cNvSpPr/>
      </dsp:nvSpPr>
      <dsp:spPr>
        <a:xfrm>
          <a:off x="0" y="63"/>
          <a:ext cx="10625228" cy="630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baseline="0">
              <a:latin typeface="+mj-lt"/>
            </a:rPr>
            <a:t>RELATED WORKS</a:t>
          </a:r>
          <a:endParaRPr lang="en-US" sz="3200" kern="1200">
            <a:latin typeface="+mj-lt"/>
          </a:endParaRPr>
        </a:p>
      </dsp:txBody>
      <dsp:txXfrm>
        <a:off x="30775" y="30838"/>
        <a:ext cx="10563678" cy="5688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A6410-AEBB-D542-8C34-7A1F9A68A1BA}">
      <dsp:nvSpPr>
        <dsp:cNvPr id="0" name=""/>
        <dsp:cNvSpPr/>
      </dsp:nvSpPr>
      <dsp:spPr>
        <a:xfrm>
          <a:off x="0" y="63"/>
          <a:ext cx="10625228" cy="630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baseline="0">
              <a:latin typeface="+mj-lt"/>
            </a:rPr>
            <a:t>INSIGHTS</a:t>
          </a:r>
          <a:endParaRPr lang="en-US" sz="3200" kern="1200">
            <a:latin typeface="+mj-lt"/>
          </a:endParaRPr>
        </a:p>
      </dsp:txBody>
      <dsp:txXfrm>
        <a:off x="30775" y="30838"/>
        <a:ext cx="10563678" cy="5688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D1B37-FF14-7A49-A0F4-A8C74BF58AFC}">
      <dsp:nvSpPr>
        <dsp:cNvPr id="0" name=""/>
        <dsp:cNvSpPr/>
      </dsp:nvSpPr>
      <dsp:spPr>
        <a:xfrm>
          <a:off x="0" y="231778"/>
          <a:ext cx="10625228" cy="749700"/>
        </a:xfrm>
        <a:prstGeom prst="rect">
          <a:avLst/>
        </a:prstGeom>
        <a:solidFill>
          <a:schemeClr val="lt1">
            <a:alpha val="90000"/>
            <a:hueOff val="0"/>
            <a:satOff val="0"/>
            <a:lumOff val="0"/>
            <a:alphaOff val="0"/>
          </a:schemeClr>
        </a:solidFill>
        <a:ln w="6350" cap="flat" cmpd="sng" algn="ctr">
          <a:solidFill>
            <a:schemeClr val="accent2">
              <a:shade val="5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4636" tIns="291592" rIns="824636" bIns="85344" numCol="1" spcCol="1270" anchor="t" anchorCtr="0">
          <a:noAutofit/>
        </a:bodyPr>
        <a:lstStyle/>
        <a:p>
          <a:pPr marL="114300" lvl="1" indent="-114300" algn="just" defTabSz="533400">
            <a:lnSpc>
              <a:spcPct val="90000"/>
            </a:lnSpc>
            <a:spcBef>
              <a:spcPct val="0"/>
            </a:spcBef>
            <a:spcAft>
              <a:spcPct val="15000"/>
            </a:spcAft>
            <a:buChar char="•"/>
          </a:pPr>
          <a:r>
            <a:rPr lang="en-US" sz="1200" i="0" kern="1200">
              <a:latin typeface="+mj-lt"/>
              <a:cs typeface="Times New Roman" panose="02020603050405020304" pitchFamily="18" charset="0"/>
            </a:rPr>
            <a:t>Introduction of </a:t>
          </a:r>
          <a:r>
            <a:rPr lang="en-US" sz="1200" i="0" kern="1200" err="1">
              <a:latin typeface="+mj-lt"/>
              <a:cs typeface="Times New Roman" panose="02020603050405020304" pitchFamily="18" charset="0"/>
            </a:rPr>
            <a:t>Humicroedit</a:t>
          </a:r>
          <a:r>
            <a:rPr lang="en-US" sz="1200" i="0" kern="1200">
              <a:latin typeface="+mj-lt"/>
              <a:cs typeface="Times New Roman" panose="02020603050405020304" pitchFamily="18" charset="0"/>
            </a:rPr>
            <a:t> dataset by Nabil Hossain, John Krumm, and Michael </a:t>
          </a:r>
          <a:r>
            <a:rPr lang="en-US" sz="1200" i="0" kern="1200" err="1">
              <a:latin typeface="+mj-lt"/>
              <a:cs typeface="Times New Roman" panose="02020603050405020304" pitchFamily="18" charset="0"/>
            </a:rPr>
            <a:t>Gamon</a:t>
          </a:r>
          <a:endParaRPr lang="en-US" sz="1200" kern="1200">
            <a:latin typeface="+mj-lt"/>
            <a:cs typeface="Times New Roman" panose="02020603050405020304" pitchFamily="18" charset="0"/>
          </a:endParaRPr>
        </a:p>
        <a:p>
          <a:pPr marL="114300" lvl="1" indent="-114300" algn="just" defTabSz="533400">
            <a:lnSpc>
              <a:spcPct val="90000"/>
            </a:lnSpc>
            <a:spcBef>
              <a:spcPct val="0"/>
            </a:spcBef>
            <a:spcAft>
              <a:spcPct val="15000"/>
            </a:spcAft>
            <a:buChar char="•"/>
          </a:pPr>
          <a:r>
            <a:rPr lang="en-US" sz="1200" i="0" kern="1200">
              <a:latin typeface="+mj-lt"/>
              <a:cs typeface="Times New Roman" panose="02020603050405020304" pitchFamily="18" charset="0"/>
            </a:rPr>
            <a:t>Aim: Computational humor research, particularly in humor detection and generation</a:t>
          </a:r>
          <a:endParaRPr lang="en-US" sz="1200" kern="1200">
            <a:latin typeface="+mj-lt"/>
            <a:cs typeface="Times New Roman" panose="02020603050405020304" pitchFamily="18" charset="0"/>
          </a:endParaRPr>
        </a:p>
      </dsp:txBody>
      <dsp:txXfrm>
        <a:off x="0" y="231778"/>
        <a:ext cx="10625228" cy="749700"/>
      </dsp:txXfrm>
    </dsp:sp>
    <dsp:sp modelId="{E8B241A8-F18B-B44F-8B88-B156851002D7}">
      <dsp:nvSpPr>
        <dsp:cNvPr id="0" name=""/>
        <dsp:cNvSpPr/>
      </dsp:nvSpPr>
      <dsp:spPr>
        <a:xfrm>
          <a:off x="531261" y="25138"/>
          <a:ext cx="7437660" cy="413280"/>
        </a:xfrm>
        <a:prstGeom prst="roundRect">
          <a:avLst/>
        </a:prstGeom>
        <a:gradFill rotWithShape="0">
          <a:gsLst>
            <a:gs pos="0">
              <a:schemeClr val="accent2">
                <a:shade val="50000"/>
                <a:hueOff val="0"/>
                <a:satOff val="0"/>
                <a:lumOff val="0"/>
                <a:alphaOff val="0"/>
                <a:satMod val="103000"/>
                <a:lumMod val="102000"/>
                <a:tint val="94000"/>
              </a:schemeClr>
            </a:gs>
            <a:gs pos="50000">
              <a:schemeClr val="accent2">
                <a:shade val="50000"/>
                <a:hueOff val="0"/>
                <a:satOff val="0"/>
                <a:lumOff val="0"/>
                <a:alphaOff val="0"/>
                <a:satMod val="110000"/>
                <a:lumMod val="100000"/>
                <a:shade val="100000"/>
              </a:schemeClr>
            </a:gs>
            <a:gs pos="100000">
              <a:schemeClr val="accent2">
                <a:shade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1126" tIns="0" rIns="281126" bIns="0" numCol="1" spcCol="1270" anchor="ctr" anchorCtr="0">
          <a:noAutofit/>
        </a:bodyPr>
        <a:lstStyle/>
        <a:p>
          <a:pPr marL="0" lvl="0" indent="0" algn="l" defTabSz="889000">
            <a:lnSpc>
              <a:spcPct val="90000"/>
            </a:lnSpc>
            <a:spcBef>
              <a:spcPct val="0"/>
            </a:spcBef>
            <a:spcAft>
              <a:spcPct val="35000"/>
            </a:spcAft>
            <a:buNone/>
          </a:pPr>
          <a:r>
            <a:rPr lang="en-US" sz="2000" b="1" i="0" kern="1200">
              <a:latin typeface="+mj-lt"/>
            </a:rPr>
            <a:t>Overview:</a:t>
          </a:r>
        </a:p>
      </dsp:txBody>
      <dsp:txXfrm>
        <a:off x="551436" y="45313"/>
        <a:ext cx="7397310" cy="372930"/>
      </dsp:txXfrm>
    </dsp:sp>
    <dsp:sp modelId="{C4E004E9-B3D9-A944-858F-A29782236FDA}">
      <dsp:nvSpPr>
        <dsp:cNvPr id="0" name=""/>
        <dsp:cNvSpPr/>
      </dsp:nvSpPr>
      <dsp:spPr>
        <a:xfrm>
          <a:off x="0" y="1263718"/>
          <a:ext cx="10625228" cy="1124550"/>
        </a:xfrm>
        <a:prstGeom prst="rect">
          <a:avLst/>
        </a:prstGeom>
        <a:solidFill>
          <a:schemeClr val="lt1">
            <a:alpha val="90000"/>
            <a:hueOff val="0"/>
            <a:satOff val="0"/>
            <a:lumOff val="0"/>
            <a:alphaOff val="0"/>
          </a:schemeClr>
        </a:solidFill>
        <a:ln w="6350" cap="flat" cmpd="sng" algn="ctr">
          <a:solidFill>
            <a:schemeClr val="accent2">
              <a:shade val="50000"/>
              <a:hueOff val="534931"/>
              <a:satOff val="-43157"/>
              <a:lumOff val="3468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4636" tIns="291592" rIns="824636" bIns="85344" numCol="1" spcCol="1270" anchor="t" anchorCtr="0">
          <a:noAutofit/>
        </a:bodyPr>
        <a:lstStyle/>
        <a:p>
          <a:pPr marL="114300" lvl="1" indent="-114300" algn="l" defTabSz="533400">
            <a:lnSpc>
              <a:spcPct val="90000"/>
            </a:lnSpc>
            <a:spcBef>
              <a:spcPct val="0"/>
            </a:spcBef>
            <a:spcAft>
              <a:spcPct val="15000"/>
            </a:spcAft>
            <a:buChar char="•"/>
          </a:pPr>
          <a:r>
            <a:rPr lang="en-US" sz="1200" b="0" i="0" kern="1200">
              <a:latin typeface="+mj-lt"/>
            </a:rPr>
            <a:t>Original news headlines collected from Reddit (r/</a:t>
          </a:r>
          <a:r>
            <a:rPr lang="en-US" sz="1200" b="0" i="0" kern="1200" err="1">
              <a:latin typeface="+mj-lt"/>
            </a:rPr>
            <a:t>worldnews</a:t>
          </a:r>
          <a:r>
            <a:rPr lang="en-US" sz="1200" b="0" i="0" kern="1200">
              <a:latin typeface="+mj-lt"/>
            </a:rPr>
            <a:t> and r/politics)</a:t>
          </a:r>
          <a:endParaRPr lang="en-US" sz="1200" kern="1200">
            <a:latin typeface="+mj-lt"/>
          </a:endParaRPr>
        </a:p>
        <a:p>
          <a:pPr marL="114300" lvl="1" indent="-114300" algn="l" defTabSz="533400">
            <a:lnSpc>
              <a:spcPct val="90000"/>
            </a:lnSpc>
            <a:spcBef>
              <a:spcPct val="0"/>
            </a:spcBef>
            <a:spcAft>
              <a:spcPct val="15000"/>
            </a:spcAft>
            <a:buChar char="•"/>
          </a:pPr>
          <a:r>
            <a:rPr lang="en-US" sz="1200" b="0" i="0" kern="1200">
              <a:latin typeface="+mj-lt"/>
            </a:rPr>
            <a:t>Timeframe: January 2017 to May 2018</a:t>
          </a:r>
          <a:endParaRPr lang="en-US" sz="1200" kern="1200">
            <a:latin typeface="+mj-lt"/>
          </a:endParaRPr>
        </a:p>
        <a:p>
          <a:pPr marL="114300" lvl="1" indent="-114300" algn="l" defTabSz="533400">
            <a:lnSpc>
              <a:spcPct val="90000"/>
            </a:lnSpc>
            <a:spcBef>
              <a:spcPct val="0"/>
            </a:spcBef>
            <a:spcAft>
              <a:spcPct val="15000"/>
            </a:spcAft>
            <a:buChar char="•"/>
          </a:pPr>
          <a:r>
            <a:rPr lang="en-US" sz="1200" b="0" i="0" kern="1200">
              <a:latin typeface="+mj-lt"/>
            </a:rPr>
            <a:t>287,076 news headlines initially collected</a:t>
          </a:r>
          <a:endParaRPr lang="en-US" sz="1200" kern="1200">
            <a:latin typeface="+mj-lt"/>
          </a:endParaRPr>
        </a:p>
        <a:p>
          <a:pPr marL="114300" lvl="1" indent="-114300" algn="l" defTabSz="533400">
            <a:lnSpc>
              <a:spcPct val="90000"/>
            </a:lnSpc>
            <a:spcBef>
              <a:spcPct val="0"/>
            </a:spcBef>
            <a:spcAft>
              <a:spcPct val="15000"/>
            </a:spcAft>
            <a:buChar char="•"/>
          </a:pPr>
          <a:r>
            <a:rPr lang="en-US" sz="1200" b="0" i="0" kern="1200">
              <a:latin typeface="+mj-lt"/>
            </a:rPr>
            <a:t>15,095 unique edited headlines</a:t>
          </a:r>
          <a:endParaRPr lang="en-US" sz="1200" kern="1200">
            <a:latin typeface="+mj-lt"/>
          </a:endParaRPr>
        </a:p>
      </dsp:txBody>
      <dsp:txXfrm>
        <a:off x="0" y="1263718"/>
        <a:ext cx="10625228" cy="1124550"/>
      </dsp:txXfrm>
    </dsp:sp>
    <dsp:sp modelId="{DDCBEA84-7B82-BF41-8EF5-7075603C7650}">
      <dsp:nvSpPr>
        <dsp:cNvPr id="0" name=""/>
        <dsp:cNvSpPr/>
      </dsp:nvSpPr>
      <dsp:spPr>
        <a:xfrm>
          <a:off x="531261" y="1057078"/>
          <a:ext cx="7437660" cy="413280"/>
        </a:xfrm>
        <a:prstGeom prst="roundRect">
          <a:avLst/>
        </a:prstGeom>
        <a:gradFill rotWithShape="0">
          <a:gsLst>
            <a:gs pos="0">
              <a:schemeClr val="accent2">
                <a:shade val="50000"/>
                <a:hueOff val="554045"/>
                <a:satOff val="-43962"/>
                <a:lumOff val="37931"/>
                <a:alphaOff val="0"/>
                <a:satMod val="103000"/>
                <a:lumMod val="102000"/>
                <a:tint val="94000"/>
              </a:schemeClr>
            </a:gs>
            <a:gs pos="50000">
              <a:schemeClr val="accent2">
                <a:shade val="50000"/>
                <a:hueOff val="554045"/>
                <a:satOff val="-43962"/>
                <a:lumOff val="37931"/>
                <a:alphaOff val="0"/>
                <a:satMod val="110000"/>
                <a:lumMod val="100000"/>
                <a:shade val="100000"/>
              </a:schemeClr>
            </a:gs>
            <a:gs pos="100000">
              <a:schemeClr val="accent2">
                <a:shade val="50000"/>
                <a:hueOff val="554045"/>
                <a:satOff val="-43962"/>
                <a:lumOff val="3793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1126" tIns="0" rIns="281126" bIns="0" numCol="1" spcCol="1270" anchor="ctr" anchorCtr="0">
          <a:noAutofit/>
        </a:bodyPr>
        <a:lstStyle/>
        <a:p>
          <a:pPr marL="0" lvl="0" indent="0" algn="l" defTabSz="889000">
            <a:lnSpc>
              <a:spcPct val="90000"/>
            </a:lnSpc>
            <a:spcBef>
              <a:spcPct val="0"/>
            </a:spcBef>
            <a:spcAft>
              <a:spcPct val="35000"/>
            </a:spcAft>
            <a:buNone/>
          </a:pPr>
          <a:r>
            <a:rPr lang="en-US" sz="2000" b="1" i="0" kern="1200">
              <a:latin typeface="+mj-lt"/>
            </a:rPr>
            <a:t>Data Source:</a:t>
          </a:r>
          <a:endParaRPr lang="en-US" sz="2000" kern="1200">
            <a:latin typeface="+mj-lt"/>
          </a:endParaRPr>
        </a:p>
      </dsp:txBody>
      <dsp:txXfrm>
        <a:off x="551436" y="1077253"/>
        <a:ext cx="7397310" cy="372930"/>
      </dsp:txXfrm>
    </dsp:sp>
    <dsp:sp modelId="{9E6B7DE8-4015-874F-98F6-FC53273A5123}">
      <dsp:nvSpPr>
        <dsp:cNvPr id="0" name=""/>
        <dsp:cNvSpPr/>
      </dsp:nvSpPr>
      <dsp:spPr>
        <a:xfrm>
          <a:off x="0" y="2670508"/>
          <a:ext cx="10625228" cy="1719900"/>
        </a:xfrm>
        <a:prstGeom prst="rect">
          <a:avLst/>
        </a:prstGeom>
        <a:solidFill>
          <a:schemeClr val="lt1">
            <a:alpha val="90000"/>
            <a:hueOff val="0"/>
            <a:satOff val="0"/>
            <a:lumOff val="0"/>
            <a:alphaOff val="0"/>
          </a:schemeClr>
        </a:solidFill>
        <a:ln w="6350" cap="flat" cmpd="sng" algn="ctr">
          <a:solidFill>
            <a:schemeClr val="accent2">
              <a:shade val="50000"/>
              <a:hueOff val="534931"/>
              <a:satOff val="-43157"/>
              <a:lumOff val="3468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4636" tIns="291592" rIns="824636"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None/>
          </a:pPr>
          <a:r>
            <a:rPr lang="en-US" sz="1200" b="0" i="0" u="none" kern="1200">
              <a:latin typeface="+mj-lt"/>
            </a:rPr>
            <a:t>Editors:</a:t>
          </a:r>
          <a:endParaRPr lang="en-US" sz="1200" kern="1200">
            <a:latin typeface="+mj-lt"/>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u="none" kern="1200">
              <a:latin typeface="+mj-lt"/>
            </a:rPr>
            <a:t>Qualified on Mechanical Turk for humor generation</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u="none" kern="1200">
              <a:latin typeface="+mj-lt"/>
            </a:rPr>
            <a:t>Task: Make headlines funny through micro-edits (single-word replacements)</a:t>
          </a:r>
        </a:p>
        <a:p>
          <a:pPr marL="114300" lvl="1" indent="-114300" algn="l" defTabSz="533400">
            <a:lnSpc>
              <a:spcPct val="90000"/>
            </a:lnSpc>
            <a:spcBef>
              <a:spcPct val="0"/>
            </a:spcBef>
            <a:spcAft>
              <a:spcPct val="15000"/>
            </a:spcAft>
            <a:buFont typeface="Arial" panose="020B0604020202020204" pitchFamily="34" charset="0"/>
            <a:buNone/>
          </a:pPr>
          <a:r>
            <a:rPr lang="en-US" sz="1200" b="0" i="0" u="none" kern="1200">
              <a:latin typeface="+mj-lt"/>
            </a:rPr>
            <a:t>Judges:</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u="none" kern="1200">
              <a:latin typeface="+mj-lt"/>
            </a:rPr>
            <a:t>Qualified for recognizing humor in edited headlines</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u="none" kern="1200">
              <a:latin typeface="+mj-lt"/>
            </a:rPr>
            <a:t>Grading scale: 0 (Not funny) to 3 (Funny)</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u="none" kern="1200">
              <a:latin typeface="+mj-lt"/>
            </a:rPr>
            <a:t>Qualification based on internal judge assessment and agreement threshold</a:t>
          </a:r>
        </a:p>
      </dsp:txBody>
      <dsp:txXfrm>
        <a:off x="0" y="2670508"/>
        <a:ext cx="10625228" cy="1719900"/>
      </dsp:txXfrm>
    </dsp:sp>
    <dsp:sp modelId="{224D47F4-CEE3-B341-8C34-069B82484A0C}">
      <dsp:nvSpPr>
        <dsp:cNvPr id="0" name=""/>
        <dsp:cNvSpPr/>
      </dsp:nvSpPr>
      <dsp:spPr>
        <a:xfrm>
          <a:off x="531261" y="2463868"/>
          <a:ext cx="7437660" cy="413280"/>
        </a:xfrm>
        <a:prstGeom prst="roundRect">
          <a:avLst/>
        </a:prstGeom>
        <a:gradFill rotWithShape="0">
          <a:gsLst>
            <a:gs pos="0">
              <a:schemeClr val="accent2">
                <a:shade val="50000"/>
                <a:hueOff val="554045"/>
                <a:satOff val="-43962"/>
                <a:lumOff val="37931"/>
                <a:alphaOff val="0"/>
                <a:satMod val="103000"/>
                <a:lumMod val="102000"/>
                <a:tint val="94000"/>
              </a:schemeClr>
            </a:gs>
            <a:gs pos="50000">
              <a:schemeClr val="accent2">
                <a:shade val="50000"/>
                <a:hueOff val="554045"/>
                <a:satOff val="-43962"/>
                <a:lumOff val="37931"/>
                <a:alphaOff val="0"/>
                <a:satMod val="110000"/>
                <a:lumMod val="100000"/>
                <a:shade val="100000"/>
              </a:schemeClr>
            </a:gs>
            <a:gs pos="100000">
              <a:schemeClr val="accent2">
                <a:shade val="50000"/>
                <a:hueOff val="554045"/>
                <a:satOff val="-43962"/>
                <a:lumOff val="3793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1126" tIns="0" rIns="281126" bIns="0" numCol="1" spcCol="1270" anchor="ctr" anchorCtr="0">
          <a:noAutofit/>
        </a:bodyPr>
        <a:lstStyle/>
        <a:p>
          <a:pPr marL="0" lvl="0" indent="0" algn="l" defTabSz="889000">
            <a:lnSpc>
              <a:spcPct val="90000"/>
            </a:lnSpc>
            <a:spcBef>
              <a:spcPct val="0"/>
            </a:spcBef>
            <a:spcAft>
              <a:spcPct val="35000"/>
            </a:spcAft>
            <a:buNone/>
          </a:pPr>
          <a:r>
            <a:rPr lang="en-US" sz="2000" b="1" i="0" u="none" kern="1200">
              <a:latin typeface="+mj-lt"/>
            </a:rPr>
            <a:t>Annotation Process:</a:t>
          </a:r>
          <a:endParaRPr lang="en-US" sz="2000" kern="1200">
            <a:latin typeface="+mj-lt"/>
          </a:endParaRPr>
        </a:p>
      </dsp:txBody>
      <dsp:txXfrm>
        <a:off x="551436" y="2484043"/>
        <a:ext cx="7397310" cy="3729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CE0904-26DB-524F-9BD2-B0B5834C399E}">
      <dsp:nvSpPr>
        <dsp:cNvPr id="0" name=""/>
        <dsp:cNvSpPr/>
      </dsp:nvSpPr>
      <dsp:spPr>
        <a:xfrm>
          <a:off x="0" y="217896"/>
          <a:ext cx="10625228" cy="711260"/>
        </a:xfrm>
        <a:prstGeom prst="roundRect">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baseline="0">
              <a:effectLst/>
            </a:rPr>
            <a:t>DATA INTRODUCTION</a:t>
          </a:r>
          <a:endParaRPr lang="en-US" sz="3000" b="1" kern="1200">
            <a:effectLst/>
          </a:endParaRPr>
        </a:p>
      </dsp:txBody>
      <dsp:txXfrm>
        <a:off x="34721" y="252617"/>
        <a:ext cx="10555786" cy="6418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E5C94-25E1-AD44-9511-8181447A813A}">
      <dsp:nvSpPr>
        <dsp:cNvPr id="0" name=""/>
        <dsp:cNvSpPr/>
      </dsp:nvSpPr>
      <dsp:spPr>
        <a:xfrm>
          <a:off x="0" y="130045"/>
          <a:ext cx="10625228" cy="886962"/>
        </a:xfrm>
        <a:prstGeom prst="roundRect">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baseline="0">
              <a:latin typeface="+mj-lt"/>
            </a:rPr>
            <a:t>TASK DESCRIPTION &amp; DATASET</a:t>
          </a:r>
          <a:endParaRPr lang="en-US" sz="3200" kern="1200">
            <a:latin typeface="+mj-lt"/>
          </a:endParaRPr>
        </a:p>
      </dsp:txBody>
      <dsp:txXfrm>
        <a:off x="43298" y="173343"/>
        <a:ext cx="10538632" cy="80036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E90FF-7895-BE43-87EC-BFAB0E4760FA}">
      <dsp:nvSpPr>
        <dsp:cNvPr id="0" name=""/>
        <dsp:cNvSpPr/>
      </dsp:nvSpPr>
      <dsp:spPr>
        <a:xfrm>
          <a:off x="0" y="287789"/>
          <a:ext cx="10620855" cy="864675"/>
        </a:xfrm>
        <a:prstGeom prst="rect">
          <a:avLst/>
        </a:prstGeom>
        <a:solidFill>
          <a:schemeClr val="lt1">
            <a:alpha val="90000"/>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4296" tIns="374904" rIns="824296" bIns="99568" numCol="1" spcCol="1270" anchor="t" anchorCtr="0">
          <a:noAutofit/>
        </a:bodyPr>
        <a:lstStyle/>
        <a:p>
          <a:pPr marL="114300" lvl="1" indent="-114300" algn="l" defTabSz="622300">
            <a:lnSpc>
              <a:spcPct val="90000"/>
            </a:lnSpc>
            <a:spcBef>
              <a:spcPct val="0"/>
            </a:spcBef>
            <a:spcAft>
              <a:spcPct val="15000"/>
            </a:spcAft>
            <a:buChar char="•"/>
          </a:pPr>
          <a:r>
            <a:rPr lang="en-US" sz="1400" b="0" i="0" kern="1200">
              <a:latin typeface="+mj-lt"/>
            </a:rPr>
            <a:t>Regression</a:t>
          </a:r>
          <a:r>
            <a:rPr lang="en-US" sz="1400" b="1" i="0" kern="1200">
              <a:latin typeface="+mj-lt"/>
            </a:rPr>
            <a:t>:</a:t>
          </a:r>
          <a:r>
            <a:rPr lang="en-US" sz="1400" b="0" i="0" kern="1200">
              <a:latin typeface="+mj-lt"/>
            </a:rPr>
            <a:t> Given the original and the edited headline, the participant is required to predict the mean funniness of the edited headline.</a:t>
          </a:r>
          <a:endParaRPr lang="en-US" sz="1400" kern="1200">
            <a:latin typeface="+mj-lt"/>
          </a:endParaRPr>
        </a:p>
      </dsp:txBody>
      <dsp:txXfrm>
        <a:off x="0" y="287789"/>
        <a:ext cx="10620855" cy="864675"/>
      </dsp:txXfrm>
    </dsp:sp>
    <dsp:sp modelId="{539993AC-43E9-884F-B600-4A74A0FA1B54}">
      <dsp:nvSpPr>
        <dsp:cNvPr id="0" name=""/>
        <dsp:cNvSpPr/>
      </dsp:nvSpPr>
      <dsp:spPr>
        <a:xfrm>
          <a:off x="531042" y="22109"/>
          <a:ext cx="7434598" cy="531360"/>
        </a:xfrm>
        <a:prstGeom prst="roundRect">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1010" tIns="0" rIns="281010" bIns="0" numCol="1" spcCol="1270" anchor="ctr" anchorCtr="0">
          <a:noAutofit/>
        </a:bodyPr>
        <a:lstStyle/>
        <a:p>
          <a:pPr marL="0" lvl="0" indent="0" algn="l" defTabSz="889000">
            <a:lnSpc>
              <a:spcPct val="90000"/>
            </a:lnSpc>
            <a:spcBef>
              <a:spcPct val="0"/>
            </a:spcBef>
            <a:spcAft>
              <a:spcPct val="35000"/>
            </a:spcAft>
            <a:buNone/>
          </a:pPr>
          <a:r>
            <a:rPr lang="en-US" sz="2000" b="1" i="0" kern="1200">
              <a:latin typeface="+mj-lt"/>
            </a:rPr>
            <a:t>Task Description</a:t>
          </a:r>
          <a:r>
            <a:rPr lang="en-US" sz="2000" b="1" i="0" kern="1200">
              <a:latin typeface="+mn-lt"/>
            </a:rPr>
            <a:t>:</a:t>
          </a:r>
          <a:endParaRPr lang="en-US" sz="2000" b="1" kern="1200">
            <a:latin typeface="+mn-lt"/>
          </a:endParaRPr>
        </a:p>
      </dsp:txBody>
      <dsp:txXfrm>
        <a:off x="556981" y="48048"/>
        <a:ext cx="7382720" cy="479482"/>
      </dsp:txXfrm>
    </dsp:sp>
    <dsp:sp modelId="{4F9F3AB0-575C-594E-9650-16D8D9D51341}">
      <dsp:nvSpPr>
        <dsp:cNvPr id="0" name=""/>
        <dsp:cNvSpPr/>
      </dsp:nvSpPr>
      <dsp:spPr>
        <a:xfrm>
          <a:off x="0" y="1515345"/>
          <a:ext cx="10620855" cy="1332450"/>
        </a:xfrm>
        <a:prstGeom prst="rect">
          <a:avLst/>
        </a:prstGeom>
        <a:solidFill>
          <a:schemeClr val="lt1">
            <a:alpha val="90000"/>
            <a:hueOff val="0"/>
            <a:satOff val="0"/>
            <a:lumOff val="0"/>
            <a:alphaOff val="0"/>
          </a:schemeClr>
        </a:solidFill>
        <a:ln w="6350" cap="flat" cmpd="sng" algn="ctr">
          <a:solidFill>
            <a:schemeClr val="accent2">
              <a:shade val="80000"/>
              <a:hueOff val="754646"/>
              <a:satOff val="-60968"/>
              <a:lumOff val="3737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4296" tIns="374904" rIns="824296" bIns="99568" numCol="1" spcCol="1270" anchor="t" anchorCtr="0">
          <a:noAutofit/>
        </a:bodyPr>
        <a:lstStyle/>
        <a:p>
          <a:pPr marL="114300" lvl="1" indent="-114300" algn="l" defTabSz="622300">
            <a:lnSpc>
              <a:spcPct val="90000"/>
            </a:lnSpc>
            <a:spcBef>
              <a:spcPct val="0"/>
            </a:spcBef>
            <a:spcAft>
              <a:spcPct val="15000"/>
            </a:spcAft>
            <a:buChar char="•"/>
          </a:pPr>
          <a:r>
            <a:rPr lang="en-US" sz="1400" b="0" i="0" kern="1200">
              <a:latin typeface="+mj-lt"/>
            </a:rPr>
            <a:t>Dataset provided in three files: "</a:t>
          </a:r>
          <a:r>
            <a:rPr lang="en-US" sz="1400" b="0" i="0" kern="1200" err="1">
              <a:latin typeface="+mj-lt"/>
            </a:rPr>
            <a:t>train.csv</a:t>
          </a:r>
          <a:r>
            <a:rPr lang="en-US" sz="1400" b="0" i="0" kern="1200">
              <a:latin typeface="+mj-lt"/>
            </a:rPr>
            <a:t>," "</a:t>
          </a:r>
          <a:r>
            <a:rPr lang="en-US" sz="1400" b="0" i="0" kern="1200" err="1">
              <a:latin typeface="+mj-lt"/>
            </a:rPr>
            <a:t>dev.csv</a:t>
          </a:r>
          <a:r>
            <a:rPr lang="en-US" sz="1400" b="0" i="0" kern="1200">
              <a:latin typeface="+mj-lt"/>
            </a:rPr>
            <a:t>," and "</a:t>
          </a:r>
          <a:r>
            <a:rPr lang="en-US" sz="1400" b="0" i="0" kern="1200" err="1">
              <a:latin typeface="+mj-lt"/>
            </a:rPr>
            <a:t>test.csv</a:t>
          </a:r>
          <a:r>
            <a:rPr lang="en-US" sz="1400" b="0" i="0" kern="1200">
              <a:latin typeface="+mj-lt"/>
            </a:rPr>
            <a:t>"</a:t>
          </a:r>
          <a:endParaRPr lang="en-US" sz="1400" kern="1200">
            <a:latin typeface="+mj-lt"/>
          </a:endParaRPr>
        </a:p>
        <a:p>
          <a:pPr marL="114300" lvl="1" indent="-114300" algn="l" defTabSz="622300">
            <a:lnSpc>
              <a:spcPct val="90000"/>
            </a:lnSpc>
            <a:spcBef>
              <a:spcPct val="0"/>
            </a:spcBef>
            <a:spcAft>
              <a:spcPct val="15000"/>
            </a:spcAft>
            <a:buChar char="•"/>
          </a:pPr>
          <a:r>
            <a:rPr lang="en-US" sz="1400" b="0" i="0" kern="1200">
              <a:latin typeface="+mj-lt"/>
            </a:rPr>
            <a:t>Random partitioning: Training (64%), Validation (16%), Test (20%)</a:t>
          </a:r>
          <a:endParaRPr lang="en-US" sz="1400" kern="1200">
            <a:latin typeface="+mj-lt"/>
          </a:endParaRPr>
        </a:p>
        <a:p>
          <a:pPr marL="114300" lvl="1" indent="-114300" algn="l" defTabSz="622300">
            <a:lnSpc>
              <a:spcPct val="90000"/>
            </a:lnSpc>
            <a:spcBef>
              <a:spcPct val="0"/>
            </a:spcBef>
            <a:spcAft>
              <a:spcPct val="15000"/>
            </a:spcAft>
            <a:buChar char="•"/>
          </a:pPr>
          <a:r>
            <a:rPr lang="en-US" sz="1400" b="0" i="0" kern="1200">
              <a:latin typeface="+mj-lt"/>
            </a:rPr>
            <a:t>Total instances: 9652, 2419, and 3024 in the training, validation, and test sets, respectively (Hossain et al., 2020)</a:t>
          </a:r>
          <a:endParaRPr lang="en-US" sz="1400" kern="1200">
            <a:latin typeface="+mj-lt"/>
          </a:endParaRPr>
        </a:p>
      </dsp:txBody>
      <dsp:txXfrm>
        <a:off x="0" y="1515345"/>
        <a:ext cx="10620855" cy="1332450"/>
      </dsp:txXfrm>
    </dsp:sp>
    <dsp:sp modelId="{C73D36F3-5D62-BA4A-AA86-A056617CA0E1}">
      <dsp:nvSpPr>
        <dsp:cNvPr id="0" name=""/>
        <dsp:cNvSpPr/>
      </dsp:nvSpPr>
      <dsp:spPr>
        <a:xfrm>
          <a:off x="531042" y="1249665"/>
          <a:ext cx="7434598" cy="531360"/>
        </a:xfrm>
        <a:prstGeom prst="roundRect">
          <a:avLst/>
        </a:prstGeom>
        <a:gradFill rotWithShape="0">
          <a:gsLst>
            <a:gs pos="0">
              <a:schemeClr val="accent2">
                <a:shade val="80000"/>
                <a:hueOff val="754646"/>
                <a:satOff val="-60968"/>
                <a:lumOff val="37371"/>
                <a:alphaOff val="0"/>
                <a:satMod val="103000"/>
                <a:lumMod val="102000"/>
                <a:tint val="94000"/>
              </a:schemeClr>
            </a:gs>
            <a:gs pos="50000">
              <a:schemeClr val="accent2">
                <a:shade val="80000"/>
                <a:hueOff val="754646"/>
                <a:satOff val="-60968"/>
                <a:lumOff val="37371"/>
                <a:alphaOff val="0"/>
                <a:satMod val="110000"/>
                <a:lumMod val="100000"/>
                <a:shade val="100000"/>
              </a:schemeClr>
            </a:gs>
            <a:gs pos="100000">
              <a:schemeClr val="accent2">
                <a:shade val="80000"/>
                <a:hueOff val="754646"/>
                <a:satOff val="-60968"/>
                <a:lumOff val="373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1010" tIns="0" rIns="281010" bIns="0" numCol="1" spcCol="1270" anchor="ctr" anchorCtr="0">
          <a:noAutofit/>
        </a:bodyPr>
        <a:lstStyle/>
        <a:p>
          <a:pPr marL="0" lvl="0" indent="0" algn="l" defTabSz="889000">
            <a:lnSpc>
              <a:spcPct val="90000"/>
            </a:lnSpc>
            <a:spcBef>
              <a:spcPct val="0"/>
            </a:spcBef>
            <a:spcAft>
              <a:spcPct val="35000"/>
            </a:spcAft>
            <a:buNone/>
          </a:pPr>
          <a:r>
            <a:rPr lang="en-US" sz="2000" b="1" i="0" kern="1200">
              <a:latin typeface="+mj-lt"/>
            </a:rPr>
            <a:t>Dataset</a:t>
          </a:r>
          <a:r>
            <a:rPr lang="en-US" sz="2100" b="0" i="0" kern="1200"/>
            <a:t> </a:t>
          </a:r>
          <a:endParaRPr lang="en-US" sz="2100" kern="1200"/>
        </a:p>
      </dsp:txBody>
      <dsp:txXfrm>
        <a:off x="556981" y="1275604"/>
        <a:ext cx="7382720" cy="4794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CCD09E-03AE-C344-95C1-3ECE8CEEE9E0}">
      <dsp:nvSpPr>
        <dsp:cNvPr id="0" name=""/>
        <dsp:cNvSpPr/>
      </dsp:nvSpPr>
      <dsp:spPr>
        <a:xfrm>
          <a:off x="0" y="173"/>
          <a:ext cx="9708521" cy="584428"/>
        </a:xfrm>
        <a:prstGeom prst="roundRect">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j-lt"/>
            </a:rPr>
            <a:t>METHODS PART 5: FINAL EVALUATION</a:t>
          </a:r>
        </a:p>
      </dsp:txBody>
      <dsp:txXfrm>
        <a:off x="28529" y="28702"/>
        <a:ext cx="9651463" cy="52737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2F6A9-4393-404F-A9C0-AA40B271F16E}">
      <dsp:nvSpPr>
        <dsp:cNvPr id="0" name=""/>
        <dsp:cNvSpPr/>
      </dsp:nvSpPr>
      <dsp:spPr>
        <a:xfrm>
          <a:off x="0" y="346"/>
          <a:ext cx="11389332" cy="584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j-lt"/>
            </a:rPr>
            <a:t> METHODS PART 6: CODE, SOFTWARE, AND PROCESSING</a:t>
          </a:r>
        </a:p>
      </dsp:txBody>
      <dsp:txXfrm>
        <a:off x="28529" y="28875"/>
        <a:ext cx="11332274" cy="5273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C8603-22B9-E84A-9026-C3AEE31A388E}">
      <dsp:nvSpPr>
        <dsp:cNvPr id="0" name=""/>
        <dsp:cNvSpPr/>
      </dsp:nvSpPr>
      <dsp:spPr>
        <a:xfrm>
          <a:off x="0" y="173"/>
          <a:ext cx="7394795" cy="584428"/>
        </a:xfrm>
        <a:prstGeom prst="roundRect">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RESULTS AND BEST MODEL PART 1</a:t>
          </a:r>
        </a:p>
      </dsp:txBody>
      <dsp:txXfrm>
        <a:off x="28529" y="28702"/>
        <a:ext cx="7337737" cy="52737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831D0-A8A0-3F4E-BEFC-B3941A811545}">
      <dsp:nvSpPr>
        <dsp:cNvPr id="0" name=""/>
        <dsp:cNvSpPr/>
      </dsp:nvSpPr>
      <dsp:spPr>
        <a:xfrm>
          <a:off x="0" y="173"/>
          <a:ext cx="7394795" cy="584428"/>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RESULTS AND BEST MODEL PART 2</a:t>
          </a:r>
        </a:p>
      </dsp:txBody>
      <dsp:txXfrm>
        <a:off x="28529" y="28702"/>
        <a:ext cx="7337737" cy="52737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E0ECB-D60B-294E-96CD-F1399E6DA090}">
      <dsp:nvSpPr>
        <dsp:cNvPr id="0" name=""/>
        <dsp:cNvSpPr/>
      </dsp:nvSpPr>
      <dsp:spPr>
        <a:xfrm>
          <a:off x="0" y="173"/>
          <a:ext cx="4484379" cy="584428"/>
        </a:xfrm>
        <a:prstGeom prst="roundRect">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STRANGE RESULTS</a:t>
          </a:r>
        </a:p>
      </dsp:txBody>
      <dsp:txXfrm>
        <a:off x="28529" y="28702"/>
        <a:ext cx="4427321" cy="52737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A9F5F-0720-A944-AE7D-753A0778C869}">
      <dsp:nvSpPr>
        <dsp:cNvPr id="0" name=""/>
        <dsp:cNvSpPr/>
      </dsp:nvSpPr>
      <dsp:spPr>
        <a:xfrm>
          <a:off x="0" y="173"/>
          <a:ext cx="4484379" cy="584428"/>
        </a:xfrm>
        <a:prstGeom prst="roundRect">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CONCLUSION</a:t>
          </a:r>
        </a:p>
      </dsp:txBody>
      <dsp:txXfrm>
        <a:off x="28529" y="28702"/>
        <a:ext cx="4427321" cy="52737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DDCEB-C2DD-CF40-A5CA-DEB1DCA4FB9B}">
      <dsp:nvSpPr>
        <dsp:cNvPr id="0" name=""/>
        <dsp:cNvSpPr/>
      </dsp:nvSpPr>
      <dsp:spPr>
        <a:xfrm>
          <a:off x="0" y="294397"/>
          <a:ext cx="10625228" cy="558257"/>
        </a:xfrm>
        <a:prstGeom prst="roundRect">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ACKNOWLEDGMENTS</a:t>
          </a:r>
        </a:p>
      </dsp:txBody>
      <dsp:txXfrm>
        <a:off x="27252" y="321649"/>
        <a:ext cx="10570724" cy="50375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654B21-947D-754E-8E93-21669D33D7DB}" type="datetimeFigureOut">
              <a:rPr lang="en-US" smtClean="0"/>
              <a:t>11/15/2023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F3E3BE-D576-EE43-811A-256A4B724EF4}" type="slidenum">
              <a:rPr lang="en-US" smtClean="0"/>
              <a:t>‹#›</a:t>
            </a:fld>
            <a:endParaRPr lang="en-US"/>
          </a:p>
        </p:txBody>
      </p:sp>
    </p:spTree>
    <p:extLst>
      <p:ext uri="{BB962C8B-B14F-4D97-AF65-F5344CB8AC3E}">
        <p14:creationId xmlns:p14="http://schemas.microsoft.com/office/powerpoint/2010/main" val="3850964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F3E3BE-D576-EE43-811A-256A4B724EF4}" type="slidenum">
              <a:rPr lang="en-US" smtClean="0"/>
              <a:t>1</a:t>
            </a:fld>
            <a:endParaRPr lang="en-US"/>
          </a:p>
        </p:txBody>
      </p:sp>
    </p:spTree>
    <p:extLst>
      <p:ext uri="{BB962C8B-B14F-4D97-AF65-F5344CB8AC3E}">
        <p14:creationId xmlns:p14="http://schemas.microsoft.com/office/powerpoint/2010/main" val="1798389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5" name="Footer Placeholder 4">
            <a:extLst>
              <a:ext uri="{FF2B5EF4-FFF2-40B4-BE49-F238E27FC236}">
                <a16:creationId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64373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375122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96BE-9AF9-4E97-9204-5B672D797384}"/>
              </a:ext>
            </a:extLst>
          </p:cNvPr>
          <p:cNvSpPr>
            <a:spLocks noGrp="1"/>
          </p:cNvSpPr>
          <p:nvPr>
            <p:ph type="title"/>
          </p:nvPr>
        </p:nvSpPr>
        <p:spPr>
          <a:xfrm>
            <a:off x="1981200" y="2362200"/>
            <a:ext cx="7696200" cy="2400300"/>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5EDF98A-E8AE-4443-9A8C-CB35DEB2CE60}"/>
              </a:ext>
            </a:extLst>
          </p:cNvPr>
          <p:cNvSpPr>
            <a:spLocks noGrp="1"/>
          </p:cNvSpPr>
          <p:nvPr>
            <p:ph type="body" idx="1"/>
          </p:nvPr>
        </p:nvSpPr>
        <p:spPr>
          <a:xfrm>
            <a:off x="1981200" y="506730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7114B-35CB-40C5-BCC8-C5039524FFC1}"/>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5" name="Footer Placeholder 4">
            <a:extLst>
              <a:ext uri="{FF2B5EF4-FFF2-40B4-BE49-F238E27FC236}">
                <a16:creationId xmlns:a16="http://schemas.microsoft.com/office/drawing/2014/main" id="{7A1AA324-982E-42C4-8002-5F236877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01596-9353-4C1A-972E-6522F2B4204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76206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0BC9-7469-437A-B92B-0A2627E4B9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B7D887-595C-4649-AF8E-E78307000D4A}"/>
              </a:ext>
            </a:extLst>
          </p:cNvPr>
          <p:cNvSpPr>
            <a:spLocks noGrp="1"/>
          </p:cNvSpPr>
          <p:nvPr>
            <p:ph sz="half" idx="1"/>
          </p:nvPr>
        </p:nvSpPr>
        <p:spPr>
          <a:xfrm>
            <a:off x="914400" y="1825625"/>
            <a:ext cx="4991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9FE29C-ED37-4DD9-949F-0024342619E1}"/>
              </a:ext>
            </a:extLst>
          </p:cNvPr>
          <p:cNvSpPr>
            <a:spLocks noGrp="1"/>
          </p:cNvSpPr>
          <p:nvPr>
            <p:ph sz="half" idx="2"/>
          </p:nvPr>
        </p:nvSpPr>
        <p:spPr>
          <a:xfrm>
            <a:off x="6248400" y="1825625"/>
            <a:ext cx="5029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F6AA34-8CC0-4E5B-8396-0AC75633142B}"/>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6" name="Footer Placeholder 5">
            <a:extLst>
              <a:ext uri="{FF2B5EF4-FFF2-40B4-BE49-F238E27FC236}">
                <a16:creationId xmlns:a16="http://schemas.microsoft.com/office/drawing/2014/main" id="{28DF7398-73FE-4D27-AFF9-91BEBFED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00880-10EE-4115-8BBB-13DDF270DBD1}"/>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97273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3C9B-D20D-43FA-BA18-D50F86A9127E}"/>
              </a:ext>
            </a:extLst>
          </p:cNvPr>
          <p:cNvSpPr>
            <a:spLocks noGrp="1"/>
          </p:cNvSpPr>
          <p:nvPr>
            <p:ph type="title"/>
          </p:nvPr>
        </p:nvSpPr>
        <p:spPr>
          <a:xfrm>
            <a:off x="652371" y="647699"/>
            <a:ext cx="10625229" cy="1150621"/>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52F00A-F4EE-40FC-9325-373840422D52}"/>
              </a:ext>
            </a:extLst>
          </p:cNvPr>
          <p:cNvSpPr>
            <a:spLocks noGrp="1"/>
          </p:cNvSpPr>
          <p:nvPr>
            <p:ph type="body" idx="1"/>
          </p:nvPr>
        </p:nvSpPr>
        <p:spPr>
          <a:xfrm>
            <a:off x="655863" y="1879599"/>
            <a:ext cx="5157787"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75DD90-A306-4A8B-A54C-8033B7F7F0E9}"/>
              </a:ext>
            </a:extLst>
          </p:cNvPr>
          <p:cNvSpPr>
            <a:spLocks noGrp="1"/>
          </p:cNvSpPr>
          <p:nvPr>
            <p:ph sz="half" idx="2"/>
          </p:nvPr>
        </p:nvSpPr>
        <p:spPr>
          <a:xfrm>
            <a:off x="655863" y="2560955"/>
            <a:ext cx="5157787"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40E0AA-F8F8-4862-B27B-50FAF2F34DE0}"/>
              </a:ext>
            </a:extLst>
          </p:cNvPr>
          <p:cNvSpPr>
            <a:spLocks noGrp="1"/>
          </p:cNvSpPr>
          <p:nvPr>
            <p:ph type="body" sz="quarter" idx="3"/>
          </p:nvPr>
        </p:nvSpPr>
        <p:spPr>
          <a:xfrm>
            <a:off x="6094412" y="1879599"/>
            <a:ext cx="5183188"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EBDD6-EDA1-4CE7-9DDC-9D977E12DDAB}"/>
              </a:ext>
            </a:extLst>
          </p:cNvPr>
          <p:cNvSpPr>
            <a:spLocks noGrp="1"/>
          </p:cNvSpPr>
          <p:nvPr>
            <p:ph sz="quarter" idx="4"/>
          </p:nvPr>
        </p:nvSpPr>
        <p:spPr>
          <a:xfrm>
            <a:off x="6094412" y="2560955"/>
            <a:ext cx="5183188"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044487-D350-4434-A5C7-A96942FFC95E}"/>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8" name="Footer Placeholder 7">
            <a:extLst>
              <a:ext uri="{FF2B5EF4-FFF2-40B4-BE49-F238E27FC236}">
                <a16:creationId xmlns:a16="http://schemas.microsoft.com/office/drawing/2014/main" id="{3389DC43-E591-42BF-82EE-E4887E4BC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8CD421-2D00-41DD-A393-4739E389D95E}"/>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4077919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9A8B-0FAF-431C-9657-9003FA037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BBA2A1-331D-40F8-867B-CE15011360A1}"/>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4" name="Footer Placeholder 3">
            <a:extLst>
              <a:ext uri="{FF2B5EF4-FFF2-40B4-BE49-F238E27FC236}">
                <a16:creationId xmlns:a16="http://schemas.microsoft.com/office/drawing/2014/main" id="{850995C1-5121-47B6-AC6D-F60C0FF6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BE022-9B54-431C-80D5-5D8F2AFCB92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4052754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3" name="Footer Placeholder 2">
            <a:extLst>
              <a:ext uri="{FF2B5EF4-FFF2-40B4-BE49-F238E27FC236}">
                <a16:creationId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94182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0B5D-E76D-4797-AD77-15625D675F3A}"/>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744D8D-C9CF-43B2-905D-2368B17A539A}"/>
              </a:ext>
            </a:extLst>
          </p:cNvPr>
          <p:cNvSpPr>
            <a:spLocks noGrp="1"/>
          </p:cNvSpPr>
          <p:nvPr>
            <p:ph idx="1"/>
          </p:nvPr>
        </p:nvSpPr>
        <p:spPr>
          <a:xfrm>
            <a:off x="5540188" y="914400"/>
            <a:ext cx="5737412" cy="5029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B4BF0C-D14C-46D7-ACDD-1885DDD883F1}"/>
              </a:ext>
            </a:extLst>
          </p:cNvPr>
          <p:cNvSpPr>
            <a:spLocks noGrp="1"/>
          </p:cNvSpPr>
          <p:nvPr>
            <p:ph type="body" sz="half" idx="2"/>
          </p:nvPr>
        </p:nvSpPr>
        <p:spPr>
          <a:xfrm>
            <a:off x="652372" y="2697479"/>
            <a:ext cx="4119654" cy="3246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FD7D8D-72E7-4ABD-BB87-80BB49003104}"/>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6" name="Footer Placeholder 5">
            <a:extLst>
              <a:ext uri="{FF2B5EF4-FFF2-40B4-BE49-F238E27FC236}">
                <a16:creationId xmlns:a16="http://schemas.microsoft.com/office/drawing/2014/main" id="{A9D9C1CE-C8CE-4364-A021-ADC2D6472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E6FA33-09EF-495A-853E-63750CA37AC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191308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023E-952E-40DF-A101-74D22789D534}"/>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1E98DD-BF5D-4CCA-8C66-F2A6CE11271C}"/>
              </a:ext>
            </a:extLst>
          </p:cNvPr>
          <p:cNvSpPr>
            <a:spLocks noGrp="1"/>
          </p:cNvSpPr>
          <p:nvPr>
            <p:ph type="pic" idx="1"/>
          </p:nvPr>
        </p:nvSpPr>
        <p:spPr>
          <a:xfrm>
            <a:off x="5486400" y="914400"/>
            <a:ext cx="5791200" cy="50291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0EC22A6-F2C2-4A88-BEE5-2D6CEB520EB9}"/>
              </a:ext>
            </a:extLst>
          </p:cNvPr>
          <p:cNvSpPr>
            <a:spLocks noGrp="1"/>
          </p:cNvSpPr>
          <p:nvPr>
            <p:ph type="body" sz="half" idx="2"/>
          </p:nvPr>
        </p:nvSpPr>
        <p:spPr>
          <a:xfrm>
            <a:off x="652372" y="2697480"/>
            <a:ext cx="4119654" cy="31715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1F755-C7AF-4C50-8CA8-828612A767B0}"/>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6" name="Footer Placeholder 5">
            <a:extLst>
              <a:ext uri="{FF2B5EF4-FFF2-40B4-BE49-F238E27FC236}">
                <a16:creationId xmlns:a16="http://schemas.microsoft.com/office/drawing/2014/main" id="{C1EDE175-E818-477C-A3F6-7DD65C126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0B8E3-DB91-440B-818F-71E4248BB10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222404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C0AF-44D0-4830-AF13-49B8522BE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1B4D8C-6045-47B3-9A0C-F2215A904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9A9F1-F398-416A-A8C0-0A36D838DD15}"/>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5" name="Footer Placeholder 4">
            <a:extLst>
              <a:ext uri="{FF2B5EF4-FFF2-40B4-BE49-F238E27FC236}">
                <a16:creationId xmlns:a16="http://schemas.microsoft.com/office/drawing/2014/main" id="{6E37F801-C9FB-4A34-8386-BA9FBACCB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5176-F6E9-4997-8355-74F2A4560A65}"/>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21212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EBC807-13E1-4F3F-83FA-FD9BD24F3B1F}"/>
              </a:ext>
            </a:extLst>
          </p:cNvPr>
          <p:cNvSpPr>
            <a:spLocks noGrp="1"/>
          </p:cNvSpPr>
          <p:nvPr>
            <p:ph type="title" orient="vert"/>
          </p:nvPr>
        </p:nvSpPr>
        <p:spPr>
          <a:xfrm>
            <a:off x="8986520" y="647699"/>
            <a:ext cx="2291080" cy="52959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7E2EAA-155E-482E-A2B8-547653B253EE}"/>
              </a:ext>
            </a:extLst>
          </p:cNvPr>
          <p:cNvSpPr>
            <a:spLocks noGrp="1"/>
          </p:cNvSpPr>
          <p:nvPr>
            <p:ph type="body" orient="vert" idx="1"/>
          </p:nvPr>
        </p:nvSpPr>
        <p:spPr>
          <a:xfrm>
            <a:off x="652371" y="647699"/>
            <a:ext cx="8120789"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A4BDC-BDD0-417D-AF7C-516EE556D7E4}"/>
              </a:ext>
            </a:extLst>
          </p:cNvPr>
          <p:cNvSpPr>
            <a:spLocks noGrp="1"/>
          </p:cNvSpPr>
          <p:nvPr>
            <p:ph type="dt" sz="half" idx="10"/>
          </p:nvPr>
        </p:nvSpPr>
        <p:spPr/>
        <p:txBody>
          <a:bodyPr/>
          <a:lstStyle/>
          <a:p>
            <a:fld id="{D341B595-366B-43E2-A22E-EA6A78C03F06}" type="datetimeFigureOut">
              <a:rPr lang="en-US" smtClean="0"/>
              <a:t>11/15/2023</a:t>
            </a:fld>
            <a:endParaRPr lang="en-US"/>
          </a:p>
        </p:txBody>
      </p:sp>
      <p:sp>
        <p:nvSpPr>
          <p:cNvPr id="5" name="Footer Placeholder 4">
            <a:extLst>
              <a:ext uri="{FF2B5EF4-FFF2-40B4-BE49-F238E27FC236}">
                <a16:creationId xmlns:a16="http://schemas.microsoft.com/office/drawing/2014/main" id="{0EF663EC-23F9-4202-80F3-F8E550884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8402D-7367-485B-AEA6-5AB2B8209D1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356800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11/15/2023</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403721196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802" r:id="rId6"/>
    <p:sldLayoutId id="2147483797" r:id="rId7"/>
    <p:sldLayoutId id="2147483798" r:id="rId8"/>
    <p:sldLayoutId id="2147483799" r:id="rId9"/>
    <p:sldLayoutId id="2147483801" r:id="rId10"/>
    <p:sldLayoutId id="2147483800" r:id="rId11"/>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12" Type="http://schemas.openxmlformats.org/officeDocument/2006/relationships/image" Target="../media/image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12" Type="http://schemas.openxmlformats.org/officeDocument/2006/relationships/image" Target="../media/image3.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55C69CE8-82D2-4369-D980-2636F8A888F1}"/>
              </a:ext>
            </a:extLst>
          </p:cNvPr>
          <p:cNvPicPr>
            <a:picLocks noChangeAspect="1"/>
          </p:cNvPicPr>
          <p:nvPr/>
        </p:nvPicPr>
        <p:blipFill>
          <a:blip r:embed="rId3"/>
          <a:srcRect/>
          <a:stretch/>
        </p:blipFill>
        <p:spPr>
          <a:xfrm>
            <a:off x="-1" y="0"/>
            <a:ext cx="12192001" cy="6858000"/>
          </a:xfrm>
          <a:prstGeom prst="rect">
            <a:avLst/>
          </a:prstGeom>
          <a:noFill/>
        </p:spPr>
      </p:pic>
      <p:sp>
        <p:nvSpPr>
          <p:cNvPr id="2" name="Title 1">
            <a:extLst>
              <a:ext uri="{FF2B5EF4-FFF2-40B4-BE49-F238E27FC236}">
                <a16:creationId xmlns:a16="http://schemas.microsoft.com/office/drawing/2014/main" id="{6BA0E1DB-30AE-F55E-019B-09042F86FB7E}"/>
              </a:ext>
            </a:extLst>
          </p:cNvPr>
          <p:cNvSpPr>
            <a:spLocks noGrp="1"/>
          </p:cNvSpPr>
          <p:nvPr>
            <p:ph type="ctrTitle"/>
          </p:nvPr>
        </p:nvSpPr>
        <p:spPr>
          <a:xfrm>
            <a:off x="-3" y="404706"/>
            <a:ext cx="5578550" cy="2260857"/>
          </a:xfrm>
        </p:spPr>
        <p:txBody>
          <a:bodyPr>
            <a:noAutofit/>
          </a:bodyPr>
          <a:lstStyle/>
          <a:p>
            <a:pPr algn="ctr"/>
            <a:r>
              <a:rPr lang="en-US" sz="2800" b="1" i="0" u="none" strike="noStrike">
                <a:solidFill>
                  <a:schemeClr val="bg1"/>
                </a:solidFill>
                <a:effectLst/>
                <a:latin typeface="Times New Roman" panose="02020603050405020304" pitchFamily="18" charset="0"/>
                <a:ea typeface="Helvetica Neue" panose="02000503000000020004" pitchFamily="2" charset="0"/>
                <a:cs typeface="Times New Roman" panose="02020603050405020304" pitchFamily="18" charset="0"/>
              </a:rPr>
              <a:t>SemEval-2020 Task 7: Assessing Humor in Edited News Headlines</a:t>
            </a:r>
            <a:endParaRPr lang="en-US" sz="2800" b="1">
              <a:solidFill>
                <a:schemeClr val="bg1"/>
              </a:solidFill>
              <a:latin typeface="Times New Roman" panose="02020603050405020304" pitchFamily="18" charset="0"/>
              <a:ea typeface="Helvetica Neue" panose="02000503000000020004" pitchFamily="2" charset="0"/>
              <a:cs typeface="Times New Roman" panose="02020603050405020304" pitchFamily="18" charset="0"/>
            </a:endParaRPr>
          </a:p>
        </p:txBody>
      </p:sp>
      <p:sp>
        <p:nvSpPr>
          <p:cNvPr id="3" name="Subtitle 2">
            <a:extLst>
              <a:ext uri="{FF2B5EF4-FFF2-40B4-BE49-F238E27FC236}">
                <a16:creationId xmlns:a16="http://schemas.microsoft.com/office/drawing/2014/main" id="{144160C6-A6D4-3610-FEAF-1C82A3933F95}"/>
              </a:ext>
            </a:extLst>
          </p:cNvPr>
          <p:cNvSpPr>
            <a:spLocks noGrp="1"/>
          </p:cNvSpPr>
          <p:nvPr>
            <p:ph type="subTitle" idx="1"/>
          </p:nvPr>
        </p:nvSpPr>
        <p:spPr>
          <a:xfrm>
            <a:off x="801649" y="2831509"/>
            <a:ext cx="3975247" cy="395066"/>
          </a:xfrm>
        </p:spPr>
        <p:txBody>
          <a:bodyPr>
            <a:normAutofit/>
          </a:bodyPr>
          <a:lstStyle/>
          <a:p>
            <a:pPr algn="ctr"/>
            <a:r>
              <a:rPr lang="en-US" sz="1600" b="1" i="0" u="none" strike="noStrike">
                <a:solidFill>
                  <a:schemeClr val="bg1"/>
                </a:solidFill>
                <a:effectLst/>
              </a:rPr>
              <a:t>Subtask 1 (Regression)</a:t>
            </a:r>
            <a:endParaRPr lang="en-US" sz="1600" b="1">
              <a:solidFill>
                <a:schemeClr val="bg1"/>
              </a:solidFill>
            </a:endParaRPr>
          </a:p>
        </p:txBody>
      </p:sp>
      <p:sp>
        <p:nvSpPr>
          <p:cNvPr id="5" name="TextBox 4">
            <a:extLst>
              <a:ext uri="{FF2B5EF4-FFF2-40B4-BE49-F238E27FC236}">
                <a16:creationId xmlns:a16="http://schemas.microsoft.com/office/drawing/2014/main" id="{97DC5B68-28C8-8349-B92E-F5C548BCC223}"/>
              </a:ext>
            </a:extLst>
          </p:cNvPr>
          <p:cNvSpPr txBox="1"/>
          <p:nvPr/>
        </p:nvSpPr>
        <p:spPr>
          <a:xfrm>
            <a:off x="1453114" y="3631426"/>
            <a:ext cx="2374606" cy="1077218"/>
          </a:xfrm>
          <a:prstGeom prst="rect">
            <a:avLst/>
          </a:prstGeom>
          <a:noFill/>
        </p:spPr>
        <p:txBody>
          <a:bodyPr wrap="square" rtlCol="0">
            <a:spAutoFit/>
          </a:bodyPr>
          <a:lstStyle/>
          <a:p>
            <a:pPr algn="ctr"/>
            <a:r>
              <a:rPr lang="en-US" sz="1600" b="1" i="1">
                <a:solidFill>
                  <a:schemeClr val="bg1"/>
                </a:solidFill>
                <a:latin typeface="Times New Roman" panose="02020603050405020304" pitchFamily="18" charset="0"/>
                <a:cs typeface="Times New Roman" panose="02020603050405020304" pitchFamily="18" charset="0"/>
              </a:rPr>
              <a:t>Matthew Vu</a:t>
            </a:r>
          </a:p>
          <a:p>
            <a:pPr algn="ctr"/>
            <a:r>
              <a:rPr lang="en-US" sz="1600" b="1" i="1">
                <a:solidFill>
                  <a:schemeClr val="bg1"/>
                </a:solidFill>
                <a:latin typeface="Times New Roman" panose="02020603050405020304" pitchFamily="18" charset="0"/>
                <a:cs typeface="Times New Roman" panose="02020603050405020304" pitchFamily="18" charset="0"/>
              </a:rPr>
              <a:t>Vu Doan</a:t>
            </a:r>
          </a:p>
          <a:p>
            <a:pPr algn="ctr"/>
            <a:r>
              <a:rPr lang="en-US" sz="1600" b="1" i="1">
                <a:solidFill>
                  <a:schemeClr val="bg1"/>
                </a:solidFill>
                <a:latin typeface="Times New Roman" panose="02020603050405020304" pitchFamily="18" charset="0"/>
                <a:cs typeface="Times New Roman" panose="02020603050405020304" pitchFamily="18" charset="0"/>
              </a:rPr>
              <a:t>Prapurna Penmathsa</a:t>
            </a:r>
            <a:br>
              <a:rPr lang="en-US" sz="1600" b="1" i="1">
                <a:solidFill>
                  <a:schemeClr val="bg1"/>
                </a:solidFill>
                <a:latin typeface="Times New Roman" panose="02020603050405020304" pitchFamily="18" charset="0"/>
                <a:cs typeface="Times New Roman" panose="02020603050405020304" pitchFamily="18" charset="0"/>
              </a:rPr>
            </a:br>
            <a:r>
              <a:rPr lang="en-US" sz="1600" b="1" i="1">
                <a:solidFill>
                  <a:schemeClr val="bg1"/>
                </a:solidFill>
                <a:latin typeface="Times New Roman" panose="02020603050405020304" pitchFamily="18" charset="0"/>
                <a:cs typeface="Times New Roman" panose="02020603050405020304" pitchFamily="18" charset="0"/>
              </a:rPr>
              <a:t>Amrisha </a:t>
            </a:r>
            <a:r>
              <a:rPr lang="en-US" sz="1600" b="1" i="1" u="none" strike="noStrike">
                <a:solidFill>
                  <a:schemeClr val="bg1"/>
                </a:solidFill>
                <a:effectLst/>
                <a:latin typeface="Times New Roman" panose="02020603050405020304" pitchFamily="18" charset="0"/>
                <a:cs typeface="Times New Roman" panose="02020603050405020304" pitchFamily="18" charset="0"/>
              </a:rPr>
              <a:t>Dwivedi</a:t>
            </a:r>
            <a:endParaRPr lang="en-US" sz="1600" b="1" i="1">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53465BB-F403-439E-6EC2-2340E96EE7EF}"/>
              </a:ext>
            </a:extLst>
          </p:cNvPr>
          <p:cNvSpPr txBox="1"/>
          <p:nvPr/>
        </p:nvSpPr>
        <p:spPr>
          <a:xfrm>
            <a:off x="971105" y="5260102"/>
            <a:ext cx="3338624" cy="523220"/>
          </a:xfrm>
          <a:prstGeom prst="rect">
            <a:avLst/>
          </a:prstGeom>
          <a:noFill/>
        </p:spPr>
        <p:txBody>
          <a:bodyPr wrap="square" rtlCol="0">
            <a:spAutoFit/>
          </a:bodyPr>
          <a:lstStyle/>
          <a:p>
            <a:pPr algn="ctr"/>
            <a:r>
              <a:rPr lang="en-US" sz="1400" b="1">
                <a:solidFill>
                  <a:schemeClr val="bg1"/>
                </a:solidFill>
                <a:latin typeface="Times New Roman" panose="02020603050405020304" pitchFamily="18" charset="0"/>
                <a:cs typeface="Times New Roman" panose="02020603050405020304" pitchFamily="18" charset="0"/>
              </a:rPr>
              <a:t>Dr. </a:t>
            </a:r>
            <a:r>
              <a:rPr lang="en-US" sz="1400" b="1">
                <a:solidFill>
                  <a:schemeClr val="bg1"/>
                </a:solidFill>
                <a:effectLst/>
                <a:latin typeface="Times New Roman" panose="02020603050405020304" pitchFamily="18" charset="0"/>
                <a:cs typeface="Times New Roman" panose="02020603050405020304" pitchFamily="18" charset="0"/>
              </a:rPr>
              <a:t>Marcos Zampieri </a:t>
            </a:r>
            <a:endParaRPr lang="en-US" sz="1400" b="1">
              <a:solidFill>
                <a:schemeClr val="bg1"/>
              </a:solidFill>
              <a:latin typeface="Times New Roman" panose="02020603050405020304" pitchFamily="18" charset="0"/>
              <a:cs typeface="Times New Roman" panose="02020603050405020304" pitchFamily="18" charset="0"/>
            </a:endParaRPr>
          </a:p>
          <a:p>
            <a:pPr algn="ctr"/>
            <a:r>
              <a:rPr lang="en-US" sz="1400" b="1">
                <a:solidFill>
                  <a:schemeClr val="bg1"/>
                </a:solidFill>
                <a:latin typeface="Times New Roman" panose="02020603050405020304" pitchFamily="18" charset="0"/>
                <a:cs typeface="Times New Roman" panose="02020603050405020304" pitchFamily="18" charset="0"/>
              </a:rPr>
              <a:t>AIT – 526 – Introduction to NLP</a:t>
            </a:r>
          </a:p>
        </p:txBody>
      </p:sp>
    </p:spTree>
    <p:extLst>
      <p:ext uri="{BB962C8B-B14F-4D97-AF65-F5344CB8AC3E}">
        <p14:creationId xmlns:p14="http://schemas.microsoft.com/office/powerpoint/2010/main" val="137836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C35203-288C-A71D-30E0-AA7AF31331EE}"/>
              </a:ext>
            </a:extLst>
          </p:cNvPr>
          <p:cNvSpPr>
            <a:spLocks noGrp="1"/>
          </p:cNvSpPr>
          <p:nvPr>
            <p:ph idx="1"/>
          </p:nvPr>
        </p:nvSpPr>
        <p:spPr/>
        <p:txBody>
          <a:bodyPr vert="horz" lIns="91440" tIns="45720" rIns="91440" bIns="45720" rtlCol="0" anchor="t">
            <a:normAutofit/>
          </a:bodyPr>
          <a:lstStyle/>
          <a:p>
            <a:pPr algn="just"/>
            <a:r>
              <a:rPr lang="en-US" sz="1800" b="1">
                <a:solidFill>
                  <a:srgbClr val="44546A"/>
                </a:solidFill>
                <a:latin typeface="Calibri"/>
                <a:ea typeface="Calibri"/>
                <a:cs typeface="Calibri"/>
              </a:rPr>
              <a:t>Subtask1:</a:t>
            </a:r>
            <a:endParaRPr lang="en-US"/>
          </a:p>
          <a:p>
            <a:pPr algn="just">
              <a:buClr>
                <a:srgbClr val="000000"/>
              </a:buClr>
            </a:pPr>
            <a:r>
              <a:rPr lang="en-US" sz="1800">
                <a:solidFill>
                  <a:srgbClr val="44546A"/>
                </a:solidFill>
                <a:latin typeface="Calibri"/>
                <a:ea typeface="Calibri"/>
                <a:cs typeface="Calibri"/>
              </a:rPr>
              <a:t>SemEval-2020 Task 7's objective is to evaluate the humor in modified news headlines, with a focus on how brief adjustments affect the text's funny factor. This assignment is different from standard humor datasets in that it focuses on analyzing how minor changes can turn otherwise unfunny material into humorous content. The dataset is useful for figuring out when regular text becomes hilarious and for comprehending the effects of atomic alterations.</a:t>
            </a:r>
            <a:endParaRPr lang="en-US"/>
          </a:p>
          <a:p>
            <a:pPr>
              <a:buClr>
                <a:srgbClr val="000000"/>
              </a:buClr>
            </a:pPr>
            <a:endParaRPr lang="en-US"/>
          </a:p>
        </p:txBody>
      </p:sp>
      <p:graphicFrame>
        <p:nvGraphicFramePr>
          <p:cNvPr id="5" name="Diagram 4">
            <a:extLst>
              <a:ext uri="{FF2B5EF4-FFF2-40B4-BE49-F238E27FC236}">
                <a16:creationId xmlns:a16="http://schemas.microsoft.com/office/drawing/2014/main" id="{97A5A03F-F836-1E2C-BC71-2DFA66FCC61C}"/>
              </a:ext>
            </a:extLst>
          </p:cNvPr>
          <p:cNvGraphicFramePr/>
          <p:nvPr>
            <p:extLst>
              <p:ext uri="{D42A27DB-BD31-4B8C-83A1-F6EECF244321}">
                <p14:modId xmlns:p14="http://schemas.microsoft.com/office/powerpoint/2010/main" val="2379743561"/>
              </p:ext>
            </p:extLst>
          </p:nvPr>
        </p:nvGraphicFramePr>
        <p:xfrm>
          <a:off x="655914" y="1075139"/>
          <a:ext cx="10625229" cy="630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6140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1377A-4EC0-F9C0-8997-1718B3B09472}"/>
              </a:ext>
            </a:extLst>
          </p:cNvPr>
          <p:cNvSpPr>
            <a:spLocks noGrp="1"/>
          </p:cNvSpPr>
          <p:nvPr>
            <p:ph idx="1"/>
          </p:nvPr>
        </p:nvSpPr>
        <p:spPr/>
        <p:txBody>
          <a:bodyPr vert="horz" lIns="91440" tIns="45720" rIns="91440" bIns="45720" rtlCol="0" anchor="t">
            <a:normAutofit/>
          </a:bodyPr>
          <a:lstStyle/>
          <a:p>
            <a:r>
              <a:rPr lang="en-US" sz="1800">
                <a:solidFill>
                  <a:srgbClr val="44546A"/>
                </a:solidFill>
                <a:latin typeface="Calibri"/>
                <a:ea typeface="Calibri"/>
                <a:cs typeface="Calibri"/>
              </a:rPr>
              <a:t>This job is important because it explores humor intensity in a way that goes beyond simple categorization. The challenge is to test a system's capacity to determine the level of humor in various headlines. Humor can take many different forms. This intensity evaluation may find use in the creation of comedy, where a system may be used to produce perhaps humorous texts and rate them according to how funny they are.</a:t>
            </a:r>
            <a:endParaRPr lang="en-US"/>
          </a:p>
          <a:p>
            <a:pPr>
              <a:buClr>
                <a:srgbClr val="000000"/>
              </a:buClr>
            </a:pPr>
            <a:endParaRPr lang="en-US"/>
          </a:p>
        </p:txBody>
      </p:sp>
      <p:graphicFrame>
        <p:nvGraphicFramePr>
          <p:cNvPr id="5" name="Diagram 4">
            <a:extLst>
              <a:ext uri="{FF2B5EF4-FFF2-40B4-BE49-F238E27FC236}">
                <a16:creationId xmlns:a16="http://schemas.microsoft.com/office/drawing/2014/main" id="{BB54FA9F-7BF0-4121-204D-6722E4F4E5B1}"/>
              </a:ext>
            </a:extLst>
          </p:cNvPr>
          <p:cNvGraphicFramePr/>
          <p:nvPr>
            <p:extLst>
              <p:ext uri="{D42A27DB-BD31-4B8C-83A1-F6EECF244321}">
                <p14:modId xmlns:p14="http://schemas.microsoft.com/office/powerpoint/2010/main" val="1970021790"/>
              </p:ext>
            </p:extLst>
          </p:nvPr>
        </p:nvGraphicFramePr>
        <p:xfrm>
          <a:off x="785310" y="1305177"/>
          <a:ext cx="10625229" cy="630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3601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642018-BCA4-C2FA-55BC-57EDF457BFBA}"/>
              </a:ext>
            </a:extLst>
          </p:cNvPr>
          <p:cNvSpPr>
            <a:spLocks noGrp="1"/>
          </p:cNvSpPr>
          <p:nvPr>
            <p:ph idx="1"/>
          </p:nvPr>
        </p:nvSpPr>
        <p:spPr/>
        <p:txBody>
          <a:bodyPr vert="horz" lIns="91440" tIns="45720" rIns="91440" bIns="45720" rtlCol="0" anchor="t">
            <a:normAutofit/>
          </a:bodyPr>
          <a:lstStyle/>
          <a:p>
            <a:r>
              <a:rPr lang="en-US" sz="1800" b="1">
                <a:solidFill>
                  <a:srgbClr val="44546A"/>
                </a:solidFill>
                <a:latin typeface="Calibri"/>
                <a:ea typeface="Calibri"/>
                <a:cs typeface="Calibri"/>
              </a:rPr>
              <a:t>Regression:</a:t>
            </a:r>
            <a:endParaRPr lang="en-US"/>
          </a:p>
          <a:p>
            <a:pPr algn="just">
              <a:buClr>
                <a:srgbClr val="000000"/>
              </a:buClr>
            </a:pPr>
            <a:r>
              <a:rPr lang="en-US" sz="1800">
                <a:solidFill>
                  <a:srgbClr val="44546A"/>
                </a:solidFill>
                <a:latin typeface="Calibri"/>
                <a:ea typeface="Calibri"/>
                <a:cs typeface="Calibri"/>
              </a:rPr>
              <a:t>Regression analysis measures a system's capacity to forecast the average level of humor in altered headlines. The Root Mean Squared Error (RMSE) for the entire test set is the evaluation statistic that is employed. It is necessary for participants to send in a zip file with the CSV file "task-1-output.csv" that has two columns in the prescribed sequence.</a:t>
            </a:r>
            <a:endParaRPr lang="en-US"/>
          </a:p>
          <a:p>
            <a:pPr algn="just">
              <a:buClr>
                <a:srgbClr val="000000"/>
              </a:buClr>
            </a:pPr>
            <a:r>
              <a:rPr lang="en-US" sz="1800" b="1">
                <a:solidFill>
                  <a:srgbClr val="44546A"/>
                </a:solidFill>
                <a:latin typeface="Calibri"/>
                <a:ea typeface="Calibri"/>
                <a:cs typeface="Calibri"/>
              </a:rPr>
              <a:t>1: Id: </a:t>
            </a:r>
            <a:r>
              <a:rPr lang="en-US" sz="1800">
                <a:solidFill>
                  <a:srgbClr val="44546A"/>
                </a:solidFill>
                <a:latin typeface="Calibri"/>
                <a:ea typeface="Calibri"/>
                <a:cs typeface="Calibri"/>
              </a:rPr>
              <a:t>The modified headline's ID as given by the dataset.</a:t>
            </a:r>
            <a:endParaRPr lang="en-US"/>
          </a:p>
          <a:p>
            <a:pPr algn="just">
              <a:buClr>
                <a:srgbClr val="000000"/>
              </a:buClr>
            </a:pPr>
            <a:r>
              <a:rPr lang="en-US" sz="1800" b="1">
                <a:solidFill>
                  <a:srgbClr val="44546A"/>
                </a:solidFill>
                <a:latin typeface="Calibri"/>
                <a:ea typeface="Calibri"/>
                <a:cs typeface="Calibri"/>
              </a:rPr>
              <a:t>2: Pred: </a:t>
            </a:r>
            <a:r>
              <a:rPr lang="en-US" sz="1800">
                <a:solidFill>
                  <a:srgbClr val="44546A"/>
                </a:solidFill>
                <a:latin typeface="Calibri"/>
                <a:ea typeface="Calibri"/>
                <a:cs typeface="Calibri"/>
              </a:rPr>
              <a:t>The headline's estimated funniness, expressed as an actual number within the 0–3 funniness range.</a:t>
            </a:r>
            <a:endParaRPr lang="en-US"/>
          </a:p>
          <a:p>
            <a:pPr>
              <a:buClr>
                <a:srgbClr val="000000"/>
              </a:buClr>
            </a:pPr>
            <a:endParaRPr lang="en-US"/>
          </a:p>
        </p:txBody>
      </p:sp>
      <p:graphicFrame>
        <p:nvGraphicFramePr>
          <p:cNvPr id="5" name="Diagram 4">
            <a:extLst>
              <a:ext uri="{FF2B5EF4-FFF2-40B4-BE49-F238E27FC236}">
                <a16:creationId xmlns:a16="http://schemas.microsoft.com/office/drawing/2014/main" id="{1C864171-3312-9362-580D-EB9B27567857}"/>
              </a:ext>
            </a:extLst>
          </p:cNvPr>
          <p:cNvGraphicFramePr/>
          <p:nvPr>
            <p:extLst>
              <p:ext uri="{D42A27DB-BD31-4B8C-83A1-F6EECF244321}">
                <p14:modId xmlns:p14="http://schemas.microsoft.com/office/powerpoint/2010/main" val="2213065571"/>
              </p:ext>
            </p:extLst>
          </p:nvPr>
        </p:nvGraphicFramePr>
        <p:xfrm>
          <a:off x="655914" y="1218912"/>
          <a:ext cx="10625229" cy="630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2709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55BD636-D859-1E4D-D0F2-19B0227A43DB}"/>
              </a:ext>
            </a:extLst>
          </p:cNvPr>
          <p:cNvGraphicFramePr/>
          <p:nvPr>
            <p:extLst>
              <p:ext uri="{D42A27DB-BD31-4B8C-83A1-F6EECF244321}">
                <p14:modId xmlns:p14="http://schemas.microsoft.com/office/powerpoint/2010/main" val="3382085478"/>
              </p:ext>
            </p:extLst>
          </p:nvPr>
        </p:nvGraphicFramePr>
        <p:xfrm>
          <a:off x="684669" y="198120"/>
          <a:ext cx="10625229" cy="630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93EB6AB8-A4E2-EDCE-39F7-3865C3CEEB37}"/>
              </a:ext>
            </a:extLst>
          </p:cNvPr>
          <p:cNvSpPr>
            <a:spLocks noGrp="1"/>
          </p:cNvSpPr>
          <p:nvPr>
            <p:ph idx="1"/>
          </p:nvPr>
        </p:nvSpPr>
        <p:spPr>
          <a:xfrm>
            <a:off x="608827" y="855393"/>
            <a:ext cx="5388456" cy="4345257"/>
          </a:xfrm>
        </p:spPr>
        <p:txBody>
          <a:bodyPr vert="horz" lIns="91440" tIns="45720" rIns="91440" bIns="45720" rtlCol="0" anchor="t">
            <a:noAutofit/>
          </a:bodyPr>
          <a:lstStyle/>
          <a:p>
            <a:r>
              <a:rPr lang="en-US" sz="1200" b="1">
                <a:ea typeface="+mn-lt"/>
                <a:cs typeface="+mn-lt"/>
              </a:rPr>
              <a:t>Jin, Shuning, et al. (2020)</a:t>
            </a:r>
            <a:endParaRPr lang="en-US" sz="1200" b="1"/>
          </a:p>
          <a:p>
            <a:pPr lvl="1">
              <a:buClr>
                <a:srgbClr val="000000"/>
              </a:buClr>
              <a:buFont typeface="Courier New" panose="020B0604020202020204" pitchFamily="34" charset="0"/>
              <a:buChar char="o"/>
            </a:pPr>
            <a:r>
              <a:rPr lang="en-US" sz="1200">
                <a:ea typeface="+mn-lt"/>
                <a:cs typeface="+mn-lt"/>
              </a:rPr>
              <a:t>Transformer-based models for humor detection in edited news headlines.</a:t>
            </a:r>
            <a:endParaRPr lang="en-US" sz="1200">
              <a:cs typeface="Times New Roman"/>
            </a:endParaRPr>
          </a:p>
          <a:p>
            <a:pPr lvl="1">
              <a:buClr>
                <a:srgbClr val="000000"/>
              </a:buClr>
              <a:buFont typeface="Courier New" panose="020B0604020202020204" pitchFamily="34" charset="0"/>
              <a:buChar char="o"/>
            </a:pPr>
            <a:r>
              <a:rPr lang="en-US" sz="1200">
                <a:ea typeface="+mn-lt"/>
                <a:cs typeface="+mn-lt"/>
              </a:rPr>
              <a:t>Advocates for future research beyond incongruity.</a:t>
            </a:r>
            <a:endParaRPr lang="en-US" sz="1200">
              <a:cs typeface="Times New Roman"/>
            </a:endParaRPr>
          </a:p>
          <a:p>
            <a:pPr lvl="1">
              <a:buClr>
                <a:srgbClr val="000000"/>
              </a:buClr>
              <a:buFont typeface="Courier New" panose="020B0604020202020204" pitchFamily="34" charset="0"/>
              <a:buChar char="o"/>
            </a:pPr>
            <a:r>
              <a:rPr lang="en-US" sz="1200">
                <a:ea typeface="+mn-lt"/>
                <a:cs typeface="+mn-lt"/>
              </a:rPr>
              <a:t>Highlights the use of RoBERTa and contrastive approach.</a:t>
            </a:r>
            <a:endParaRPr lang="en-US" sz="1200">
              <a:cs typeface="Times New Roman"/>
            </a:endParaRPr>
          </a:p>
          <a:p>
            <a:pPr lvl="1">
              <a:buClr>
                <a:srgbClr val="000000"/>
              </a:buClr>
              <a:buFont typeface="Courier New,monospace" panose="020B0604020202020204" pitchFamily="34" charset="0"/>
              <a:buChar char="o"/>
            </a:pPr>
            <a:r>
              <a:rPr lang="en-US" sz="1200">
                <a:cs typeface="Arial"/>
              </a:rPr>
              <a:t>Pre-trained transformer models for humor evaluation.</a:t>
            </a:r>
          </a:p>
          <a:p>
            <a:pPr lvl="1">
              <a:buClr>
                <a:srgbClr val="000000"/>
              </a:buClr>
              <a:buFont typeface="Courier New,monospace" panose="020B0604020202020204" pitchFamily="34" charset="0"/>
              <a:buChar char="o"/>
            </a:pPr>
            <a:r>
              <a:rPr lang="en-US" sz="1200">
                <a:cs typeface="Arial"/>
              </a:rPr>
              <a:t>Contrastive vs. non-contrastive approach.</a:t>
            </a:r>
          </a:p>
          <a:p>
            <a:pPr lvl="1">
              <a:buClr>
                <a:srgbClr val="000000"/>
              </a:buClr>
              <a:buFont typeface="Courier New,monospace" panose="020B0604020202020204" pitchFamily="34" charset="0"/>
              <a:buChar char="o"/>
            </a:pPr>
            <a:r>
              <a:rPr lang="en-US" sz="1200">
                <a:cs typeface="Arial"/>
              </a:rPr>
              <a:t>Weak correlations with human judgments but strong inter-model correlations.</a:t>
            </a:r>
          </a:p>
          <a:p>
            <a:pPr lvl="1">
              <a:buClr>
                <a:srgbClr val="000000"/>
              </a:buClr>
              <a:buFont typeface="Courier New,monospace" panose="020B0604020202020204" pitchFamily="34" charset="0"/>
              <a:buChar char="o"/>
            </a:pPr>
            <a:r>
              <a:rPr lang="en-US" sz="1200">
                <a:cs typeface="Arial"/>
              </a:rPr>
              <a:t>Incongruity not sufficient or necessary for humor.</a:t>
            </a:r>
            <a:endParaRPr lang="en-US" sz="1200"/>
          </a:p>
          <a:p>
            <a:pPr>
              <a:buClr>
                <a:srgbClr val="000000"/>
              </a:buClr>
            </a:pPr>
            <a:r>
              <a:rPr lang="en-US" sz="1200" b="1">
                <a:ea typeface="+mn-lt"/>
                <a:cs typeface="+mn-lt"/>
              </a:rPr>
              <a:t>Khwaileh, E., Al-</a:t>
            </a:r>
            <a:r>
              <a:rPr lang="en-US" sz="1200" b="1" err="1">
                <a:ea typeface="+mn-lt"/>
                <a:cs typeface="+mn-lt"/>
              </a:rPr>
              <a:t>As’ad</a:t>
            </a:r>
            <a:r>
              <a:rPr lang="en-US" sz="1200" b="1">
                <a:ea typeface="+mn-lt"/>
                <a:cs typeface="+mn-lt"/>
              </a:rPr>
              <a:t>, M. A. (2020)</a:t>
            </a:r>
            <a:endParaRPr lang="en-US" sz="1200">
              <a:ea typeface="+mn-lt"/>
              <a:cs typeface="+mn-lt"/>
            </a:endParaRPr>
          </a:p>
          <a:p>
            <a:pPr lvl="1">
              <a:buClr>
                <a:srgbClr val="000000"/>
              </a:buClr>
              <a:buFont typeface="Courier New"/>
              <a:buChar char="o"/>
            </a:pPr>
            <a:r>
              <a:rPr lang="en-US" sz="1200">
                <a:ea typeface="+mn-lt"/>
                <a:cs typeface="+mn-lt"/>
              </a:rPr>
              <a:t>Focus on ELMo and BERT.</a:t>
            </a:r>
          </a:p>
          <a:p>
            <a:pPr lvl="1">
              <a:buClr>
                <a:srgbClr val="000000"/>
              </a:buClr>
              <a:buFont typeface="Courier New"/>
              <a:buChar char="o"/>
            </a:pPr>
            <a:r>
              <a:rPr lang="en-US" sz="1200">
                <a:ea typeface="+mn-lt"/>
                <a:cs typeface="+mn-lt"/>
              </a:rPr>
              <a:t>Overview of models and applications.</a:t>
            </a:r>
          </a:p>
          <a:p>
            <a:pPr lvl="1">
              <a:buClr>
                <a:srgbClr val="000000"/>
              </a:buClr>
              <a:buFont typeface="Courier New"/>
              <a:buChar char="o"/>
            </a:pPr>
            <a:r>
              <a:rPr lang="en-US" sz="1200">
                <a:ea typeface="+mn-lt"/>
                <a:cs typeface="+mn-lt"/>
              </a:rPr>
              <a:t>Performance measured using RMSE.</a:t>
            </a:r>
          </a:p>
          <a:p>
            <a:pPr lvl="1">
              <a:buClr>
                <a:srgbClr val="000000"/>
              </a:buClr>
              <a:buFont typeface="Courier New"/>
              <a:buChar char="o"/>
            </a:pPr>
            <a:r>
              <a:rPr lang="en-US" sz="1200">
                <a:ea typeface="+mn-lt"/>
                <a:cs typeface="+mn-lt"/>
              </a:rPr>
              <a:t>ELMo-NB approach achieves a score of 0.5642.</a:t>
            </a:r>
          </a:p>
          <a:p>
            <a:pPr marL="0" indent="0">
              <a:buClr>
                <a:srgbClr val="000000"/>
              </a:buClr>
              <a:buNone/>
            </a:pPr>
            <a:endParaRPr lang="en-US" sz="1200" b="1">
              <a:solidFill>
                <a:srgbClr val="D1D5DB"/>
              </a:solidFill>
            </a:endParaRPr>
          </a:p>
          <a:p>
            <a:pPr marL="457200" lvl="1" indent="0">
              <a:spcBef>
                <a:spcPts val="500"/>
              </a:spcBef>
              <a:buNone/>
            </a:pPr>
            <a:endParaRPr lang="en-US" sz="1200">
              <a:solidFill>
                <a:srgbClr val="D1D5DB"/>
              </a:solidFill>
              <a:ea typeface="+mn-lt"/>
              <a:cs typeface="+mn-lt"/>
            </a:endParaRPr>
          </a:p>
          <a:p>
            <a:pPr marL="457200" indent="0">
              <a:spcBef>
                <a:spcPts val="500"/>
              </a:spcBef>
              <a:buClr>
                <a:srgbClr val="000000"/>
              </a:buClr>
              <a:buNone/>
            </a:pPr>
            <a:endParaRPr lang="en-US" sz="1200" b="1">
              <a:solidFill>
                <a:srgbClr val="D1D5DB"/>
              </a:solidFill>
            </a:endParaRPr>
          </a:p>
          <a:p>
            <a:pPr>
              <a:buClr>
                <a:srgbClr val="000000"/>
              </a:buClr>
            </a:pPr>
            <a:endParaRPr lang="en-US" sz="1200">
              <a:solidFill>
                <a:srgbClr val="000000"/>
              </a:solidFill>
            </a:endParaRPr>
          </a:p>
        </p:txBody>
      </p:sp>
      <p:sp>
        <p:nvSpPr>
          <p:cNvPr id="5" name="Content Placeholder 2">
            <a:extLst>
              <a:ext uri="{FF2B5EF4-FFF2-40B4-BE49-F238E27FC236}">
                <a16:creationId xmlns:a16="http://schemas.microsoft.com/office/drawing/2014/main" id="{FD33EF5E-839C-0D0D-3A8F-38D93AF28CF5}"/>
              </a:ext>
            </a:extLst>
          </p:cNvPr>
          <p:cNvSpPr txBox="1">
            <a:spLocks/>
          </p:cNvSpPr>
          <p:nvPr/>
        </p:nvSpPr>
        <p:spPr>
          <a:xfrm>
            <a:off x="6096000" y="855393"/>
            <a:ext cx="5388456" cy="3788833"/>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a:ea typeface="+mn-lt"/>
                <a:cs typeface="+mn-lt"/>
              </a:rPr>
              <a:t>Meaney, Wilson, and Magdy (2020)</a:t>
            </a:r>
          </a:p>
          <a:p>
            <a:pPr lvl="1">
              <a:buClr>
                <a:srgbClr val="000000"/>
              </a:buClr>
              <a:buFont typeface="Courier New" panose="020B0604020202020204" pitchFamily="34" charset="0"/>
              <a:buChar char="o"/>
            </a:pPr>
            <a:r>
              <a:rPr lang="en-US" sz="1200">
                <a:ea typeface="+mn-lt"/>
                <a:cs typeface="+mn-lt"/>
              </a:rPr>
              <a:t>ERNIE 2.0 chosen over BERT.</a:t>
            </a:r>
          </a:p>
          <a:p>
            <a:pPr lvl="1">
              <a:buClr>
                <a:srgbClr val="000000"/>
              </a:buClr>
              <a:buFont typeface="Courier New" panose="020B0604020202020204" pitchFamily="34" charset="0"/>
              <a:buChar char="o"/>
            </a:pPr>
            <a:r>
              <a:rPr lang="en-US" sz="1200">
                <a:ea typeface="+mn-lt"/>
                <a:cs typeface="+mn-lt"/>
              </a:rPr>
              <a:t>Advantage in capturing lexical, syntactic, and semantic information.</a:t>
            </a:r>
          </a:p>
          <a:p>
            <a:pPr lvl="1">
              <a:buClr>
                <a:srgbClr val="000000"/>
              </a:buClr>
              <a:buFont typeface="Courier New" panose="020B0604020202020204" pitchFamily="34" charset="0"/>
              <a:buChar char="o"/>
            </a:pPr>
            <a:r>
              <a:rPr lang="en-US" sz="1200">
                <a:ea typeface="+mn-lt"/>
                <a:cs typeface="+mn-lt"/>
              </a:rPr>
              <a:t>Fine-tuning enhances performance, especially in classification.</a:t>
            </a:r>
          </a:p>
          <a:p>
            <a:pPr lvl="1">
              <a:buClr>
                <a:srgbClr val="000000"/>
              </a:buClr>
              <a:buFont typeface="Courier New" panose="020B0604020202020204" pitchFamily="34" charset="0"/>
              <a:buChar char="o"/>
            </a:pPr>
            <a:r>
              <a:rPr lang="en-US" sz="1200">
                <a:ea typeface="+mn-lt"/>
                <a:cs typeface="+mn-lt"/>
              </a:rPr>
              <a:t>Significance of hyperparameter optimization.</a:t>
            </a:r>
          </a:p>
          <a:p>
            <a:pPr>
              <a:buClr>
                <a:srgbClr val="000000"/>
              </a:buClr>
            </a:pPr>
            <a:r>
              <a:rPr lang="en-US" sz="1200" b="1">
                <a:ea typeface="+mn-lt"/>
                <a:cs typeface="+mn-lt"/>
              </a:rPr>
              <a:t>Tuncer (2021)</a:t>
            </a:r>
          </a:p>
          <a:p>
            <a:pPr lvl="1">
              <a:buClr>
                <a:srgbClr val="000000"/>
              </a:buClr>
              <a:buFont typeface="Courier New"/>
              <a:buChar char="o"/>
            </a:pPr>
            <a:r>
              <a:rPr lang="en-US" sz="1200">
                <a:ea typeface="+mn-lt"/>
                <a:cs typeface="+mn-lt"/>
              </a:rPr>
              <a:t>Utilizes ALBERT for predicting mean funniness score.</a:t>
            </a:r>
          </a:p>
          <a:p>
            <a:pPr lvl="1">
              <a:buClr>
                <a:srgbClr val="000000"/>
              </a:buClr>
              <a:buFont typeface="Courier New"/>
              <a:buChar char="o"/>
            </a:pPr>
            <a:r>
              <a:rPr lang="en-US" sz="1200">
                <a:ea typeface="+mn-lt"/>
                <a:cs typeface="+mn-lt"/>
              </a:rPr>
              <a:t>ALBERT over BERT for faster training (fewer parameters).</a:t>
            </a:r>
            <a:endParaRPr lang="en-US" sz="1200">
              <a:cs typeface="Times New Roman"/>
            </a:endParaRPr>
          </a:p>
          <a:p>
            <a:pPr lvl="1">
              <a:buClr>
                <a:srgbClr val="000000"/>
              </a:buClr>
              <a:buFont typeface="Courier New"/>
              <a:buChar char="o"/>
            </a:pPr>
            <a:r>
              <a:rPr lang="en-US" sz="1200">
                <a:ea typeface="+mn-lt"/>
                <a:cs typeface="+mn-lt"/>
              </a:rPr>
              <a:t>Two ALBERT models with RMSprop and Adam optimizers.</a:t>
            </a:r>
          </a:p>
          <a:p>
            <a:pPr lvl="1">
              <a:buClr>
                <a:srgbClr val="000000"/>
              </a:buClr>
              <a:buFont typeface="Courier New"/>
              <a:buChar char="o"/>
            </a:pPr>
            <a:r>
              <a:rPr lang="en-US" sz="1200">
                <a:ea typeface="+mn-lt"/>
                <a:cs typeface="+mn-lt"/>
              </a:rPr>
              <a:t>RMSprop optimizer outperforms with RMSE values of 0.4569.</a:t>
            </a:r>
          </a:p>
          <a:p>
            <a:pPr marL="457200" lvl="1" indent="0">
              <a:buClr>
                <a:prstClr val="black"/>
              </a:buClr>
              <a:buNone/>
            </a:pPr>
            <a:endParaRPr lang="en-US" sz="1200">
              <a:solidFill>
                <a:srgbClr val="D1D5DB"/>
              </a:solidFill>
              <a:ea typeface="+mn-lt"/>
              <a:cs typeface="+mn-lt"/>
            </a:endParaRPr>
          </a:p>
          <a:p>
            <a:pPr marL="457200" indent="0">
              <a:spcBef>
                <a:spcPts val="500"/>
              </a:spcBef>
              <a:buClr>
                <a:srgbClr val="000000"/>
              </a:buClr>
              <a:buFont typeface="Arial" panose="020B0604020202020204" pitchFamily="34" charset="0"/>
              <a:buNone/>
            </a:pPr>
            <a:endParaRPr lang="en-US" sz="1200" b="1">
              <a:solidFill>
                <a:srgbClr val="D1D5DB"/>
              </a:solidFill>
            </a:endParaRPr>
          </a:p>
          <a:p>
            <a:pPr>
              <a:buClr>
                <a:srgbClr val="000000"/>
              </a:buClr>
              <a:buFont typeface="Arial" panose="020B0604020202020204" pitchFamily="34" charset="0"/>
              <a:buChar char="•"/>
            </a:pPr>
            <a:endParaRPr lang="en-US" sz="1200">
              <a:solidFill>
                <a:srgbClr val="000000"/>
              </a:solidFill>
              <a:ea typeface="+mn-lt"/>
              <a:cs typeface="+mn-lt"/>
            </a:endParaRPr>
          </a:p>
        </p:txBody>
      </p:sp>
      <p:graphicFrame>
        <p:nvGraphicFramePr>
          <p:cNvPr id="2" name="Diagram 1">
            <a:extLst>
              <a:ext uri="{FF2B5EF4-FFF2-40B4-BE49-F238E27FC236}">
                <a16:creationId xmlns:a16="http://schemas.microsoft.com/office/drawing/2014/main" id="{8C2A3ED2-EB13-8116-3A00-FFCFEBA3EEE8}"/>
              </a:ext>
            </a:extLst>
          </p:cNvPr>
          <p:cNvGraphicFramePr/>
          <p:nvPr>
            <p:extLst>
              <p:ext uri="{D42A27DB-BD31-4B8C-83A1-F6EECF244321}">
                <p14:modId xmlns:p14="http://schemas.microsoft.com/office/powerpoint/2010/main" val="3232988270"/>
              </p:ext>
            </p:extLst>
          </p:nvPr>
        </p:nvGraphicFramePr>
        <p:xfrm>
          <a:off x="652371" y="5430780"/>
          <a:ext cx="10625229" cy="6305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98823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EB1349A-BDDC-06E6-5E78-1E164739FDBC}"/>
              </a:ext>
            </a:extLst>
          </p:cNvPr>
          <p:cNvGraphicFramePr>
            <a:graphicFrameLocks noGrp="1"/>
          </p:cNvGraphicFramePr>
          <p:nvPr>
            <p:ph idx="1"/>
          </p:nvPr>
        </p:nvGraphicFramePr>
        <p:xfrm>
          <a:off x="819518" y="1794752"/>
          <a:ext cx="10625229" cy="44155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Diagram 16">
            <a:extLst>
              <a:ext uri="{FF2B5EF4-FFF2-40B4-BE49-F238E27FC236}">
                <a16:creationId xmlns:a16="http://schemas.microsoft.com/office/drawing/2014/main" id="{6F02AD26-82BE-9E8D-8725-D2A6B7DEED43}"/>
              </a:ext>
            </a:extLst>
          </p:cNvPr>
          <p:cNvGraphicFramePr/>
          <p:nvPr>
            <p:extLst>
              <p:ext uri="{D42A27DB-BD31-4B8C-83A1-F6EECF244321}">
                <p14:modId xmlns:p14="http://schemas.microsoft.com/office/powerpoint/2010/main" val="1289614029"/>
              </p:ext>
            </p:extLst>
          </p:nvPr>
        </p:nvGraphicFramePr>
        <p:xfrm>
          <a:off x="652371" y="647700"/>
          <a:ext cx="10625229" cy="11470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9" name="Picture 18" descr="A table with text on it&#10;&#10;Description automatically generated">
            <a:extLst>
              <a:ext uri="{FF2B5EF4-FFF2-40B4-BE49-F238E27FC236}">
                <a16:creationId xmlns:a16="http://schemas.microsoft.com/office/drawing/2014/main" id="{498ED11C-8EC9-AC36-0731-0667F1B59E81}"/>
              </a:ext>
            </a:extLst>
          </p:cNvPr>
          <p:cNvPicPr>
            <a:picLocks noChangeAspect="1"/>
          </p:cNvPicPr>
          <p:nvPr/>
        </p:nvPicPr>
        <p:blipFill>
          <a:blip r:embed="rId12"/>
          <a:stretch>
            <a:fillRect/>
          </a:stretch>
        </p:blipFill>
        <p:spPr>
          <a:xfrm>
            <a:off x="9120448" y="4852983"/>
            <a:ext cx="2033105" cy="1035171"/>
          </a:xfrm>
          <a:prstGeom prst="rect">
            <a:avLst/>
          </a:prstGeom>
        </p:spPr>
      </p:pic>
    </p:spTree>
    <p:extLst>
      <p:ext uri="{BB962C8B-B14F-4D97-AF65-F5344CB8AC3E}">
        <p14:creationId xmlns:p14="http://schemas.microsoft.com/office/powerpoint/2010/main" val="1734280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ECE2C77-746F-8C27-EB9C-8A4A4F2482C0}"/>
              </a:ext>
            </a:extLst>
          </p:cNvPr>
          <p:cNvGraphicFramePr/>
          <p:nvPr>
            <p:extLst>
              <p:ext uri="{D42A27DB-BD31-4B8C-83A1-F6EECF244321}">
                <p14:modId xmlns:p14="http://schemas.microsoft.com/office/powerpoint/2010/main" val="1299375984"/>
              </p:ext>
            </p:extLst>
          </p:nvPr>
        </p:nvGraphicFramePr>
        <p:xfrm>
          <a:off x="652371" y="647700"/>
          <a:ext cx="10625229" cy="11470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5">
            <a:extLst>
              <a:ext uri="{FF2B5EF4-FFF2-40B4-BE49-F238E27FC236}">
                <a16:creationId xmlns:a16="http://schemas.microsoft.com/office/drawing/2014/main" id="{CD0696EA-8C0F-34D6-D24D-EFB3142A4CCF}"/>
              </a:ext>
            </a:extLst>
          </p:cNvPr>
          <p:cNvGraphicFramePr>
            <a:graphicFrameLocks noGrp="1"/>
          </p:cNvGraphicFramePr>
          <p:nvPr>
            <p:ph idx="1"/>
            <p:extLst>
              <p:ext uri="{D42A27DB-BD31-4B8C-83A1-F6EECF244321}">
                <p14:modId xmlns:p14="http://schemas.microsoft.com/office/powerpoint/2010/main" val="3059002701"/>
              </p:ext>
            </p:extLst>
          </p:nvPr>
        </p:nvGraphicFramePr>
        <p:xfrm>
          <a:off x="656745" y="1994047"/>
          <a:ext cx="10620855" cy="28699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8" name="Picture 7" descr="A screenshot of a computer&#10;&#10;Description automatically generated">
            <a:extLst>
              <a:ext uri="{FF2B5EF4-FFF2-40B4-BE49-F238E27FC236}">
                <a16:creationId xmlns:a16="http://schemas.microsoft.com/office/drawing/2014/main" id="{633AA071-A20C-4CEC-70AA-786C8E2BD425}"/>
              </a:ext>
            </a:extLst>
          </p:cNvPr>
          <p:cNvPicPr>
            <a:picLocks noChangeAspect="1"/>
          </p:cNvPicPr>
          <p:nvPr/>
        </p:nvPicPr>
        <p:blipFill>
          <a:blip r:embed="rId12"/>
          <a:stretch>
            <a:fillRect/>
          </a:stretch>
        </p:blipFill>
        <p:spPr>
          <a:xfrm>
            <a:off x="1795130" y="4863952"/>
            <a:ext cx="8601739" cy="1766481"/>
          </a:xfrm>
          <a:prstGeom prst="rect">
            <a:avLst/>
          </a:prstGeom>
        </p:spPr>
      </p:pic>
    </p:spTree>
    <p:extLst>
      <p:ext uri="{BB962C8B-B14F-4D97-AF65-F5344CB8AC3E}">
        <p14:creationId xmlns:p14="http://schemas.microsoft.com/office/powerpoint/2010/main" val="3984106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cess&#10;&#10;Description automatically generated">
            <a:extLst>
              <a:ext uri="{FF2B5EF4-FFF2-40B4-BE49-F238E27FC236}">
                <a16:creationId xmlns:a16="http://schemas.microsoft.com/office/drawing/2014/main" id="{B5CF266D-D71A-5E9C-F1F6-E14DFF05C644}"/>
              </a:ext>
            </a:extLst>
          </p:cNvPr>
          <p:cNvPicPr>
            <a:picLocks noChangeAspect="1"/>
          </p:cNvPicPr>
          <p:nvPr/>
        </p:nvPicPr>
        <p:blipFill>
          <a:blip r:embed="rId2"/>
          <a:stretch>
            <a:fillRect/>
          </a:stretch>
        </p:blipFill>
        <p:spPr>
          <a:xfrm>
            <a:off x="422098" y="1468934"/>
            <a:ext cx="3069247" cy="4640688"/>
          </a:xfrm>
          <a:prstGeom prst="rect">
            <a:avLst/>
          </a:prstGeom>
        </p:spPr>
      </p:pic>
      <p:sp>
        <p:nvSpPr>
          <p:cNvPr id="4" name="TextBox 3">
            <a:extLst>
              <a:ext uri="{FF2B5EF4-FFF2-40B4-BE49-F238E27FC236}">
                <a16:creationId xmlns:a16="http://schemas.microsoft.com/office/drawing/2014/main" id="{FB3458CA-D646-D0C9-5B18-43C140A3EFFD}"/>
              </a:ext>
            </a:extLst>
          </p:cNvPr>
          <p:cNvSpPr txBox="1"/>
          <p:nvPr/>
        </p:nvSpPr>
        <p:spPr>
          <a:xfrm>
            <a:off x="292455" y="6254302"/>
            <a:ext cx="29540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https://link.springer.com/article/10.1007/s00530-020-00690-5</a:t>
            </a:r>
            <a:endParaRPr lang="en-US" sz="1000"/>
          </a:p>
        </p:txBody>
      </p:sp>
      <p:sp>
        <p:nvSpPr>
          <p:cNvPr id="5" name="TextBox 4">
            <a:extLst>
              <a:ext uri="{FF2B5EF4-FFF2-40B4-BE49-F238E27FC236}">
                <a16:creationId xmlns:a16="http://schemas.microsoft.com/office/drawing/2014/main" id="{C797B6B2-4640-0BD7-8C61-3A386FF4B923}"/>
              </a:ext>
            </a:extLst>
          </p:cNvPr>
          <p:cNvSpPr txBox="1"/>
          <p:nvPr/>
        </p:nvSpPr>
        <p:spPr>
          <a:xfrm>
            <a:off x="195865" y="949817"/>
            <a:ext cx="45398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ALBERT (A-LITE BERT) transformer model (proposed in a paper by Lan et al., 2020):</a:t>
            </a:r>
          </a:p>
        </p:txBody>
      </p:sp>
      <p:graphicFrame>
        <p:nvGraphicFramePr>
          <p:cNvPr id="7" name="Table 6">
            <a:extLst>
              <a:ext uri="{FF2B5EF4-FFF2-40B4-BE49-F238E27FC236}">
                <a16:creationId xmlns:a16="http://schemas.microsoft.com/office/drawing/2014/main" id="{DCBF99BA-1E99-F680-DDBF-97EFC8903305}"/>
              </a:ext>
            </a:extLst>
          </p:cNvPr>
          <p:cNvGraphicFramePr>
            <a:graphicFrameLocks noGrp="1"/>
          </p:cNvGraphicFramePr>
          <p:nvPr>
            <p:extLst>
              <p:ext uri="{D42A27DB-BD31-4B8C-83A1-F6EECF244321}">
                <p14:modId xmlns:p14="http://schemas.microsoft.com/office/powerpoint/2010/main" val="2485989749"/>
              </p:ext>
            </p:extLst>
          </p:nvPr>
        </p:nvGraphicFramePr>
        <p:xfrm>
          <a:off x="4539803" y="1405944"/>
          <a:ext cx="7296223" cy="4724400"/>
        </p:xfrm>
        <a:graphic>
          <a:graphicData uri="http://schemas.openxmlformats.org/drawingml/2006/table">
            <a:tbl>
              <a:tblPr firstRow="1" bandRow="1">
                <a:tableStyleId>{18603FDC-E32A-4AB5-989C-0864C3EAD2B8}</a:tableStyleId>
              </a:tblPr>
              <a:tblGrid>
                <a:gridCol w="965914">
                  <a:extLst>
                    <a:ext uri="{9D8B030D-6E8A-4147-A177-3AD203B41FA5}">
                      <a16:colId xmlns:a16="http://schemas.microsoft.com/office/drawing/2014/main" val="1724539584"/>
                    </a:ext>
                  </a:extLst>
                </a:gridCol>
                <a:gridCol w="2148500">
                  <a:extLst>
                    <a:ext uri="{9D8B030D-6E8A-4147-A177-3AD203B41FA5}">
                      <a16:colId xmlns:a16="http://schemas.microsoft.com/office/drawing/2014/main" val="3285785908"/>
                    </a:ext>
                  </a:extLst>
                </a:gridCol>
                <a:gridCol w="2196317">
                  <a:extLst>
                    <a:ext uri="{9D8B030D-6E8A-4147-A177-3AD203B41FA5}">
                      <a16:colId xmlns:a16="http://schemas.microsoft.com/office/drawing/2014/main" val="2103733421"/>
                    </a:ext>
                  </a:extLst>
                </a:gridCol>
                <a:gridCol w="1006162">
                  <a:extLst>
                    <a:ext uri="{9D8B030D-6E8A-4147-A177-3AD203B41FA5}">
                      <a16:colId xmlns:a16="http://schemas.microsoft.com/office/drawing/2014/main" val="2200579315"/>
                    </a:ext>
                  </a:extLst>
                </a:gridCol>
                <a:gridCol w="979330">
                  <a:extLst>
                    <a:ext uri="{9D8B030D-6E8A-4147-A177-3AD203B41FA5}">
                      <a16:colId xmlns:a16="http://schemas.microsoft.com/office/drawing/2014/main" val="1864715665"/>
                    </a:ext>
                  </a:extLst>
                </a:gridCol>
              </a:tblGrid>
              <a:tr h="389293">
                <a:tc>
                  <a:txBody>
                    <a:bodyPr/>
                    <a:lstStyle/>
                    <a:p>
                      <a:pPr lvl="0">
                        <a:buNone/>
                      </a:pPr>
                      <a:r>
                        <a:rPr lang="en-US" sz="1400"/>
                        <a:t>Model Number</a:t>
                      </a:r>
                    </a:p>
                  </a:txBody>
                  <a:tcPr/>
                </a:tc>
                <a:tc>
                  <a:txBody>
                    <a:bodyPr/>
                    <a:lstStyle/>
                    <a:p>
                      <a:r>
                        <a:rPr lang="en-US" sz="1400"/>
                        <a:t>Learning Rate Decay Method</a:t>
                      </a:r>
                    </a:p>
                  </a:txBody>
                  <a:tcPr/>
                </a:tc>
                <a:tc>
                  <a:txBody>
                    <a:bodyPr/>
                    <a:lstStyle/>
                    <a:p>
                      <a:r>
                        <a:rPr lang="en-US" sz="1400"/>
                        <a:t>Hyperparameters (Description)</a:t>
                      </a:r>
                    </a:p>
                  </a:txBody>
                  <a:tcPr/>
                </a:tc>
                <a:tc>
                  <a:txBody>
                    <a:bodyPr/>
                    <a:lstStyle/>
                    <a:p>
                      <a:r>
                        <a:rPr lang="en-US" sz="1400"/>
                        <a:t>Optimizer</a:t>
                      </a:r>
                    </a:p>
                  </a:txBody>
                  <a:tcPr/>
                </a:tc>
                <a:tc>
                  <a:txBody>
                    <a:bodyPr/>
                    <a:lstStyle/>
                    <a:p>
                      <a:pPr lvl="0">
                        <a:buNone/>
                      </a:pPr>
                      <a:r>
                        <a:rPr lang="en-US" sz="1400"/>
                        <a:t>Training </a:t>
                      </a:r>
                    </a:p>
                    <a:p>
                      <a:pPr lvl="0">
                        <a:buNone/>
                      </a:pPr>
                      <a:r>
                        <a:rPr lang="en-US" sz="1400"/>
                        <a:t>Set</a:t>
                      </a:r>
                    </a:p>
                  </a:txBody>
                  <a:tcPr/>
                </a:tc>
                <a:extLst>
                  <a:ext uri="{0D108BD9-81ED-4DB2-BD59-A6C34878D82A}">
                    <a16:rowId xmlns:a16="http://schemas.microsoft.com/office/drawing/2014/main" val="2750600487"/>
                  </a:ext>
                </a:extLst>
              </a:tr>
              <a:tr h="886265">
                <a:tc>
                  <a:txBody>
                    <a:bodyPr/>
                    <a:lstStyle/>
                    <a:p>
                      <a:pPr lvl="0">
                        <a:buNone/>
                      </a:pPr>
                      <a:r>
                        <a:rPr lang="en-US" sz="1400"/>
                        <a:t>1</a:t>
                      </a:r>
                    </a:p>
                  </a:txBody>
                  <a:tcPr/>
                </a:tc>
                <a:tc>
                  <a:txBody>
                    <a:bodyPr/>
                    <a:lstStyle/>
                    <a:p>
                      <a:r>
                        <a:rPr lang="en-US" sz="1400" dirty="0"/>
                        <a:t>Exponential Decay Learning Rate Scheduler to Decrease Learning Rate every 603 Batches</a:t>
                      </a:r>
                    </a:p>
                  </a:txBody>
                  <a:tcPr/>
                </a:tc>
                <a:tc>
                  <a:txBody>
                    <a:bodyPr/>
                    <a:lstStyle/>
                    <a:p>
                      <a:pPr marL="285750" indent="-285750">
                        <a:buFont typeface="Arial"/>
                        <a:buChar char="•"/>
                      </a:pPr>
                      <a:r>
                        <a:rPr lang="en-US" sz="1400"/>
                        <a:t>Initial learning rate = 1e-5</a:t>
                      </a:r>
                    </a:p>
                    <a:p>
                      <a:pPr marL="285750" lvl="0" indent="-285750">
                        <a:buFont typeface="Arial"/>
                        <a:buChar char="•"/>
                      </a:pPr>
                      <a:r>
                        <a:rPr lang="en-US" sz="1400"/>
                        <a:t>Decay steps = 603</a:t>
                      </a:r>
                    </a:p>
                    <a:p>
                      <a:pPr marL="285750" lvl="0" indent="-285750">
                        <a:buFont typeface="Arial"/>
                        <a:buChar char="•"/>
                      </a:pPr>
                      <a:r>
                        <a:rPr lang="en-US" sz="1400"/>
                        <a:t>Decay rate = 0.9</a:t>
                      </a:r>
                    </a:p>
                    <a:p>
                      <a:pPr marL="285750" lvl="0" indent="-285750">
                        <a:buFont typeface="Arial"/>
                        <a:buChar char="•"/>
                      </a:pPr>
                      <a:r>
                        <a:rPr lang="en-US" sz="1400"/>
                        <a:t>Epochs = 3</a:t>
                      </a:r>
                    </a:p>
                  </a:txBody>
                  <a:tcPr/>
                </a:tc>
                <a:tc>
                  <a:txBody>
                    <a:bodyPr/>
                    <a:lstStyle/>
                    <a:p>
                      <a:r>
                        <a:rPr lang="en-US" sz="1400"/>
                        <a:t>RMSprop</a:t>
                      </a:r>
                    </a:p>
                  </a:txBody>
                  <a:tcPr/>
                </a:tc>
                <a:tc>
                  <a:txBody>
                    <a:bodyPr/>
                    <a:lstStyle/>
                    <a:p>
                      <a:pPr lvl="0">
                        <a:buNone/>
                      </a:pPr>
                      <a:r>
                        <a:rPr lang="en-US" sz="1400"/>
                        <a:t>Train.csv</a:t>
                      </a:r>
                    </a:p>
                  </a:txBody>
                  <a:tcPr/>
                </a:tc>
                <a:extLst>
                  <a:ext uri="{0D108BD9-81ED-4DB2-BD59-A6C34878D82A}">
                    <a16:rowId xmlns:a16="http://schemas.microsoft.com/office/drawing/2014/main" val="371029125"/>
                  </a:ext>
                </a:extLst>
              </a:tr>
              <a:tr h="1051920">
                <a:tc>
                  <a:txBody>
                    <a:bodyPr/>
                    <a:lstStyle/>
                    <a:p>
                      <a:pPr lvl="0">
                        <a:buNone/>
                      </a:pPr>
                      <a:r>
                        <a:rPr lang="en-US" sz="1400" b="0" i="0" u="none" strike="noStrike" noProof="0">
                          <a:solidFill>
                            <a:srgbClr val="FFFFFF"/>
                          </a:solidFill>
                          <a:latin typeface="Grandview Display"/>
                        </a:rPr>
                        <a:t>2</a:t>
                      </a:r>
                    </a:p>
                  </a:txBody>
                  <a:tcPr/>
                </a:tc>
                <a:tc>
                  <a:txBody>
                    <a:bodyPr/>
                    <a:lstStyle/>
                    <a:p>
                      <a:r>
                        <a:rPr lang="en-US" sz="1400" dirty="0"/>
                        <a:t>Exponential Decay Learning Rate Scheduler to Decrease Learning Rate every 603 Batches</a:t>
                      </a:r>
                    </a:p>
                  </a:txBody>
                  <a:tcPr/>
                </a:tc>
                <a:tc>
                  <a:txBody>
                    <a:bodyPr/>
                    <a:lstStyle/>
                    <a:p>
                      <a:pPr marL="285750" lvl="0" indent="-285750" algn="l">
                        <a:lnSpc>
                          <a:spcPct val="100000"/>
                        </a:lnSpc>
                        <a:buFont typeface="Arial"/>
                        <a:buChar char="•"/>
                      </a:pPr>
                      <a:r>
                        <a:rPr lang="en-US" sz="1400" b="0" i="0" u="none" strike="noStrike" baseline="0" noProof="0">
                          <a:solidFill>
                            <a:srgbClr val="FFFFFF"/>
                          </a:solidFill>
                          <a:latin typeface="Grandview Display"/>
                        </a:rPr>
                        <a:t>Initial learning rate = 1e-5</a:t>
                      </a:r>
                    </a:p>
                    <a:p>
                      <a:pPr marL="285750" lvl="0" indent="-285750" algn="l">
                        <a:lnSpc>
                          <a:spcPct val="100000"/>
                        </a:lnSpc>
                        <a:buFont typeface="Arial"/>
                        <a:buChar char="•"/>
                      </a:pPr>
                      <a:r>
                        <a:rPr lang="en-US" sz="1400" b="0" i="0" u="none" strike="noStrike" baseline="0" noProof="0">
                          <a:solidFill>
                            <a:srgbClr val="FFFFFF"/>
                          </a:solidFill>
                          <a:latin typeface="Grandview Display"/>
                        </a:rPr>
                        <a:t>Decay steps = 603</a:t>
                      </a:r>
                    </a:p>
                    <a:p>
                      <a:pPr marL="285750" lvl="0" indent="-285750">
                        <a:buFont typeface="Arial"/>
                        <a:buChar char="•"/>
                      </a:pPr>
                      <a:r>
                        <a:rPr lang="en-US" sz="1400" b="0" i="0" u="none" strike="noStrike" baseline="0" noProof="0">
                          <a:solidFill>
                            <a:srgbClr val="FFFFFF"/>
                          </a:solidFill>
                          <a:latin typeface="Grandview Display"/>
                        </a:rPr>
                        <a:t>Decay rate = 0.9</a:t>
                      </a:r>
                    </a:p>
                    <a:p>
                      <a:pPr marL="285750" lvl="0" indent="-285750">
                        <a:buFont typeface="Arial"/>
                        <a:buChar char="•"/>
                      </a:pPr>
                      <a:r>
                        <a:rPr lang="en-US" sz="1400" b="0" i="0" u="none" strike="noStrike" baseline="0" noProof="0">
                          <a:solidFill>
                            <a:srgbClr val="FFFFFF"/>
                          </a:solidFill>
                          <a:latin typeface="Grandview Display"/>
                        </a:rPr>
                        <a:t>Epochs = 3</a:t>
                      </a:r>
                    </a:p>
                  </a:txBody>
                  <a:tcPr/>
                </a:tc>
                <a:tc>
                  <a:txBody>
                    <a:bodyPr/>
                    <a:lstStyle/>
                    <a:p>
                      <a:r>
                        <a:rPr lang="en-US" sz="1400"/>
                        <a:t>Adam</a:t>
                      </a:r>
                    </a:p>
                  </a:txBody>
                  <a:tcPr/>
                </a:tc>
                <a:tc>
                  <a:txBody>
                    <a:bodyPr/>
                    <a:lstStyle/>
                    <a:p>
                      <a:pPr lvl="0">
                        <a:buNone/>
                      </a:pPr>
                      <a:r>
                        <a:rPr lang="en-US" sz="1400"/>
                        <a:t>Train.csv</a:t>
                      </a:r>
                    </a:p>
                  </a:txBody>
                  <a:tcPr/>
                </a:tc>
                <a:extLst>
                  <a:ext uri="{0D108BD9-81ED-4DB2-BD59-A6C34878D82A}">
                    <a16:rowId xmlns:a16="http://schemas.microsoft.com/office/drawing/2014/main" val="2012407621"/>
                  </a:ext>
                </a:extLst>
              </a:tr>
              <a:tr h="886265">
                <a:tc>
                  <a:txBody>
                    <a:bodyPr/>
                    <a:lstStyle/>
                    <a:p>
                      <a:pPr lvl="0">
                        <a:buNone/>
                      </a:pPr>
                      <a:r>
                        <a:rPr lang="en-US" sz="1400"/>
                        <a:t>3</a:t>
                      </a:r>
                    </a:p>
                  </a:txBody>
                  <a:tcPr/>
                </a:tc>
                <a:tc>
                  <a:txBody>
                    <a:bodyPr/>
                    <a:lstStyle/>
                    <a:p>
                      <a:r>
                        <a:rPr lang="en-US" sz="1400"/>
                        <a:t>Constant decay factor to exponentially decrease learning rate every subsequent batch</a:t>
                      </a:r>
                    </a:p>
                  </a:txBody>
                  <a:tcPr/>
                </a:tc>
                <a:tc>
                  <a:txBody>
                    <a:bodyPr/>
                    <a:lstStyle/>
                    <a:p>
                      <a:pPr marL="285750" indent="-285750">
                        <a:buFont typeface="Arial"/>
                        <a:buChar char="•"/>
                      </a:pPr>
                      <a:r>
                        <a:rPr lang="en-US" sz="1400"/>
                        <a:t>Initial learning rate = 1e-5</a:t>
                      </a:r>
                    </a:p>
                    <a:p>
                      <a:pPr marL="285750" lvl="0" indent="-285750">
                        <a:buFont typeface="Arial"/>
                        <a:buChar char="•"/>
                      </a:pPr>
                      <a:r>
                        <a:rPr lang="en-US" sz="1400"/>
                        <a:t>Decay factor = 1e-8</a:t>
                      </a:r>
                    </a:p>
                    <a:p>
                      <a:pPr marL="285750" lvl="0" indent="-285750">
                        <a:buFont typeface="Arial"/>
                        <a:buChar char="•"/>
                      </a:pPr>
                      <a:r>
                        <a:rPr lang="en-US" sz="1400"/>
                        <a:t>Epochs = 3</a:t>
                      </a:r>
                    </a:p>
                  </a:txBody>
                  <a:tcPr/>
                </a:tc>
                <a:tc>
                  <a:txBody>
                    <a:bodyPr/>
                    <a:lstStyle/>
                    <a:p>
                      <a:r>
                        <a:rPr lang="en-US" sz="1400"/>
                        <a:t>RMSprop</a:t>
                      </a:r>
                    </a:p>
                  </a:txBody>
                  <a:tcPr/>
                </a:tc>
                <a:tc>
                  <a:txBody>
                    <a:bodyPr/>
                    <a:lstStyle/>
                    <a:p>
                      <a:pPr lvl="0">
                        <a:buNone/>
                      </a:pPr>
                      <a:r>
                        <a:rPr lang="en-US" sz="1400"/>
                        <a:t>Train.csv</a:t>
                      </a:r>
                    </a:p>
                  </a:txBody>
                  <a:tcPr/>
                </a:tc>
                <a:extLst>
                  <a:ext uri="{0D108BD9-81ED-4DB2-BD59-A6C34878D82A}">
                    <a16:rowId xmlns:a16="http://schemas.microsoft.com/office/drawing/2014/main" val="4125178034"/>
                  </a:ext>
                </a:extLst>
              </a:tr>
              <a:tr h="886265">
                <a:tc>
                  <a:txBody>
                    <a:bodyPr/>
                    <a:lstStyle/>
                    <a:p>
                      <a:pPr lvl="0">
                        <a:buNone/>
                      </a:pPr>
                      <a:r>
                        <a:rPr lang="en-US" sz="1400" b="0" i="0" u="none" strike="noStrike" noProof="0">
                          <a:solidFill>
                            <a:srgbClr val="FFFFFF"/>
                          </a:solidFill>
                          <a:latin typeface="Grandview Display"/>
                        </a:rPr>
                        <a:t>4</a:t>
                      </a:r>
                    </a:p>
                  </a:txBody>
                  <a:tcPr/>
                </a:tc>
                <a:tc>
                  <a:txBody>
                    <a:bodyPr/>
                    <a:lstStyle/>
                    <a:p>
                      <a:pPr lvl="0">
                        <a:buNone/>
                      </a:pPr>
                      <a:r>
                        <a:rPr lang="en-US" sz="1400" b="0" i="0" u="none" strike="noStrike" noProof="0">
                          <a:solidFill>
                            <a:srgbClr val="FFFFFF"/>
                          </a:solidFill>
                        </a:rPr>
                        <a:t>Constant decay factor to exponentially decrease learning rate every subsequent batch</a:t>
                      </a:r>
                      <a:endParaRPr lang="en-US" sz="1400"/>
                    </a:p>
                  </a:txBody>
                  <a:tcPr/>
                </a:tc>
                <a:tc>
                  <a:txBody>
                    <a:bodyPr/>
                    <a:lstStyle/>
                    <a:p>
                      <a:pPr marL="285750" indent="-285750">
                        <a:buFont typeface="Arial"/>
                        <a:buChar char="•"/>
                      </a:pPr>
                      <a:r>
                        <a:rPr lang="en-US" sz="1400"/>
                        <a:t>Initial learning rate = 1e-5</a:t>
                      </a:r>
                    </a:p>
                    <a:p>
                      <a:pPr marL="285750" lvl="0" indent="-285750">
                        <a:buFont typeface="Arial"/>
                        <a:buChar char="•"/>
                      </a:pPr>
                      <a:r>
                        <a:rPr lang="en-US" sz="1400"/>
                        <a:t>Decay factor = 1e-8</a:t>
                      </a:r>
                    </a:p>
                    <a:p>
                      <a:pPr marL="285750" lvl="0" indent="-285750">
                        <a:buFont typeface="Arial"/>
                        <a:buChar char="•"/>
                      </a:pPr>
                      <a:r>
                        <a:rPr lang="en-US" sz="1400"/>
                        <a:t>Epochs = 3</a:t>
                      </a:r>
                    </a:p>
                  </a:txBody>
                  <a:tcPr/>
                </a:tc>
                <a:tc>
                  <a:txBody>
                    <a:bodyPr/>
                    <a:lstStyle/>
                    <a:p>
                      <a:r>
                        <a:rPr lang="en-US" sz="1400"/>
                        <a:t>Adam</a:t>
                      </a:r>
                    </a:p>
                  </a:txBody>
                  <a:tcPr/>
                </a:tc>
                <a:tc>
                  <a:txBody>
                    <a:bodyPr/>
                    <a:lstStyle/>
                    <a:p>
                      <a:pPr lvl="0">
                        <a:buNone/>
                      </a:pPr>
                      <a:r>
                        <a:rPr lang="en-US" sz="1400" dirty="0"/>
                        <a:t>Train.csv</a:t>
                      </a:r>
                    </a:p>
                  </a:txBody>
                  <a:tcPr/>
                </a:tc>
                <a:extLst>
                  <a:ext uri="{0D108BD9-81ED-4DB2-BD59-A6C34878D82A}">
                    <a16:rowId xmlns:a16="http://schemas.microsoft.com/office/drawing/2014/main" val="886463337"/>
                  </a:ext>
                </a:extLst>
              </a:tr>
            </a:tbl>
          </a:graphicData>
        </a:graphic>
      </p:graphicFrame>
      <p:sp>
        <p:nvSpPr>
          <p:cNvPr id="8" name="Arrow: Right 7">
            <a:extLst>
              <a:ext uri="{FF2B5EF4-FFF2-40B4-BE49-F238E27FC236}">
                <a16:creationId xmlns:a16="http://schemas.microsoft.com/office/drawing/2014/main" id="{56315EBF-E040-2552-8BA4-E22B22B68281}"/>
              </a:ext>
            </a:extLst>
          </p:cNvPr>
          <p:cNvSpPr/>
          <p:nvPr/>
        </p:nvSpPr>
        <p:spPr>
          <a:xfrm>
            <a:off x="3496078" y="3997816"/>
            <a:ext cx="783465" cy="225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93D3002-B2C3-D8D4-7982-DE3713E07794}"/>
              </a:ext>
            </a:extLst>
          </p:cNvPr>
          <p:cNvSpPr txBox="1"/>
          <p:nvPr/>
        </p:nvSpPr>
        <p:spPr>
          <a:xfrm>
            <a:off x="6439437" y="6176491"/>
            <a:ext cx="36087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Methods and code inspired by Salih Tuncer (2021)</a:t>
            </a:r>
          </a:p>
        </p:txBody>
      </p:sp>
      <p:sp>
        <p:nvSpPr>
          <p:cNvPr id="6" name="TextBox 5">
            <a:extLst>
              <a:ext uri="{FF2B5EF4-FFF2-40B4-BE49-F238E27FC236}">
                <a16:creationId xmlns:a16="http://schemas.microsoft.com/office/drawing/2014/main" id="{5A3679EE-2EB9-DB16-7902-25210E515DE0}"/>
              </a:ext>
            </a:extLst>
          </p:cNvPr>
          <p:cNvSpPr txBox="1"/>
          <p:nvPr/>
        </p:nvSpPr>
        <p:spPr>
          <a:xfrm>
            <a:off x="1340079" y="220362"/>
            <a:ext cx="9708521" cy="584775"/>
          </a:xfrm>
          <a:prstGeom prst="rect">
            <a:avLst/>
          </a:prstGeom>
          <a:gradFill rotWithShape="0">
            <a:gsLst>
              <a:gs pos="0">
                <a:srgbClr val="0669AC">
                  <a:shade val="80000"/>
                  <a:hueOff val="0"/>
                  <a:satOff val="0"/>
                  <a:lumOff val="0"/>
                  <a:alphaOff val="0"/>
                  <a:satMod val="103000"/>
                  <a:lumMod val="102000"/>
                  <a:tint val="94000"/>
                </a:srgbClr>
              </a:gs>
              <a:gs pos="50000">
                <a:srgbClr val="0669AC">
                  <a:shade val="80000"/>
                  <a:hueOff val="0"/>
                  <a:satOff val="0"/>
                  <a:lumOff val="0"/>
                  <a:alphaOff val="0"/>
                  <a:satMod val="110000"/>
                  <a:lumMod val="100000"/>
                  <a:shade val="100000"/>
                </a:srgbClr>
              </a:gs>
              <a:gs pos="100000">
                <a:srgbClr val="0669AC">
                  <a:shade val="80000"/>
                  <a:hueOff val="0"/>
                  <a:satOff val="0"/>
                  <a:lumOff val="0"/>
                  <a:alphaOff val="0"/>
                  <a:lumMod val="99000"/>
                  <a:satMod val="120000"/>
                  <a:shade val="78000"/>
                </a:srgbClr>
              </a:gs>
            </a:gsLst>
            <a:lin ang="5400000" scaled="0"/>
          </a:gradFill>
          <a:ln>
            <a:noFill/>
          </a:ln>
          <a:effectLst/>
          <a:scene3d>
            <a:camera prst="orthographicFront"/>
            <a:lightRig rig="flat" dir="t"/>
          </a:scene3d>
          <a:sp3d prstMaterial="plastic">
            <a:bevelT w="120900" h="88900"/>
            <a:bevelB w="88900" h="31750" prst="angle"/>
          </a:sp3d>
        </p:spPr>
        <p:txBody>
          <a:bodyPr spcFirstLastPara="0" vert="horz" wrap="square" lIns="121920" tIns="121920" rIns="121920" bIns="121920" numCol="1" spcCol="1270" anchor="ctr" anchorCtr="0">
            <a:noAutofit/>
          </a:bodyPr>
          <a:lstStyle>
            <a:lvl1pPr algn="ctr">
              <a:defRPr sz="3200" baseline="0">
                <a:latin typeface="+mj-lt"/>
              </a:defRPr>
            </a:lvl1pPr>
          </a:lstStyle>
          <a:p>
            <a:r>
              <a:rPr lang="en-US">
                <a:solidFill>
                  <a:schemeClr val="bg1"/>
                </a:solidFill>
              </a:rPr>
              <a:t>METHODS PART 1: MODELS EXPERIMENTED ON</a:t>
            </a:r>
          </a:p>
        </p:txBody>
      </p:sp>
    </p:spTree>
    <p:extLst>
      <p:ext uri="{BB962C8B-B14F-4D97-AF65-F5344CB8AC3E}">
        <p14:creationId xmlns:p14="http://schemas.microsoft.com/office/powerpoint/2010/main" val="876677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EE7D06-EC6E-7BE3-09D3-951FFB5843C9}"/>
              </a:ext>
            </a:extLst>
          </p:cNvPr>
          <p:cNvSpPr txBox="1"/>
          <p:nvPr/>
        </p:nvSpPr>
        <p:spPr>
          <a:xfrm>
            <a:off x="1569077" y="195329"/>
            <a:ext cx="9708521" cy="584775"/>
          </a:xfrm>
          <a:prstGeom prst="rect">
            <a:avLst/>
          </a:prstGeom>
          <a:gradFill rotWithShape="0">
            <a:gsLst>
              <a:gs pos="0">
                <a:srgbClr val="0669AC">
                  <a:shade val="80000"/>
                  <a:hueOff val="0"/>
                  <a:satOff val="0"/>
                  <a:lumOff val="0"/>
                  <a:alphaOff val="0"/>
                  <a:satMod val="103000"/>
                  <a:lumMod val="102000"/>
                  <a:tint val="94000"/>
                </a:srgbClr>
              </a:gs>
              <a:gs pos="50000">
                <a:srgbClr val="0669AC">
                  <a:shade val="80000"/>
                  <a:hueOff val="0"/>
                  <a:satOff val="0"/>
                  <a:lumOff val="0"/>
                  <a:alphaOff val="0"/>
                  <a:satMod val="110000"/>
                  <a:lumMod val="100000"/>
                  <a:shade val="100000"/>
                </a:srgbClr>
              </a:gs>
              <a:gs pos="100000">
                <a:srgbClr val="0669AC">
                  <a:shade val="80000"/>
                  <a:hueOff val="0"/>
                  <a:satOff val="0"/>
                  <a:lumOff val="0"/>
                  <a:alphaOff val="0"/>
                  <a:lumMod val="99000"/>
                  <a:satMod val="120000"/>
                  <a:shade val="78000"/>
                </a:srgbClr>
              </a:gs>
            </a:gsLst>
            <a:lin ang="5400000" scaled="0"/>
          </a:gradFill>
          <a:ln>
            <a:noFill/>
          </a:ln>
          <a:effectLst/>
          <a:scene3d>
            <a:camera prst="orthographicFront"/>
            <a:lightRig rig="flat" dir="t"/>
          </a:scene3d>
          <a:sp3d prstMaterial="plastic">
            <a:bevelT w="120900" h="88900"/>
            <a:bevelB w="88900" h="31750" prst="angle"/>
          </a:sp3d>
        </p:spPr>
        <p:txBody>
          <a:bodyPr spcFirstLastPara="0" vert="horz" wrap="square" lIns="121920" tIns="121920" rIns="121920" bIns="121920" numCol="1" spcCol="1270" anchor="ctr" anchorCtr="0">
            <a:noAutofit/>
          </a:bodyPr>
          <a:lstStyle>
            <a:lvl1pPr algn="ctr">
              <a:defRPr sz="3200" baseline="0">
                <a:latin typeface="+mj-lt"/>
              </a:defRPr>
            </a:lvl1pPr>
          </a:lstStyle>
          <a:p>
            <a:r>
              <a:rPr lang="en-US">
                <a:solidFill>
                  <a:schemeClr val="bg1"/>
                </a:solidFill>
              </a:rPr>
              <a:t>METHODS PART 2: EACH MODEL’S EXAMPLE CODE</a:t>
            </a:r>
          </a:p>
        </p:txBody>
      </p:sp>
      <p:pic>
        <p:nvPicPr>
          <p:cNvPr id="8" name="Picture 7" descr="A screenshot of a computer program&#10;&#10;Description automatically generated">
            <a:extLst>
              <a:ext uri="{FF2B5EF4-FFF2-40B4-BE49-F238E27FC236}">
                <a16:creationId xmlns:a16="http://schemas.microsoft.com/office/drawing/2014/main" id="{CD642F80-ACA9-B57B-F0AF-2F16383B29C9}"/>
              </a:ext>
            </a:extLst>
          </p:cNvPr>
          <p:cNvPicPr>
            <a:picLocks noChangeAspect="1"/>
          </p:cNvPicPr>
          <p:nvPr/>
        </p:nvPicPr>
        <p:blipFill>
          <a:blip r:embed="rId2"/>
          <a:stretch>
            <a:fillRect/>
          </a:stretch>
        </p:blipFill>
        <p:spPr>
          <a:xfrm>
            <a:off x="388839" y="2681514"/>
            <a:ext cx="4442525" cy="1730375"/>
          </a:xfrm>
          <a:prstGeom prst="rect">
            <a:avLst/>
          </a:prstGeom>
        </p:spPr>
      </p:pic>
      <p:pic>
        <p:nvPicPr>
          <p:cNvPr id="15" name="Picture 14" descr="A screenshot of a computer program&#10;&#10;Description automatically generated">
            <a:extLst>
              <a:ext uri="{FF2B5EF4-FFF2-40B4-BE49-F238E27FC236}">
                <a16:creationId xmlns:a16="http://schemas.microsoft.com/office/drawing/2014/main" id="{88715F84-D100-0314-92E8-22431061BA6B}"/>
              </a:ext>
            </a:extLst>
          </p:cNvPr>
          <p:cNvPicPr>
            <a:picLocks noChangeAspect="1"/>
          </p:cNvPicPr>
          <p:nvPr/>
        </p:nvPicPr>
        <p:blipFill>
          <a:blip r:embed="rId3"/>
          <a:stretch>
            <a:fillRect/>
          </a:stretch>
        </p:blipFill>
        <p:spPr>
          <a:xfrm>
            <a:off x="439222" y="4920312"/>
            <a:ext cx="4727597" cy="1542898"/>
          </a:xfrm>
          <a:prstGeom prst="rect">
            <a:avLst/>
          </a:prstGeom>
        </p:spPr>
      </p:pic>
      <p:pic>
        <p:nvPicPr>
          <p:cNvPr id="19" name="Picture 18" descr="A screen shot of a computer code&#10;&#10;Description automatically generated">
            <a:extLst>
              <a:ext uri="{FF2B5EF4-FFF2-40B4-BE49-F238E27FC236}">
                <a16:creationId xmlns:a16="http://schemas.microsoft.com/office/drawing/2014/main" id="{F6304787-71C4-4E06-6FE0-FC3001283250}"/>
              </a:ext>
            </a:extLst>
          </p:cNvPr>
          <p:cNvPicPr>
            <a:picLocks noChangeAspect="1"/>
          </p:cNvPicPr>
          <p:nvPr/>
        </p:nvPicPr>
        <p:blipFill>
          <a:blip r:embed="rId4"/>
          <a:stretch>
            <a:fillRect/>
          </a:stretch>
        </p:blipFill>
        <p:spPr>
          <a:xfrm>
            <a:off x="6000084" y="4127468"/>
            <a:ext cx="5164889" cy="1505196"/>
          </a:xfrm>
          <a:prstGeom prst="rect">
            <a:avLst/>
          </a:prstGeom>
        </p:spPr>
      </p:pic>
      <p:pic>
        <p:nvPicPr>
          <p:cNvPr id="21" name="Picture 20" descr="A screenshot of a computer program&#10;&#10;Description automatically generated">
            <a:extLst>
              <a:ext uri="{FF2B5EF4-FFF2-40B4-BE49-F238E27FC236}">
                <a16:creationId xmlns:a16="http://schemas.microsoft.com/office/drawing/2014/main" id="{E7D5FE6E-0EA4-4C8A-AD8D-45CDF3FE246F}"/>
              </a:ext>
            </a:extLst>
          </p:cNvPr>
          <p:cNvPicPr>
            <a:picLocks noChangeAspect="1"/>
          </p:cNvPicPr>
          <p:nvPr/>
        </p:nvPicPr>
        <p:blipFill>
          <a:blip r:embed="rId5"/>
          <a:stretch>
            <a:fillRect/>
          </a:stretch>
        </p:blipFill>
        <p:spPr>
          <a:xfrm>
            <a:off x="6000084" y="1225336"/>
            <a:ext cx="5390138" cy="1624872"/>
          </a:xfrm>
          <a:prstGeom prst="rect">
            <a:avLst/>
          </a:prstGeom>
        </p:spPr>
      </p:pic>
      <p:pic>
        <p:nvPicPr>
          <p:cNvPr id="23" name="Picture 22" descr="A screenshot of a computer code&#10;&#10;Description automatically generated">
            <a:extLst>
              <a:ext uri="{FF2B5EF4-FFF2-40B4-BE49-F238E27FC236}">
                <a16:creationId xmlns:a16="http://schemas.microsoft.com/office/drawing/2014/main" id="{B5CC47AA-4FF5-31DA-AEE5-30025E0BDE28}"/>
              </a:ext>
            </a:extLst>
          </p:cNvPr>
          <p:cNvPicPr>
            <a:picLocks noChangeAspect="1"/>
          </p:cNvPicPr>
          <p:nvPr/>
        </p:nvPicPr>
        <p:blipFill>
          <a:blip r:embed="rId6"/>
          <a:stretch>
            <a:fillRect/>
          </a:stretch>
        </p:blipFill>
        <p:spPr>
          <a:xfrm>
            <a:off x="1705423" y="1053201"/>
            <a:ext cx="1283293" cy="1011537"/>
          </a:xfrm>
          <a:prstGeom prst="rect">
            <a:avLst/>
          </a:prstGeom>
        </p:spPr>
      </p:pic>
      <p:sp>
        <p:nvSpPr>
          <p:cNvPr id="24" name="TextBox 23">
            <a:extLst>
              <a:ext uri="{FF2B5EF4-FFF2-40B4-BE49-F238E27FC236}">
                <a16:creationId xmlns:a16="http://schemas.microsoft.com/office/drawing/2014/main" id="{A655DD97-81FF-B544-6B97-C159A0A44F72}"/>
              </a:ext>
            </a:extLst>
          </p:cNvPr>
          <p:cNvSpPr txBox="1"/>
          <p:nvPr/>
        </p:nvSpPr>
        <p:spPr>
          <a:xfrm>
            <a:off x="1843168" y="4550967"/>
            <a:ext cx="959853" cy="253895"/>
          </a:xfrm>
          <a:prstGeom prst="rect">
            <a:avLst/>
          </a:prstGeom>
          <a:noFill/>
        </p:spPr>
        <p:txBody>
          <a:bodyPr wrap="square" rtlCol="0">
            <a:spAutoFit/>
          </a:bodyPr>
          <a:lstStyle/>
          <a:p>
            <a:r>
              <a:rPr lang="en-US" sz="1000"/>
              <a:t>Model 1 Code</a:t>
            </a:r>
          </a:p>
        </p:txBody>
      </p:sp>
      <p:sp>
        <p:nvSpPr>
          <p:cNvPr id="25" name="TextBox 24">
            <a:extLst>
              <a:ext uri="{FF2B5EF4-FFF2-40B4-BE49-F238E27FC236}">
                <a16:creationId xmlns:a16="http://schemas.microsoft.com/office/drawing/2014/main" id="{FC8D3C21-817F-BBCD-92EE-ED5C6155AABF}"/>
              </a:ext>
            </a:extLst>
          </p:cNvPr>
          <p:cNvSpPr txBox="1"/>
          <p:nvPr/>
        </p:nvSpPr>
        <p:spPr>
          <a:xfrm>
            <a:off x="1332898" y="2147740"/>
            <a:ext cx="2028342" cy="246221"/>
          </a:xfrm>
          <a:prstGeom prst="rect">
            <a:avLst/>
          </a:prstGeom>
          <a:noFill/>
        </p:spPr>
        <p:txBody>
          <a:bodyPr wrap="square" rtlCol="0">
            <a:spAutoFit/>
          </a:bodyPr>
          <a:lstStyle/>
          <a:p>
            <a:r>
              <a:rPr lang="en-US" sz="1000"/>
              <a:t>Learning Rate Scheduler Code</a:t>
            </a:r>
          </a:p>
        </p:txBody>
      </p:sp>
      <p:sp>
        <p:nvSpPr>
          <p:cNvPr id="26" name="TextBox 25">
            <a:extLst>
              <a:ext uri="{FF2B5EF4-FFF2-40B4-BE49-F238E27FC236}">
                <a16:creationId xmlns:a16="http://schemas.microsoft.com/office/drawing/2014/main" id="{47D80CD0-90C1-2BFE-4121-04313828E2FF}"/>
              </a:ext>
            </a:extLst>
          </p:cNvPr>
          <p:cNvSpPr txBox="1"/>
          <p:nvPr/>
        </p:nvSpPr>
        <p:spPr>
          <a:xfrm>
            <a:off x="1867142" y="6521934"/>
            <a:ext cx="959853" cy="253895"/>
          </a:xfrm>
          <a:prstGeom prst="rect">
            <a:avLst/>
          </a:prstGeom>
          <a:noFill/>
        </p:spPr>
        <p:txBody>
          <a:bodyPr wrap="square" rtlCol="0">
            <a:spAutoFit/>
          </a:bodyPr>
          <a:lstStyle/>
          <a:p>
            <a:r>
              <a:rPr lang="en-US" sz="1000"/>
              <a:t>Model 2 Code</a:t>
            </a:r>
          </a:p>
        </p:txBody>
      </p:sp>
      <p:sp>
        <p:nvSpPr>
          <p:cNvPr id="27" name="TextBox 26">
            <a:extLst>
              <a:ext uri="{FF2B5EF4-FFF2-40B4-BE49-F238E27FC236}">
                <a16:creationId xmlns:a16="http://schemas.microsoft.com/office/drawing/2014/main" id="{FF122E46-61E7-8DA7-F005-8743FD922BBF}"/>
              </a:ext>
            </a:extLst>
          </p:cNvPr>
          <p:cNvSpPr txBox="1"/>
          <p:nvPr/>
        </p:nvSpPr>
        <p:spPr>
          <a:xfrm>
            <a:off x="8102601" y="2866419"/>
            <a:ext cx="959853" cy="253895"/>
          </a:xfrm>
          <a:prstGeom prst="rect">
            <a:avLst/>
          </a:prstGeom>
          <a:noFill/>
        </p:spPr>
        <p:txBody>
          <a:bodyPr wrap="square" rtlCol="0">
            <a:spAutoFit/>
          </a:bodyPr>
          <a:lstStyle/>
          <a:p>
            <a:r>
              <a:rPr lang="en-US" sz="1000"/>
              <a:t>Model 3 Code</a:t>
            </a:r>
          </a:p>
        </p:txBody>
      </p:sp>
      <p:sp>
        <p:nvSpPr>
          <p:cNvPr id="28" name="TextBox 27">
            <a:extLst>
              <a:ext uri="{FF2B5EF4-FFF2-40B4-BE49-F238E27FC236}">
                <a16:creationId xmlns:a16="http://schemas.microsoft.com/office/drawing/2014/main" id="{2C0A47C5-D79E-084E-B3D7-60C04A72E156}"/>
              </a:ext>
            </a:extLst>
          </p:cNvPr>
          <p:cNvSpPr txBox="1"/>
          <p:nvPr/>
        </p:nvSpPr>
        <p:spPr>
          <a:xfrm>
            <a:off x="8405098" y="5794536"/>
            <a:ext cx="959853" cy="253895"/>
          </a:xfrm>
          <a:prstGeom prst="rect">
            <a:avLst/>
          </a:prstGeom>
          <a:noFill/>
        </p:spPr>
        <p:txBody>
          <a:bodyPr wrap="square" rtlCol="0">
            <a:spAutoFit/>
          </a:bodyPr>
          <a:lstStyle/>
          <a:p>
            <a:r>
              <a:rPr lang="en-US" sz="1000"/>
              <a:t>Model 4 Code</a:t>
            </a:r>
          </a:p>
        </p:txBody>
      </p:sp>
    </p:spTree>
    <p:extLst>
      <p:ext uri="{BB962C8B-B14F-4D97-AF65-F5344CB8AC3E}">
        <p14:creationId xmlns:p14="http://schemas.microsoft.com/office/powerpoint/2010/main" val="29693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EE7D06-EC6E-7BE3-09D3-951FFB5843C9}"/>
              </a:ext>
            </a:extLst>
          </p:cNvPr>
          <p:cNvSpPr txBox="1"/>
          <p:nvPr/>
        </p:nvSpPr>
        <p:spPr>
          <a:xfrm>
            <a:off x="1569077" y="195329"/>
            <a:ext cx="9708521" cy="584775"/>
          </a:xfrm>
          <a:prstGeom prst="rect">
            <a:avLst/>
          </a:prstGeom>
          <a:gradFill rotWithShape="0">
            <a:gsLst>
              <a:gs pos="0">
                <a:srgbClr val="0669AC">
                  <a:shade val="80000"/>
                  <a:hueOff val="0"/>
                  <a:satOff val="0"/>
                  <a:lumOff val="0"/>
                  <a:alphaOff val="0"/>
                  <a:satMod val="103000"/>
                  <a:lumMod val="102000"/>
                  <a:tint val="94000"/>
                </a:srgbClr>
              </a:gs>
              <a:gs pos="50000">
                <a:srgbClr val="0669AC">
                  <a:shade val="80000"/>
                  <a:hueOff val="0"/>
                  <a:satOff val="0"/>
                  <a:lumOff val="0"/>
                  <a:alphaOff val="0"/>
                  <a:satMod val="110000"/>
                  <a:lumMod val="100000"/>
                  <a:shade val="100000"/>
                </a:srgbClr>
              </a:gs>
              <a:gs pos="100000">
                <a:srgbClr val="0669AC">
                  <a:shade val="80000"/>
                  <a:hueOff val="0"/>
                  <a:satOff val="0"/>
                  <a:lumOff val="0"/>
                  <a:alphaOff val="0"/>
                  <a:lumMod val="99000"/>
                  <a:satMod val="120000"/>
                  <a:shade val="78000"/>
                </a:srgbClr>
              </a:gs>
            </a:gsLst>
            <a:lin ang="5400000" scaled="0"/>
          </a:gradFill>
          <a:ln>
            <a:noFill/>
          </a:ln>
          <a:effectLst/>
          <a:scene3d>
            <a:camera prst="orthographicFront"/>
            <a:lightRig rig="flat" dir="t"/>
          </a:scene3d>
          <a:sp3d prstMaterial="plastic">
            <a:bevelT w="120900" h="88900"/>
            <a:bevelB w="88900" h="31750" prst="angle"/>
          </a:sp3d>
        </p:spPr>
        <p:txBody>
          <a:bodyPr spcFirstLastPara="0" vert="horz" wrap="square" lIns="121920" tIns="121920" rIns="121920" bIns="121920" numCol="1" spcCol="1270" anchor="ctr" anchorCtr="0">
            <a:noAutofit/>
          </a:bodyPr>
          <a:lstStyle>
            <a:lvl1pPr algn="ctr">
              <a:defRPr sz="3200" baseline="0">
                <a:latin typeface="+mj-lt"/>
              </a:defRPr>
            </a:lvl1pPr>
          </a:lstStyle>
          <a:p>
            <a:r>
              <a:rPr lang="en-US">
                <a:solidFill>
                  <a:schemeClr val="bg1"/>
                </a:solidFill>
              </a:rPr>
              <a:t>METHODS PART 3: MAXIMUM RMSE BASELINES</a:t>
            </a:r>
          </a:p>
        </p:txBody>
      </p:sp>
      <p:sp>
        <p:nvSpPr>
          <p:cNvPr id="5" name="TextBox 4">
            <a:extLst>
              <a:ext uri="{FF2B5EF4-FFF2-40B4-BE49-F238E27FC236}">
                <a16:creationId xmlns:a16="http://schemas.microsoft.com/office/drawing/2014/main" id="{6BCE4C47-30FB-9D1D-D3E2-244108918812}"/>
              </a:ext>
            </a:extLst>
          </p:cNvPr>
          <p:cNvSpPr txBox="1"/>
          <p:nvPr/>
        </p:nvSpPr>
        <p:spPr>
          <a:xfrm>
            <a:off x="2248436" y="826393"/>
            <a:ext cx="83444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In general, the RMSE metric was used to evaluate each model's performance</a:t>
            </a:r>
            <a:endParaRPr lang="en-US" b="1" i="1"/>
          </a:p>
        </p:txBody>
      </p:sp>
      <p:graphicFrame>
        <p:nvGraphicFramePr>
          <p:cNvPr id="6" name="Table 5">
            <a:extLst>
              <a:ext uri="{FF2B5EF4-FFF2-40B4-BE49-F238E27FC236}">
                <a16:creationId xmlns:a16="http://schemas.microsoft.com/office/drawing/2014/main" id="{89B9ED2D-FBAB-B1BC-A682-AAF609F3DAB4}"/>
              </a:ext>
            </a:extLst>
          </p:cNvPr>
          <p:cNvGraphicFramePr>
            <a:graphicFrameLocks noGrp="1"/>
          </p:cNvGraphicFramePr>
          <p:nvPr>
            <p:extLst>
              <p:ext uri="{D42A27DB-BD31-4B8C-83A1-F6EECF244321}">
                <p14:modId xmlns:p14="http://schemas.microsoft.com/office/powerpoint/2010/main" val="3696945944"/>
              </p:ext>
            </p:extLst>
          </p:nvPr>
        </p:nvGraphicFramePr>
        <p:xfrm>
          <a:off x="8723898" y="3262972"/>
          <a:ext cx="2762008" cy="1320800"/>
        </p:xfrm>
        <a:graphic>
          <a:graphicData uri="http://schemas.openxmlformats.org/drawingml/2006/table">
            <a:tbl>
              <a:tblPr firstRow="1" bandRow="1">
                <a:tableStyleId>{18603FDC-E32A-4AB5-989C-0864C3EAD2B8}</a:tableStyleId>
              </a:tblPr>
              <a:tblGrid>
                <a:gridCol w="1381004">
                  <a:extLst>
                    <a:ext uri="{9D8B030D-6E8A-4147-A177-3AD203B41FA5}">
                      <a16:colId xmlns:a16="http://schemas.microsoft.com/office/drawing/2014/main" val="1367030095"/>
                    </a:ext>
                  </a:extLst>
                </a:gridCol>
                <a:gridCol w="1381004">
                  <a:extLst>
                    <a:ext uri="{9D8B030D-6E8A-4147-A177-3AD203B41FA5}">
                      <a16:colId xmlns:a16="http://schemas.microsoft.com/office/drawing/2014/main" val="2960628788"/>
                    </a:ext>
                  </a:extLst>
                </a:gridCol>
              </a:tblGrid>
              <a:tr h="370840">
                <a:tc>
                  <a:txBody>
                    <a:bodyPr/>
                    <a:lstStyle/>
                    <a:p>
                      <a:pPr lvl="0">
                        <a:buNone/>
                      </a:pPr>
                      <a:r>
                        <a:rPr lang="en-US" sz="1600" b="1" i="0" u="none" strike="noStrike" noProof="0">
                          <a:latin typeface="Grandview Display"/>
                        </a:rPr>
                        <a:t>Dataset</a:t>
                      </a:r>
                      <a:endParaRPr lang="en-US" sz="1600" b="1"/>
                    </a:p>
                  </a:txBody>
                  <a:tcPr/>
                </a:tc>
                <a:tc>
                  <a:txBody>
                    <a:bodyPr/>
                    <a:lstStyle/>
                    <a:p>
                      <a:pPr lvl="0">
                        <a:buNone/>
                      </a:pPr>
                      <a:r>
                        <a:rPr lang="en-US" sz="1600" b="1" i="0" u="none" strike="noStrike" noProof="0">
                          <a:latin typeface="Grandview Display"/>
                        </a:rPr>
                        <a:t>Baseline RMSE</a:t>
                      </a:r>
                      <a:endParaRPr lang="en-US" sz="1600" b="1"/>
                    </a:p>
                  </a:txBody>
                  <a:tcPr/>
                </a:tc>
                <a:extLst>
                  <a:ext uri="{0D108BD9-81ED-4DB2-BD59-A6C34878D82A}">
                    <a16:rowId xmlns:a16="http://schemas.microsoft.com/office/drawing/2014/main" val="2015710737"/>
                  </a:ext>
                </a:extLst>
              </a:tr>
              <a:tr h="370840">
                <a:tc>
                  <a:txBody>
                    <a:bodyPr/>
                    <a:lstStyle/>
                    <a:p>
                      <a:pPr lvl="0">
                        <a:buNone/>
                      </a:pPr>
                      <a:r>
                        <a:rPr lang="en-US" sz="1600" b="0" i="0" u="none" strike="noStrike" noProof="0">
                          <a:latin typeface="Grandview Display"/>
                        </a:rPr>
                        <a:t>Validation set</a:t>
                      </a:r>
                      <a:endParaRPr lang="en-US" sz="1600"/>
                    </a:p>
                  </a:txBody>
                  <a:tcPr/>
                </a:tc>
                <a:tc>
                  <a:txBody>
                    <a:bodyPr/>
                    <a:lstStyle/>
                    <a:p>
                      <a:pPr lvl="0">
                        <a:buNone/>
                      </a:pPr>
                      <a:r>
                        <a:rPr lang="en-US" sz="1600" b="0" i="0" u="none" strike="noStrike" noProof="0">
                          <a:latin typeface="Grandview Display"/>
                        </a:rPr>
                        <a:t>0.5784</a:t>
                      </a:r>
                      <a:endParaRPr lang="en-US" sz="1600"/>
                    </a:p>
                  </a:txBody>
                  <a:tcPr/>
                </a:tc>
                <a:extLst>
                  <a:ext uri="{0D108BD9-81ED-4DB2-BD59-A6C34878D82A}">
                    <a16:rowId xmlns:a16="http://schemas.microsoft.com/office/drawing/2014/main" val="3384048016"/>
                  </a:ext>
                </a:extLst>
              </a:tr>
              <a:tr h="370840">
                <a:tc>
                  <a:txBody>
                    <a:bodyPr/>
                    <a:lstStyle/>
                    <a:p>
                      <a:pPr lvl="0">
                        <a:buNone/>
                      </a:pPr>
                      <a:r>
                        <a:rPr lang="en-US" sz="1600" b="0" i="0" u="none" strike="noStrike" noProof="0">
                          <a:latin typeface="Grandview Display"/>
                        </a:rPr>
                        <a:t>Test set</a:t>
                      </a:r>
                      <a:endParaRPr lang="en-US" sz="1600"/>
                    </a:p>
                  </a:txBody>
                  <a:tcPr/>
                </a:tc>
                <a:tc>
                  <a:txBody>
                    <a:bodyPr/>
                    <a:lstStyle/>
                    <a:p>
                      <a:pPr lvl="0">
                        <a:buNone/>
                      </a:pPr>
                      <a:r>
                        <a:rPr lang="en-US" sz="1600" b="0" i="0" u="none" strike="noStrike" noProof="0">
                          <a:latin typeface="Grandview Display"/>
                        </a:rPr>
                        <a:t>0.5747</a:t>
                      </a:r>
                      <a:endParaRPr lang="en-US" sz="1600"/>
                    </a:p>
                  </a:txBody>
                  <a:tcPr/>
                </a:tc>
                <a:extLst>
                  <a:ext uri="{0D108BD9-81ED-4DB2-BD59-A6C34878D82A}">
                    <a16:rowId xmlns:a16="http://schemas.microsoft.com/office/drawing/2014/main" val="1596122349"/>
                  </a:ext>
                </a:extLst>
              </a:tr>
            </a:tbl>
          </a:graphicData>
        </a:graphic>
      </p:graphicFrame>
      <p:sp>
        <p:nvSpPr>
          <p:cNvPr id="7" name="TextBox 6">
            <a:extLst>
              <a:ext uri="{FF2B5EF4-FFF2-40B4-BE49-F238E27FC236}">
                <a16:creationId xmlns:a16="http://schemas.microsoft.com/office/drawing/2014/main" id="{3D475209-3FA1-66E4-14C8-DE724DF1E09B}"/>
              </a:ext>
            </a:extLst>
          </p:cNvPr>
          <p:cNvSpPr txBox="1"/>
          <p:nvPr/>
        </p:nvSpPr>
        <p:spPr>
          <a:xfrm>
            <a:off x="2307464" y="1360330"/>
            <a:ext cx="283335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Training set Average Mean Funniness Score = </a:t>
            </a:r>
            <a:r>
              <a:rPr lang="en-US" sz="1600">
                <a:ea typeface="+mn-lt"/>
                <a:cs typeface="+mn-lt"/>
              </a:rPr>
              <a:t>0.9356</a:t>
            </a:r>
            <a:endParaRPr lang="en-US" sz="1600"/>
          </a:p>
        </p:txBody>
      </p:sp>
      <p:sp>
        <p:nvSpPr>
          <p:cNvPr id="9" name="TextBox 8">
            <a:extLst>
              <a:ext uri="{FF2B5EF4-FFF2-40B4-BE49-F238E27FC236}">
                <a16:creationId xmlns:a16="http://schemas.microsoft.com/office/drawing/2014/main" id="{0F1E7204-861C-F41B-5A98-DD45C527BA57}"/>
              </a:ext>
            </a:extLst>
          </p:cNvPr>
          <p:cNvSpPr txBox="1"/>
          <p:nvPr/>
        </p:nvSpPr>
        <p:spPr>
          <a:xfrm>
            <a:off x="190499" y="2173310"/>
            <a:ext cx="291116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Validation Set ("dev.csv"):</a:t>
            </a:r>
          </a:p>
        </p:txBody>
      </p:sp>
      <p:pic>
        <p:nvPicPr>
          <p:cNvPr id="10" name="Picture 9" descr="A table with numbers and a number on it&#10;&#10;Description automatically generated">
            <a:extLst>
              <a:ext uri="{FF2B5EF4-FFF2-40B4-BE49-F238E27FC236}">
                <a16:creationId xmlns:a16="http://schemas.microsoft.com/office/drawing/2014/main" id="{53CDD821-A011-A8D7-33BD-A3528BADFF66}"/>
              </a:ext>
            </a:extLst>
          </p:cNvPr>
          <p:cNvPicPr>
            <a:picLocks noChangeAspect="1"/>
          </p:cNvPicPr>
          <p:nvPr/>
        </p:nvPicPr>
        <p:blipFill>
          <a:blip r:embed="rId2"/>
          <a:stretch>
            <a:fillRect/>
          </a:stretch>
        </p:blipFill>
        <p:spPr>
          <a:xfrm>
            <a:off x="427887" y="2502057"/>
            <a:ext cx="1880986" cy="3860844"/>
          </a:xfrm>
          <a:prstGeom prst="rect">
            <a:avLst/>
          </a:prstGeom>
        </p:spPr>
      </p:pic>
      <p:pic>
        <p:nvPicPr>
          <p:cNvPr id="12" name="Picture 11">
            <a:extLst>
              <a:ext uri="{FF2B5EF4-FFF2-40B4-BE49-F238E27FC236}">
                <a16:creationId xmlns:a16="http://schemas.microsoft.com/office/drawing/2014/main" id="{C8D3B0AF-3872-E40C-1C33-9DAADD17C3A7}"/>
              </a:ext>
            </a:extLst>
          </p:cNvPr>
          <p:cNvPicPr>
            <a:picLocks noChangeAspect="1"/>
          </p:cNvPicPr>
          <p:nvPr/>
        </p:nvPicPr>
        <p:blipFill rotWithShape="1">
          <a:blip r:embed="rId3"/>
          <a:srcRect l="2146" t="864" r="1717" b="432"/>
          <a:stretch/>
        </p:blipFill>
        <p:spPr>
          <a:xfrm>
            <a:off x="4649340" y="2506655"/>
            <a:ext cx="2002311" cy="3878600"/>
          </a:xfrm>
          <a:prstGeom prst="rect">
            <a:avLst/>
          </a:prstGeom>
        </p:spPr>
      </p:pic>
      <p:sp>
        <p:nvSpPr>
          <p:cNvPr id="13" name="TextBox 12">
            <a:extLst>
              <a:ext uri="{FF2B5EF4-FFF2-40B4-BE49-F238E27FC236}">
                <a16:creationId xmlns:a16="http://schemas.microsoft.com/office/drawing/2014/main" id="{292D5A49-26D9-9228-5210-D4668EA0F376}"/>
              </a:ext>
            </a:extLst>
          </p:cNvPr>
          <p:cNvSpPr txBox="1"/>
          <p:nvPr/>
        </p:nvSpPr>
        <p:spPr>
          <a:xfrm>
            <a:off x="4647126" y="2213556"/>
            <a:ext cx="197207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Test Set ("test.csv")</a:t>
            </a:r>
          </a:p>
        </p:txBody>
      </p:sp>
      <p:cxnSp>
        <p:nvCxnSpPr>
          <p:cNvPr id="17" name="Straight Arrow Connector 16">
            <a:extLst>
              <a:ext uri="{FF2B5EF4-FFF2-40B4-BE49-F238E27FC236}">
                <a16:creationId xmlns:a16="http://schemas.microsoft.com/office/drawing/2014/main" id="{FFBDD5A8-B2C8-A42A-4E5C-44237D92586F}"/>
              </a:ext>
            </a:extLst>
          </p:cNvPr>
          <p:cNvCxnSpPr/>
          <p:nvPr/>
        </p:nvCxnSpPr>
        <p:spPr>
          <a:xfrm flipH="1">
            <a:off x="1862472" y="1629579"/>
            <a:ext cx="362755" cy="431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8C51C3D-9303-BDB0-0131-C891B2CA1C26}"/>
              </a:ext>
            </a:extLst>
          </p:cNvPr>
          <p:cNvCxnSpPr/>
          <p:nvPr/>
        </p:nvCxnSpPr>
        <p:spPr>
          <a:xfrm>
            <a:off x="4836554" y="1697329"/>
            <a:ext cx="946597" cy="474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C7174E3-3403-29B0-781F-A1A212C587DD}"/>
              </a:ext>
            </a:extLst>
          </p:cNvPr>
          <p:cNvSpPr/>
          <p:nvPr/>
        </p:nvSpPr>
        <p:spPr>
          <a:xfrm>
            <a:off x="93907" y="1255690"/>
            <a:ext cx="7212169" cy="55057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E807A2FB-A8DB-E18C-BFCB-C9735CA5224D}"/>
              </a:ext>
            </a:extLst>
          </p:cNvPr>
          <p:cNvSpPr/>
          <p:nvPr/>
        </p:nvSpPr>
        <p:spPr>
          <a:xfrm>
            <a:off x="7555605" y="3780485"/>
            <a:ext cx="903757" cy="2782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747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EE7D06-EC6E-7BE3-09D3-951FFB5843C9}"/>
              </a:ext>
            </a:extLst>
          </p:cNvPr>
          <p:cNvSpPr txBox="1"/>
          <p:nvPr/>
        </p:nvSpPr>
        <p:spPr>
          <a:xfrm>
            <a:off x="1569077" y="195329"/>
            <a:ext cx="9708521" cy="584775"/>
          </a:xfrm>
          <a:prstGeom prst="rect">
            <a:avLst/>
          </a:prstGeom>
          <a:gradFill rotWithShape="0">
            <a:gsLst>
              <a:gs pos="0">
                <a:srgbClr val="0669AC">
                  <a:shade val="80000"/>
                  <a:hueOff val="0"/>
                  <a:satOff val="0"/>
                  <a:lumOff val="0"/>
                  <a:alphaOff val="0"/>
                  <a:satMod val="103000"/>
                  <a:lumMod val="102000"/>
                  <a:tint val="94000"/>
                </a:srgbClr>
              </a:gs>
              <a:gs pos="50000">
                <a:srgbClr val="0669AC">
                  <a:shade val="80000"/>
                  <a:hueOff val="0"/>
                  <a:satOff val="0"/>
                  <a:lumOff val="0"/>
                  <a:alphaOff val="0"/>
                  <a:satMod val="110000"/>
                  <a:lumMod val="100000"/>
                  <a:shade val="100000"/>
                </a:srgbClr>
              </a:gs>
              <a:gs pos="100000">
                <a:srgbClr val="0669AC">
                  <a:shade val="80000"/>
                  <a:hueOff val="0"/>
                  <a:satOff val="0"/>
                  <a:lumOff val="0"/>
                  <a:alphaOff val="0"/>
                  <a:lumMod val="99000"/>
                  <a:satMod val="120000"/>
                  <a:shade val="78000"/>
                </a:srgbClr>
              </a:gs>
            </a:gsLst>
            <a:lin ang="5400000" scaled="0"/>
          </a:gradFill>
          <a:ln>
            <a:noFill/>
          </a:ln>
          <a:effectLst/>
          <a:scene3d>
            <a:camera prst="orthographicFront"/>
            <a:lightRig rig="flat" dir="t"/>
          </a:scene3d>
          <a:sp3d prstMaterial="plastic">
            <a:bevelT w="120900" h="88900"/>
            <a:bevelB w="88900" h="31750" prst="angle"/>
          </a:sp3d>
        </p:spPr>
        <p:txBody>
          <a:bodyPr spcFirstLastPara="0" vert="horz" wrap="square" lIns="121920" tIns="121920" rIns="121920" bIns="121920" numCol="1" spcCol="1270" anchor="ctr" anchorCtr="0">
            <a:noAutofit/>
          </a:bodyPr>
          <a:lstStyle>
            <a:lvl1pPr algn="ctr">
              <a:defRPr sz="3200" baseline="0">
                <a:latin typeface="+mj-lt"/>
              </a:defRPr>
            </a:lvl1pPr>
          </a:lstStyle>
          <a:p>
            <a:r>
              <a:rPr lang="en-US">
                <a:solidFill>
                  <a:schemeClr val="bg1"/>
                </a:solidFill>
              </a:rPr>
              <a:t>METHODS PART 4: CHOOSING THE BEST MODEL</a:t>
            </a:r>
          </a:p>
        </p:txBody>
      </p:sp>
      <p:graphicFrame>
        <p:nvGraphicFramePr>
          <p:cNvPr id="6" name="Table 5">
            <a:extLst>
              <a:ext uri="{FF2B5EF4-FFF2-40B4-BE49-F238E27FC236}">
                <a16:creationId xmlns:a16="http://schemas.microsoft.com/office/drawing/2014/main" id="{89B9ED2D-FBAB-B1BC-A682-AAF609F3DAB4}"/>
              </a:ext>
            </a:extLst>
          </p:cNvPr>
          <p:cNvGraphicFramePr>
            <a:graphicFrameLocks noGrp="1"/>
          </p:cNvGraphicFramePr>
          <p:nvPr>
            <p:extLst>
              <p:ext uri="{D42A27DB-BD31-4B8C-83A1-F6EECF244321}">
                <p14:modId xmlns:p14="http://schemas.microsoft.com/office/powerpoint/2010/main" val="103963007"/>
              </p:ext>
            </p:extLst>
          </p:nvPr>
        </p:nvGraphicFramePr>
        <p:xfrm>
          <a:off x="2140468" y="5551953"/>
          <a:ext cx="2762008" cy="1112520"/>
        </p:xfrm>
        <a:graphic>
          <a:graphicData uri="http://schemas.openxmlformats.org/drawingml/2006/table">
            <a:tbl>
              <a:tblPr firstRow="1" bandRow="1">
                <a:tableStyleId>{18603FDC-E32A-4AB5-989C-0864C3EAD2B8}</a:tableStyleId>
              </a:tblPr>
              <a:tblGrid>
                <a:gridCol w="1381004">
                  <a:extLst>
                    <a:ext uri="{9D8B030D-6E8A-4147-A177-3AD203B41FA5}">
                      <a16:colId xmlns:a16="http://schemas.microsoft.com/office/drawing/2014/main" val="1367030095"/>
                    </a:ext>
                  </a:extLst>
                </a:gridCol>
                <a:gridCol w="1381004">
                  <a:extLst>
                    <a:ext uri="{9D8B030D-6E8A-4147-A177-3AD203B41FA5}">
                      <a16:colId xmlns:a16="http://schemas.microsoft.com/office/drawing/2014/main" val="2960628788"/>
                    </a:ext>
                  </a:extLst>
                </a:gridCol>
              </a:tblGrid>
              <a:tr h="370840">
                <a:tc>
                  <a:txBody>
                    <a:bodyPr/>
                    <a:lstStyle/>
                    <a:p>
                      <a:pPr lvl="0">
                        <a:buNone/>
                      </a:pPr>
                      <a:r>
                        <a:rPr lang="en-US" sz="1200" b="1" i="0" u="none" strike="noStrike" noProof="0">
                          <a:latin typeface="Grandview Display"/>
                        </a:rPr>
                        <a:t>Dataset</a:t>
                      </a:r>
                      <a:endParaRPr lang="en-US" sz="1200" b="1"/>
                    </a:p>
                  </a:txBody>
                  <a:tcPr/>
                </a:tc>
                <a:tc>
                  <a:txBody>
                    <a:bodyPr/>
                    <a:lstStyle/>
                    <a:p>
                      <a:pPr lvl="0">
                        <a:buNone/>
                      </a:pPr>
                      <a:r>
                        <a:rPr lang="en-US" sz="1200" b="1" i="0" u="none" strike="noStrike" noProof="0">
                          <a:latin typeface="Grandview Display"/>
                        </a:rPr>
                        <a:t>Baseline RMSE</a:t>
                      </a:r>
                      <a:endParaRPr lang="en-US" sz="1200" b="1"/>
                    </a:p>
                  </a:txBody>
                  <a:tcPr/>
                </a:tc>
                <a:extLst>
                  <a:ext uri="{0D108BD9-81ED-4DB2-BD59-A6C34878D82A}">
                    <a16:rowId xmlns:a16="http://schemas.microsoft.com/office/drawing/2014/main" val="2015710737"/>
                  </a:ext>
                </a:extLst>
              </a:tr>
              <a:tr h="370840">
                <a:tc>
                  <a:txBody>
                    <a:bodyPr/>
                    <a:lstStyle/>
                    <a:p>
                      <a:pPr lvl="0">
                        <a:buNone/>
                      </a:pPr>
                      <a:r>
                        <a:rPr lang="en-US" sz="1200" b="0" i="0" u="none" strike="noStrike" noProof="0">
                          <a:latin typeface="Grandview Display"/>
                        </a:rPr>
                        <a:t>Validation set</a:t>
                      </a:r>
                      <a:endParaRPr lang="en-US" sz="1200"/>
                    </a:p>
                  </a:txBody>
                  <a:tcPr/>
                </a:tc>
                <a:tc>
                  <a:txBody>
                    <a:bodyPr/>
                    <a:lstStyle/>
                    <a:p>
                      <a:pPr lvl="0">
                        <a:buNone/>
                      </a:pPr>
                      <a:r>
                        <a:rPr lang="en-US" sz="1200" b="0" i="0" u="none" strike="noStrike" noProof="0">
                          <a:latin typeface="Grandview Display"/>
                        </a:rPr>
                        <a:t>0.5784</a:t>
                      </a:r>
                      <a:endParaRPr lang="en-US" sz="1200"/>
                    </a:p>
                  </a:txBody>
                  <a:tcPr/>
                </a:tc>
                <a:extLst>
                  <a:ext uri="{0D108BD9-81ED-4DB2-BD59-A6C34878D82A}">
                    <a16:rowId xmlns:a16="http://schemas.microsoft.com/office/drawing/2014/main" val="3384048016"/>
                  </a:ext>
                </a:extLst>
              </a:tr>
              <a:tr h="370840">
                <a:tc>
                  <a:txBody>
                    <a:bodyPr/>
                    <a:lstStyle/>
                    <a:p>
                      <a:pPr lvl="0">
                        <a:buNone/>
                      </a:pPr>
                      <a:r>
                        <a:rPr lang="en-US" sz="1200" b="0" i="0" u="none" strike="noStrike" noProof="0">
                          <a:latin typeface="Grandview Display"/>
                        </a:rPr>
                        <a:t>Test set</a:t>
                      </a:r>
                      <a:endParaRPr lang="en-US" sz="1200"/>
                    </a:p>
                  </a:txBody>
                  <a:tcPr/>
                </a:tc>
                <a:tc>
                  <a:txBody>
                    <a:bodyPr/>
                    <a:lstStyle/>
                    <a:p>
                      <a:pPr lvl="0">
                        <a:buNone/>
                      </a:pPr>
                      <a:r>
                        <a:rPr lang="en-US" sz="1200" b="0" i="0" u="none" strike="noStrike" noProof="0">
                          <a:latin typeface="Grandview Display"/>
                        </a:rPr>
                        <a:t>0.5747</a:t>
                      </a:r>
                      <a:endParaRPr lang="en-US" sz="1200"/>
                    </a:p>
                  </a:txBody>
                  <a:tcPr/>
                </a:tc>
                <a:extLst>
                  <a:ext uri="{0D108BD9-81ED-4DB2-BD59-A6C34878D82A}">
                    <a16:rowId xmlns:a16="http://schemas.microsoft.com/office/drawing/2014/main" val="1596122349"/>
                  </a:ext>
                </a:extLst>
              </a:tr>
            </a:tbl>
          </a:graphicData>
        </a:graphic>
      </p:graphicFrame>
      <p:graphicFrame>
        <p:nvGraphicFramePr>
          <p:cNvPr id="8" name="Table 7">
            <a:extLst>
              <a:ext uri="{FF2B5EF4-FFF2-40B4-BE49-F238E27FC236}">
                <a16:creationId xmlns:a16="http://schemas.microsoft.com/office/drawing/2014/main" id="{904619F2-0457-7A1D-CB2A-79BD1C5669B3}"/>
              </a:ext>
            </a:extLst>
          </p:cNvPr>
          <p:cNvGraphicFramePr>
            <a:graphicFrameLocks noGrp="1"/>
          </p:cNvGraphicFramePr>
          <p:nvPr>
            <p:extLst>
              <p:ext uri="{D42A27DB-BD31-4B8C-83A1-F6EECF244321}">
                <p14:modId xmlns:p14="http://schemas.microsoft.com/office/powerpoint/2010/main" val="4140030110"/>
              </p:ext>
            </p:extLst>
          </p:nvPr>
        </p:nvGraphicFramePr>
        <p:xfrm>
          <a:off x="268310" y="1083972"/>
          <a:ext cx="6618269" cy="4287490"/>
        </p:xfrm>
        <a:graphic>
          <a:graphicData uri="http://schemas.openxmlformats.org/drawingml/2006/table">
            <a:tbl>
              <a:tblPr firstRow="1" bandRow="1">
                <a:tableStyleId>{18603FDC-E32A-4AB5-989C-0864C3EAD2B8}</a:tableStyleId>
              </a:tblPr>
              <a:tblGrid>
                <a:gridCol w="725648">
                  <a:extLst>
                    <a:ext uri="{9D8B030D-6E8A-4147-A177-3AD203B41FA5}">
                      <a16:colId xmlns:a16="http://schemas.microsoft.com/office/drawing/2014/main" val="1724539584"/>
                    </a:ext>
                  </a:extLst>
                </a:gridCol>
                <a:gridCol w="2176944">
                  <a:extLst>
                    <a:ext uri="{9D8B030D-6E8A-4147-A177-3AD203B41FA5}">
                      <a16:colId xmlns:a16="http://schemas.microsoft.com/office/drawing/2014/main" val="3285785908"/>
                    </a:ext>
                  </a:extLst>
                </a:gridCol>
                <a:gridCol w="2046937">
                  <a:extLst>
                    <a:ext uri="{9D8B030D-6E8A-4147-A177-3AD203B41FA5}">
                      <a16:colId xmlns:a16="http://schemas.microsoft.com/office/drawing/2014/main" val="2103733421"/>
                    </a:ext>
                  </a:extLst>
                </a:gridCol>
                <a:gridCol w="834370">
                  <a:extLst>
                    <a:ext uri="{9D8B030D-6E8A-4147-A177-3AD203B41FA5}">
                      <a16:colId xmlns:a16="http://schemas.microsoft.com/office/drawing/2014/main" val="2200579315"/>
                    </a:ext>
                  </a:extLst>
                </a:gridCol>
                <a:gridCol w="834370">
                  <a:extLst>
                    <a:ext uri="{9D8B030D-6E8A-4147-A177-3AD203B41FA5}">
                      <a16:colId xmlns:a16="http://schemas.microsoft.com/office/drawing/2014/main" val="1864715665"/>
                    </a:ext>
                  </a:extLst>
                </a:gridCol>
              </a:tblGrid>
              <a:tr h="389293">
                <a:tc>
                  <a:txBody>
                    <a:bodyPr/>
                    <a:lstStyle/>
                    <a:p>
                      <a:pPr lvl="0">
                        <a:buNone/>
                      </a:pPr>
                      <a:r>
                        <a:rPr lang="en-US" sz="1200"/>
                        <a:t>Model Number</a:t>
                      </a:r>
                    </a:p>
                  </a:txBody>
                  <a:tcPr/>
                </a:tc>
                <a:tc>
                  <a:txBody>
                    <a:bodyPr/>
                    <a:lstStyle/>
                    <a:p>
                      <a:r>
                        <a:rPr lang="en-US" sz="1200"/>
                        <a:t>Learning Rate Decay Method</a:t>
                      </a:r>
                    </a:p>
                  </a:txBody>
                  <a:tcPr/>
                </a:tc>
                <a:tc>
                  <a:txBody>
                    <a:bodyPr/>
                    <a:lstStyle/>
                    <a:p>
                      <a:r>
                        <a:rPr lang="en-US" sz="1200"/>
                        <a:t>Hyperparameters (Description)</a:t>
                      </a:r>
                    </a:p>
                  </a:txBody>
                  <a:tcPr/>
                </a:tc>
                <a:tc>
                  <a:txBody>
                    <a:bodyPr/>
                    <a:lstStyle/>
                    <a:p>
                      <a:r>
                        <a:rPr lang="en-US" sz="1200"/>
                        <a:t>Optimizer</a:t>
                      </a:r>
                    </a:p>
                  </a:txBody>
                  <a:tcPr/>
                </a:tc>
                <a:tc>
                  <a:txBody>
                    <a:bodyPr/>
                    <a:lstStyle/>
                    <a:p>
                      <a:pPr lvl="0">
                        <a:buNone/>
                      </a:pPr>
                      <a:r>
                        <a:rPr lang="en-US" sz="1200"/>
                        <a:t>Training </a:t>
                      </a:r>
                    </a:p>
                    <a:p>
                      <a:pPr lvl="0">
                        <a:buNone/>
                      </a:pPr>
                      <a:r>
                        <a:rPr lang="en-US" sz="1200"/>
                        <a:t>Set</a:t>
                      </a:r>
                    </a:p>
                  </a:txBody>
                  <a:tcPr/>
                </a:tc>
                <a:extLst>
                  <a:ext uri="{0D108BD9-81ED-4DB2-BD59-A6C34878D82A}">
                    <a16:rowId xmlns:a16="http://schemas.microsoft.com/office/drawing/2014/main" val="2750600487"/>
                  </a:ext>
                </a:extLst>
              </a:tr>
              <a:tr h="886265">
                <a:tc>
                  <a:txBody>
                    <a:bodyPr/>
                    <a:lstStyle/>
                    <a:p>
                      <a:pPr lvl="0">
                        <a:buNone/>
                      </a:pPr>
                      <a:r>
                        <a:rPr lang="en-US" sz="1200"/>
                        <a:t>1</a:t>
                      </a:r>
                    </a:p>
                  </a:txBody>
                  <a:tcPr/>
                </a:tc>
                <a:tc>
                  <a:txBody>
                    <a:bodyPr/>
                    <a:lstStyle/>
                    <a:p>
                      <a:r>
                        <a:rPr lang="en-US" sz="1200" dirty="0"/>
                        <a:t>Exponential Decay Learning Rate Scheduler to Decrease Learning Rate every 603 Batches</a:t>
                      </a:r>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steps = 603</a:t>
                      </a:r>
                    </a:p>
                    <a:p>
                      <a:pPr marL="285750" lvl="0" indent="-285750">
                        <a:buFont typeface="Arial"/>
                        <a:buChar char="•"/>
                      </a:pPr>
                      <a:r>
                        <a:rPr lang="en-US" sz="1200"/>
                        <a:t>Decay rate = 0.9</a:t>
                      </a:r>
                    </a:p>
                    <a:p>
                      <a:pPr marL="285750" lvl="0" indent="-285750">
                        <a:buFont typeface="Arial"/>
                        <a:buChar char="•"/>
                      </a:pPr>
                      <a:r>
                        <a:rPr lang="en-US" sz="1200"/>
                        <a:t>Epochs = 3</a:t>
                      </a:r>
                    </a:p>
                  </a:txBody>
                  <a:tcPr/>
                </a:tc>
                <a:tc>
                  <a:txBody>
                    <a:bodyPr/>
                    <a:lstStyle/>
                    <a:p>
                      <a:r>
                        <a:rPr lang="en-US" sz="1200"/>
                        <a:t>RMSprop</a:t>
                      </a:r>
                    </a:p>
                  </a:txBody>
                  <a:tcPr/>
                </a:tc>
                <a:tc>
                  <a:txBody>
                    <a:bodyPr/>
                    <a:lstStyle/>
                    <a:p>
                      <a:pPr lvl="0">
                        <a:buNone/>
                      </a:pPr>
                      <a:r>
                        <a:rPr lang="en-US" sz="1200"/>
                        <a:t>Train.csv</a:t>
                      </a:r>
                    </a:p>
                  </a:txBody>
                  <a:tcPr/>
                </a:tc>
                <a:extLst>
                  <a:ext uri="{0D108BD9-81ED-4DB2-BD59-A6C34878D82A}">
                    <a16:rowId xmlns:a16="http://schemas.microsoft.com/office/drawing/2014/main" val="371029125"/>
                  </a:ext>
                </a:extLst>
              </a:tr>
              <a:tr h="1051920">
                <a:tc>
                  <a:txBody>
                    <a:bodyPr/>
                    <a:lstStyle/>
                    <a:p>
                      <a:pPr lvl="0">
                        <a:buNone/>
                      </a:pPr>
                      <a:r>
                        <a:rPr lang="en-US" sz="1200" b="0" i="0" u="none" strike="noStrike" noProof="0">
                          <a:solidFill>
                            <a:srgbClr val="FFFFFF"/>
                          </a:solidFill>
                          <a:latin typeface="Grandview Display"/>
                        </a:rPr>
                        <a:t>2</a:t>
                      </a:r>
                    </a:p>
                  </a:txBody>
                  <a:tcPr/>
                </a:tc>
                <a:tc>
                  <a:txBody>
                    <a:bodyPr/>
                    <a:lstStyle/>
                    <a:p>
                      <a:r>
                        <a:rPr lang="en-US" sz="1200" dirty="0"/>
                        <a:t>Exponential Decay Learning Rate Scheduler to Decrease Learning Rate every 603 Batches</a:t>
                      </a:r>
                    </a:p>
                  </a:txBody>
                  <a:tcPr/>
                </a:tc>
                <a:tc>
                  <a:txBody>
                    <a:bodyPr/>
                    <a:lstStyle/>
                    <a:p>
                      <a:pPr marL="285750" lvl="0" indent="-285750" algn="l">
                        <a:lnSpc>
                          <a:spcPct val="100000"/>
                        </a:lnSpc>
                        <a:buFont typeface="Arial"/>
                        <a:buChar char="•"/>
                      </a:pPr>
                      <a:r>
                        <a:rPr lang="en-US" sz="1200" b="0" i="0" u="none" strike="noStrike" baseline="0" noProof="0">
                          <a:solidFill>
                            <a:srgbClr val="FFFFFF"/>
                          </a:solidFill>
                          <a:latin typeface="Grandview Display"/>
                        </a:rPr>
                        <a:t>Initial learning rate = 1e-5</a:t>
                      </a:r>
                    </a:p>
                    <a:p>
                      <a:pPr marL="285750" lvl="0" indent="-285750" algn="l">
                        <a:lnSpc>
                          <a:spcPct val="100000"/>
                        </a:lnSpc>
                        <a:buFont typeface="Arial"/>
                        <a:buChar char="•"/>
                      </a:pPr>
                      <a:r>
                        <a:rPr lang="en-US" sz="1200" b="0" i="0" u="none" strike="noStrike" baseline="0" noProof="0">
                          <a:solidFill>
                            <a:srgbClr val="FFFFFF"/>
                          </a:solidFill>
                          <a:latin typeface="Grandview Display"/>
                        </a:rPr>
                        <a:t>Decay steps = 603</a:t>
                      </a:r>
                    </a:p>
                    <a:p>
                      <a:pPr marL="285750" lvl="0" indent="-285750">
                        <a:buFont typeface="Arial"/>
                        <a:buChar char="•"/>
                      </a:pPr>
                      <a:r>
                        <a:rPr lang="en-US" sz="1200" b="0" i="0" u="none" strike="noStrike" baseline="0" noProof="0">
                          <a:solidFill>
                            <a:srgbClr val="FFFFFF"/>
                          </a:solidFill>
                          <a:latin typeface="Grandview Display"/>
                        </a:rPr>
                        <a:t>Decay rate = 0.9</a:t>
                      </a:r>
                    </a:p>
                    <a:p>
                      <a:pPr marL="285750" lvl="0" indent="-285750">
                        <a:buFont typeface="Arial"/>
                        <a:buChar char="•"/>
                      </a:pPr>
                      <a:r>
                        <a:rPr lang="en-US" sz="1200" b="0" i="0" u="none" strike="noStrike" baseline="0" noProof="0">
                          <a:solidFill>
                            <a:srgbClr val="FFFFFF"/>
                          </a:solidFill>
                          <a:latin typeface="Grandview Display"/>
                        </a:rPr>
                        <a:t>Epochs = 3</a:t>
                      </a:r>
                    </a:p>
                  </a:txBody>
                  <a:tcPr/>
                </a:tc>
                <a:tc>
                  <a:txBody>
                    <a:bodyPr/>
                    <a:lstStyle/>
                    <a:p>
                      <a:r>
                        <a:rPr lang="en-US" sz="1200"/>
                        <a:t>Adam</a:t>
                      </a:r>
                    </a:p>
                  </a:txBody>
                  <a:tcPr/>
                </a:tc>
                <a:tc>
                  <a:txBody>
                    <a:bodyPr/>
                    <a:lstStyle/>
                    <a:p>
                      <a:pPr lvl="0">
                        <a:buNone/>
                      </a:pPr>
                      <a:r>
                        <a:rPr lang="en-US" sz="1200"/>
                        <a:t>Train.csv</a:t>
                      </a:r>
                    </a:p>
                  </a:txBody>
                  <a:tcPr/>
                </a:tc>
                <a:extLst>
                  <a:ext uri="{0D108BD9-81ED-4DB2-BD59-A6C34878D82A}">
                    <a16:rowId xmlns:a16="http://schemas.microsoft.com/office/drawing/2014/main" val="2012407621"/>
                  </a:ext>
                </a:extLst>
              </a:tr>
              <a:tr h="886265">
                <a:tc>
                  <a:txBody>
                    <a:bodyPr/>
                    <a:lstStyle/>
                    <a:p>
                      <a:pPr lvl="0">
                        <a:buNone/>
                      </a:pPr>
                      <a:r>
                        <a:rPr lang="en-US" sz="1200"/>
                        <a:t>3</a:t>
                      </a:r>
                    </a:p>
                  </a:txBody>
                  <a:tcPr/>
                </a:tc>
                <a:tc>
                  <a:txBody>
                    <a:bodyPr/>
                    <a:lstStyle/>
                    <a:p>
                      <a:pPr lvl="0">
                        <a:buNone/>
                      </a:pPr>
                      <a:r>
                        <a:rPr lang="en-US" sz="1200" b="0" i="0" u="none" strike="noStrike" noProof="0">
                          <a:solidFill>
                            <a:srgbClr val="FFFFFF"/>
                          </a:solidFill>
                          <a:latin typeface="Grandview Display"/>
                        </a:rPr>
                        <a:t>Constant decay factor to exponentially decrease learning rate every subsequent batch</a:t>
                      </a:r>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factor = 1e-8</a:t>
                      </a:r>
                    </a:p>
                    <a:p>
                      <a:pPr marL="285750" lvl="0" indent="-285750">
                        <a:buFont typeface="Arial"/>
                        <a:buChar char="•"/>
                      </a:pPr>
                      <a:r>
                        <a:rPr lang="en-US" sz="1200"/>
                        <a:t>Epochs = 3</a:t>
                      </a:r>
                    </a:p>
                  </a:txBody>
                  <a:tcPr/>
                </a:tc>
                <a:tc>
                  <a:txBody>
                    <a:bodyPr/>
                    <a:lstStyle/>
                    <a:p>
                      <a:r>
                        <a:rPr lang="en-US" sz="1200"/>
                        <a:t>RMSprop</a:t>
                      </a:r>
                    </a:p>
                  </a:txBody>
                  <a:tcPr/>
                </a:tc>
                <a:tc>
                  <a:txBody>
                    <a:bodyPr/>
                    <a:lstStyle/>
                    <a:p>
                      <a:pPr lvl="0">
                        <a:buNone/>
                      </a:pPr>
                      <a:r>
                        <a:rPr lang="en-US" sz="1200"/>
                        <a:t>Train.csv</a:t>
                      </a:r>
                    </a:p>
                  </a:txBody>
                  <a:tcPr/>
                </a:tc>
                <a:extLst>
                  <a:ext uri="{0D108BD9-81ED-4DB2-BD59-A6C34878D82A}">
                    <a16:rowId xmlns:a16="http://schemas.microsoft.com/office/drawing/2014/main" val="4125178034"/>
                  </a:ext>
                </a:extLst>
              </a:tr>
              <a:tr h="886265">
                <a:tc>
                  <a:txBody>
                    <a:bodyPr/>
                    <a:lstStyle/>
                    <a:p>
                      <a:pPr lvl="0">
                        <a:buNone/>
                      </a:pPr>
                      <a:r>
                        <a:rPr lang="en-US" sz="1200" b="0" i="0" u="none" strike="noStrike" noProof="0">
                          <a:solidFill>
                            <a:srgbClr val="FFFFFF"/>
                          </a:solidFill>
                          <a:latin typeface="Grandview Display"/>
                        </a:rPr>
                        <a:t>4</a:t>
                      </a:r>
                    </a:p>
                  </a:txBody>
                  <a:tcPr/>
                </a:tc>
                <a:tc>
                  <a:txBody>
                    <a:bodyPr/>
                    <a:lstStyle/>
                    <a:p>
                      <a:pPr lvl="0">
                        <a:buNone/>
                      </a:pPr>
                      <a:r>
                        <a:rPr lang="en-US" sz="1200" b="0" i="0" u="none" strike="noStrike" noProof="0">
                          <a:solidFill>
                            <a:srgbClr val="FFFFFF"/>
                          </a:solidFill>
                        </a:rPr>
                        <a:t>Constant decay factor to exponentially decrease learning rate every subsequent batch</a:t>
                      </a:r>
                      <a:endParaRPr lang="en-US"/>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factor = 1e-8</a:t>
                      </a:r>
                    </a:p>
                    <a:p>
                      <a:pPr marL="285750" lvl="0" indent="-285750">
                        <a:buFont typeface="Arial"/>
                        <a:buChar char="•"/>
                      </a:pPr>
                      <a:r>
                        <a:rPr lang="en-US" sz="1200"/>
                        <a:t>Epochs = 3</a:t>
                      </a:r>
                    </a:p>
                  </a:txBody>
                  <a:tcPr/>
                </a:tc>
                <a:tc>
                  <a:txBody>
                    <a:bodyPr/>
                    <a:lstStyle/>
                    <a:p>
                      <a:r>
                        <a:rPr lang="en-US" sz="1200"/>
                        <a:t>Adam</a:t>
                      </a:r>
                    </a:p>
                  </a:txBody>
                  <a:tcPr/>
                </a:tc>
                <a:tc>
                  <a:txBody>
                    <a:bodyPr/>
                    <a:lstStyle/>
                    <a:p>
                      <a:pPr lvl="0">
                        <a:buNone/>
                      </a:pPr>
                      <a:r>
                        <a:rPr lang="en-US" sz="1200" dirty="0"/>
                        <a:t>Train.csv</a:t>
                      </a:r>
                    </a:p>
                  </a:txBody>
                  <a:tcPr/>
                </a:tc>
                <a:extLst>
                  <a:ext uri="{0D108BD9-81ED-4DB2-BD59-A6C34878D82A}">
                    <a16:rowId xmlns:a16="http://schemas.microsoft.com/office/drawing/2014/main" val="886463337"/>
                  </a:ext>
                </a:extLst>
              </a:tr>
            </a:tbl>
          </a:graphicData>
        </a:graphic>
      </p:graphicFrame>
      <p:cxnSp>
        <p:nvCxnSpPr>
          <p:cNvPr id="20" name="Straight Arrow Connector 19">
            <a:extLst>
              <a:ext uri="{FF2B5EF4-FFF2-40B4-BE49-F238E27FC236}">
                <a16:creationId xmlns:a16="http://schemas.microsoft.com/office/drawing/2014/main" id="{FE58154D-8293-325B-A38E-E7D112758A6D}"/>
              </a:ext>
            </a:extLst>
          </p:cNvPr>
          <p:cNvCxnSpPr/>
          <p:nvPr/>
        </p:nvCxnSpPr>
        <p:spPr>
          <a:xfrm>
            <a:off x="6945320" y="2109780"/>
            <a:ext cx="2326306" cy="1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1E6B38A-815B-81E9-BAB3-A7692543D085}"/>
              </a:ext>
            </a:extLst>
          </p:cNvPr>
          <p:cNvSpPr txBox="1"/>
          <p:nvPr/>
        </p:nvSpPr>
        <p:spPr>
          <a:xfrm>
            <a:off x="9466792" y="1857374"/>
            <a:ext cx="2201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 RMSE against Validation Set (dev.csv)</a:t>
            </a:r>
          </a:p>
        </p:txBody>
      </p:sp>
      <p:cxnSp>
        <p:nvCxnSpPr>
          <p:cNvPr id="22" name="Straight Arrow Connector 21">
            <a:extLst>
              <a:ext uri="{FF2B5EF4-FFF2-40B4-BE49-F238E27FC236}">
                <a16:creationId xmlns:a16="http://schemas.microsoft.com/office/drawing/2014/main" id="{B67636D0-72E3-D64B-29E2-5F826701E60E}"/>
              </a:ext>
            </a:extLst>
          </p:cNvPr>
          <p:cNvCxnSpPr>
            <a:cxnSpLocks/>
          </p:cNvCxnSpPr>
          <p:nvPr/>
        </p:nvCxnSpPr>
        <p:spPr>
          <a:xfrm>
            <a:off x="6998236" y="3094029"/>
            <a:ext cx="2326306" cy="1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0CDA107-5751-977E-66B6-8712285BEF40}"/>
              </a:ext>
            </a:extLst>
          </p:cNvPr>
          <p:cNvSpPr txBox="1"/>
          <p:nvPr/>
        </p:nvSpPr>
        <p:spPr>
          <a:xfrm>
            <a:off x="9519708" y="2841623"/>
            <a:ext cx="2201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 RMSE against Validation Set (dev.csv)</a:t>
            </a:r>
          </a:p>
        </p:txBody>
      </p:sp>
      <p:cxnSp>
        <p:nvCxnSpPr>
          <p:cNvPr id="24" name="Straight Arrow Connector 23">
            <a:extLst>
              <a:ext uri="{FF2B5EF4-FFF2-40B4-BE49-F238E27FC236}">
                <a16:creationId xmlns:a16="http://schemas.microsoft.com/office/drawing/2014/main" id="{8D9E3023-C3CD-3A74-E2AC-546E8AFBA97E}"/>
              </a:ext>
            </a:extLst>
          </p:cNvPr>
          <p:cNvCxnSpPr>
            <a:cxnSpLocks/>
          </p:cNvCxnSpPr>
          <p:nvPr/>
        </p:nvCxnSpPr>
        <p:spPr>
          <a:xfrm>
            <a:off x="6987653" y="4057113"/>
            <a:ext cx="2326306" cy="1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6A545BB-6023-88FD-0506-80A611A0FEFB}"/>
              </a:ext>
            </a:extLst>
          </p:cNvPr>
          <p:cNvSpPr txBox="1"/>
          <p:nvPr/>
        </p:nvSpPr>
        <p:spPr>
          <a:xfrm>
            <a:off x="9509125" y="3804707"/>
            <a:ext cx="2201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 RMSE against Validation Set (dev.csv)</a:t>
            </a:r>
          </a:p>
        </p:txBody>
      </p:sp>
      <p:cxnSp>
        <p:nvCxnSpPr>
          <p:cNvPr id="26" name="Straight Arrow Connector 25">
            <a:extLst>
              <a:ext uri="{FF2B5EF4-FFF2-40B4-BE49-F238E27FC236}">
                <a16:creationId xmlns:a16="http://schemas.microsoft.com/office/drawing/2014/main" id="{ECC57E14-398F-8480-AB96-8EAF153DC6BC}"/>
              </a:ext>
            </a:extLst>
          </p:cNvPr>
          <p:cNvCxnSpPr>
            <a:cxnSpLocks/>
          </p:cNvCxnSpPr>
          <p:nvPr/>
        </p:nvCxnSpPr>
        <p:spPr>
          <a:xfrm>
            <a:off x="7019403" y="4924946"/>
            <a:ext cx="2326306" cy="1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134DB18-3818-D461-0FC2-B4B917DFB460}"/>
              </a:ext>
            </a:extLst>
          </p:cNvPr>
          <p:cNvSpPr txBox="1"/>
          <p:nvPr/>
        </p:nvSpPr>
        <p:spPr>
          <a:xfrm>
            <a:off x="9540874" y="4672541"/>
            <a:ext cx="2201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 RMSE against Validation Set (dev.csv)</a:t>
            </a:r>
          </a:p>
        </p:txBody>
      </p:sp>
      <p:sp>
        <p:nvSpPr>
          <p:cNvPr id="28" name="TextBox 27">
            <a:extLst>
              <a:ext uri="{FF2B5EF4-FFF2-40B4-BE49-F238E27FC236}">
                <a16:creationId xmlns:a16="http://schemas.microsoft.com/office/drawing/2014/main" id="{8799EB47-7981-7F7A-F5D8-2E22F023B752}"/>
              </a:ext>
            </a:extLst>
          </p:cNvPr>
          <p:cNvSpPr txBox="1"/>
          <p:nvPr/>
        </p:nvSpPr>
        <p:spPr>
          <a:xfrm>
            <a:off x="6992938" y="5490104"/>
            <a:ext cx="509587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Best Model Criteria:</a:t>
            </a:r>
          </a:p>
          <a:p>
            <a:pPr marL="285750" indent="-285750">
              <a:buFont typeface="Arial"/>
              <a:buChar char="•"/>
            </a:pPr>
            <a:r>
              <a:rPr lang="en-US"/>
              <a:t>Validation set RMSE lower than the validation set RMSE baseline and the lowest compared to other models</a:t>
            </a:r>
          </a:p>
          <a:p>
            <a:pPr marL="285750" indent="-285750">
              <a:buFont typeface="Arial"/>
              <a:buChar char="•"/>
            </a:pPr>
            <a:endParaRPr lang="en-US"/>
          </a:p>
        </p:txBody>
      </p:sp>
    </p:spTree>
    <p:extLst>
      <p:ext uri="{BB962C8B-B14F-4D97-AF65-F5344CB8AC3E}">
        <p14:creationId xmlns:p14="http://schemas.microsoft.com/office/powerpoint/2010/main" val="55319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50588BBA-F8A6-BD6A-28C3-0B8E70354B84}"/>
              </a:ext>
            </a:extLst>
          </p:cNvPr>
          <p:cNvGraphicFramePr/>
          <p:nvPr>
            <p:extLst>
              <p:ext uri="{D42A27DB-BD31-4B8C-83A1-F6EECF244321}">
                <p14:modId xmlns:p14="http://schemas.microsoft.com/office/powerpoint/2010/main" val="136921804"/>
              </p:ext>
            </p:extLst>
          </p:nvPr>
        </p:nvGraphicFramePr>
        <p:xfrm>
          <a:off x="1569077" y="195329"/>
          <a:ext cx="9708521"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a:extLst>
              <a:ext uri="{FF2B5EF4-FFF2-40B4-BE49-F238E27FC236}">
                <a16:creationId xmlns:a16="http://schemas.microsoft.com/office/drawing/2014/main" id="{89B9ED2D-FBAB-B1BC-A682-AAF609F3DAB4}"/>
              </a:ext>
            </a:extLst>
          </p:cNvPr>
          <p:cNvGraphicFramePr>
            <a:graphicFrameLocks noGrp="1"/>
          </p:cNvGraphicFramePr>
          <p:nvPr>
            <p:extLst>
              <p:ext uri="{D42A27DB-BD31-4B8C-83A1-F6EECF244321}">
                <p14:modId xmlns:p14="http://schemas.microsoft.com/office/powerpoint/2010/main" val="633483723"/>
              </p:ext>
            </p:extLst>
          </p:nvPr>
        </p:nvGraphicFramePr>
        <p:xfrm>
          <a:off x="3325801" y="3985620"/>
          <a:ext cx="4786132" cy="1371600"/>
        </p:xfrm>
        <a:graphic>
          <a:graphicData uri="http://schemas.openxmlformats.org/drawingml/2006/table">
            <a:tbl>
              <a:tblPr firstRow="1" bandRow="1">
                <a:tableStyleId>{18603FDC-E32A-4AB5-989C-0864C3EAD2B8}</a:tableStyleId>
              </a:tblPr>
              <a:tblGrid>
                <a:gridCol w="2393066">
                  <a:extLst>
                    <a:ext uri="{9D8B030D-6E8A-4147-A177-3AD203B41FA5}">
                      <a16:colId xmlns:a16="http://schemas.microsoft.com/office/drawing/2014/main" val="1367030095"/>
                    </a:ext>
                  </a:extLst>
                </a:gridCol>
                <a:gridCol w="2393066">
                  <a:extLst>
                    <a:ext uri="{9D8B030D-6E8A-4147-A177-3AD203B41FA5}">
                      <a16:colId xmlns:a16="http://schemas.microsoft.com/office/drawing/2014/main" val="2960628788"/>
                    </a:ext>
                  </a:extLst>
                </a:gridCol>
              </a:tblGrid>
              <a:tr h="370840">
                <a:tc>
                  <a:txBody>
                    <a:bodyPr/>
                    <a:lstStyle/>
                    <a:p>
                      <a:pPr lvl="0">
                        <a:buNone/>
                      </a:pPr>
                      <a:r>
                        <a:rPr lang="en-US" sz="2400" b="1" i="0" u="none" strike="noStrike" noProof="0">
                          <a:latin typeface="Grandview Display"/>
                        </a:rPr>
                        <a:t>Dataset</a:t>
                      </a:r>
                      <a:endParaRPr lang="en-US" sz="2400" b="1"/>
                    </a:p>
                  </a:txBody>
                  <a:tcPr/>
                </a:tc>
                <a:tc>
                  <a:txBody>
                    <a:bodyPr/>
                    <a:lstStyle/>
                    <a:p>
                      <a:pPr lvl="0">
                        <a:buNone/>
                      </a:pPr>
                      <a:r>
                        <a:rPr lang="en-US" sz="2400" b="1" i="0" u="none" strike="noStrike" noProof="0">
                          <a:latin typeface="Grandview Display"/>
                        </a:rPr>
                        <a:t>Baseline RMSE</a:t>
                      </a:r>
                      <a:endParaRPr lang="en-US" sz="2400" b="1"/>
                    </a:p>
                  </a:txBody>
                  <a:tcPr/>
                </a:tc>
                <a:extLst>
                  <a:ext uri="{0D108BD9-81ED-4DB2-BD59-A6C34878D82A}">
                    <a16:rowId xmlns:a16="http://schemas.microsoft.com/office/drawing/2014/main" val="2015710737"/>
                  </a:ext>
                </a:extLst>
              </a:tr>
              <a:tr h="370840">
                <a:tc>
                  <a:txBody>
                    <a:bodyPr/>
                    <a:lstStyle/>
                    <a:p>
                      <a:pPr lvl="0">
                        <a:buNone/>
                      </a:pPr>
                      <a:r>
                        <a:rPr lang="en-US" sz="2400" b="0" i="0" u="none" strike="noStrike" noProof="0">
                          <a:latin typeface="Grandview Display"/>
                        </a:rPr>
                        <a:t>Validation set</a:t>
                      </a:r>
                      <a:endParaRPr lang="en-US" sz="2400"/>
                    </a:p>
                  </a:txBody>
                  <a:tcPr/>
                </a:tc>
                <a:tc>
                  <a:txBody>
                    <a:bodyPr/>
                    <a:lstStyle/>
                    <a:p>
                      <a:pPr lvl="0">
                        <a:buNone/>
                      </a:pPr>
                      <a:r>
                        <a:rPr lang="en-US" sz="2400" b="0" i="0" u="none" strike="noStrike" noProof="0">
                          <a:latin typeface="Grandview Display"/>
                        </a:rPr>
                        <a:t>0.5784</a:t>
                      </a:r>
                      <a:endParaRPr lang="en-US" sz="2400"/>
                    </a:p>
                  </a:txBody>
                  <a:tcPr/>
                </a:tc>
                <a:extLst>
                  <a:ext uri="{0D108BD9-81ED-4DB2-BD59-A6C34878D82A}">
                    <a16:rowId xmlns:a16="http://schemas.microsoft.com/office/drawing/2014/main" val="3384048016"/>
                  </a:ext>
                </a:extLst>
              </a:tr>
              <a:tr h="370840">
                <a:tc>
                  <a:txBody>
                    <a:bodyPr/>
                    <a:lstStyle/>
                    <a:p>
                      <a:pPr lvl="0">
                        <a:buNone/>
                      </a:pPr>
                      <a:r>
                        <a:rPr lang="en-US" sz="2400" b="0" i="0" u="none" strike="noStrike" noProof="0">
                          <a:latin typeface="Grandview Display"/>
                        </a:rPr>
                        <a:t>Test set</a:t>
                      </a:r>
                      <a:endParaRPr lang="en-US" sz="2400"/>
                    </a:p>
                  </a:txBody>
                  <a:tcPr/>
                </a:tc>
                <a:tc>
                  <a:txBody>
                    <a:bodyPr/>
                    <a:lstStyle/>
                    <a:p>
                      <a:pPr lvl="0">
                        <a:buNone/>
                      </a:pPr>
                      <a:r>
                        <a:rPr lang="en-US" sz="2400" b="0" i="0" u="none" strike="noStrike" noProof="0">
                          <a:latin typeface="Grandview Display"/>
                        </a:rPr>
                        <a:t>0.5747</a:t>
                      </a:r>
                      <a:endParaRPr lang="en-US" sz="2400"/>
                    </a:p>
                  </a:txBody>
                  <a:tcPr/>
                </a:tc>
                <a:extLst>
                  <a:ext uri="{0D108BD9-81ED-4DB2-BD59-A6C34878D82A}">
                    <a16:rowId xmlns:a16="http://schemas.microsoft.com/office/drawing/2014/main" val="1596122349"/>
                  </a:ext>
                </a:extLst>
              </a:tr>
            </a:tbl>
          </a:graphicData>
        </a:graphic>
      </p:graphicFrame>
      <p:sp>
        <p:nvSpPr>
          <p:cNvPr id="2" name="TextBox 1">
            <a:extLst>
              <a:ext uri="{FF2B5EF4-FFF2-40B4-BE49-F238E27FC236}">
                <a16:creationId xmlns:a16="http://schemas.microsoft.com/office/drawing/2014/main" id="{300F61DB-9D49-CC3A-68C8-4E6751137438}"/>
              </a:ext>
            </a:extLst>
          </p:cNvPr>
          <p:cNvSpPr txBox="1"/>
          <p:nvPr/>
        </p:nvSpPr>
        <p:spPr>
          <a:xfrm>
            <a:off x="1677458" y="1243541"/>
            <a:ext cx="877358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t>Final and best model RMSE against the test set = </a:t>
            </a:r>
            <a:r>
              <a:rPr lang="en-US" sz="2400">
                <a:ea typeface="+mn-lt"/>
                <a:cs typeface="+mn-lt"/>
              </a:rPr>
              <a:t>Generalization Error</a:t>
            </a:r>
            <a:endParaRPr lang="en-US" sz="2400"/>
          </a:p>
          <a:p>
            <a:pPr marL="285750" indent="-285750">
              <a:buFont typeface="Arial"/>
              <a:buChar char="•"/>
            </a:pPr>
            <a:endParaRPr lang="en-US" sz="2400"/>
          </a:p>
          <a:p>
            <a:pPr marL="285750" indent="-285750">
              <a:buFont typeface="Arial"/>
              <a:buChar char="•"/>
            </a:pPr>
            <a:r>
              <a:rPr lang="en-US" sz="2400"/>
              <a:t>Project successful if final model's RMSE against the test set is lower than the test set baseline RMSE</a:t>
            </a:r>
          </a:p>
        </p:txBody>
      </p:sp>
    </p:spTree>
    <p:extLst>
      <p:ext uri="{BB962C8B-B14F-4D97-AF65-F5344CB8AC3E}">
        <p14:creationId xmlns:p14="http://schemas.microsoft.com/office/powerpoint/2010/main" val="18224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4C40C34-F53E-EED3-A58B-884C3E720641}"/>
              </a:ext>
            </a:extLst>
          </p:cNvPr>
          <p:cNvGraphicFramePr/>
          <p:nvPr>
            <p:extLst>
              <p:ext uri="{D42A27DB-BD31-4B8C-83A1-F6EECF244321}">
                <p14:modId xmlns:p14="http://schemas.microsoft.com/office/powerpoint/2010/main" val="2663400769"/>
              </p:ext>
            </p:extLst>
          </p:nvPr>
        </p:nvGraphicFramePr>
        <p:xfrm>
          <a:off x="510744" y="195329"/>
          <a:ext cx="11389332"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300F61DB-9D49-CC3A-68C8-4E6751137438}"/>
              </a:ext>
            </a:extLst>
          </p:cNvPr>
          <p:cNvSpPr txBox="1"/>
          <p:nvPr/>
        </p:nvSpPr>
        <p:spPr>
          <a:xfrm>
            <a:off x="1677458" y="1243541"/>
            <a:ext cx="877358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err="1"/>
              <a:t>Jupyter</a:t>
            </a:r>
            <a:r>
              <a:rPr lang="en-US" sz="2400"/>
              <a:t> Notebooks </a:t>
            </a:r>
          </a:p>
          <a:p>
            <a:pPr marL="285750" indent="-285750">
              <a:buFont typeface="Arial"/>
              <a:buChar char="•"/>
            </a:pPr>
            <a:endParaRPr lang="en-US" sz="2400"/>
          </a:p>
          <a:p>
            <a:pPr marL="285750" indent="-285750">
              <a:buFont typeface="Arial"/>
              <a:buChar char="•"/>
            </a:pPr>
            <a:r>
              <a:rPr lang="en-US" sz="2400"/>
              <a:t>Python (</a:t>
            </a:r>
            <a:r>
              <a:rPr lang="en-US" sz="2400" err="1"/>
              <a:t>numpy</a:t>
            </a:r>
            <a:r>
              <a:rPr lang="en-US" sz="2400"/>
              <a:t>, pandas, </a:t>
            </a:r>
            <a:r>
              <a:rPr lang="en-US" sz="2400" err="1"/>
              <a:t>tensorflow</a:t>
            </a:r>
            <a:r>
              <a:rPr lang="en-US" sz="2400"/>
              <a:t>)</a:t>
            </a:r>
          </a:p>
          <a:p>
            <a:pPr marL="285750" indent="-285750">
              <a:buFont typeface="Arial"/>
              <a:buChar char="•"/>
            </a:pPr>
            <a:endParaRPr lang="en-US" sz="2400"/>
          </a:p>
          <a:p>
            <a:pPr marL="285750" indent="-285750">
              <a:buFont typeface="Arial"/>
              <a:buChar char="•"/>
            </a:pPr>
            <a:r>
              <a:rPr lang="en-US" sz="2400"/>
              <a:t>Data processed for ALBERT by replacing </a:t>
            </a:r>
            <a:r>
              <a:rPr lang="en-US" sz="2400" err="1"/>
              <a:t>microedits</a:t>
            </a:r>
            <a:r>
              <a:rPr lang="en-US" sz="2400">
                <a:ea typeface="+mn-lt"/>
                <a:cs typeface="+mn-lt"/>
              </a:rPr>
              <a:t> in their corresponding news headlines to turn them into their humorous versions; the words and punctuation were tokenized; an attention mask was created; and labels (mean funniness scores) were extracted and placed in their own vector.</a:t>
            </a:r>
            <a:endParaRPr lang="en-US" sz="2400"/>
          </a:p>
        </p:txBody>
      </p:sp>
    </p:spTree>
    <p:extLst>
      <p:ext uri="{BB962C8B-B14F-4D97-AF65-F5344CB8AC3E}">
        <p14:creationId xmlns:p14="http://schemas.microsoft.com/office/powerpoint/2010/main" val="3450651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3D3BC60-92E2-659A-FD16-0AF17FA1F7A2}"/>
              </a:ext>
            </a:extLst>
          </p:cNvPr>
          <p:cNvGraphicFramePr/>
          <p:nvPr>
            <p:extLst>
              <p:ext uri="{D42A27DB-BD31-4B8C-83A1-F6EECF244321}">
                <p14:modId xmlns:p14="http://schemas.microsoft.com/office/powerpoint/2010/main" val="2055508900"/>
              </p:ext>
            </p:extLst>
          </p:nvPr>
        </p:nvGraphicFramePr>
        <p:xfrm>
          <a:off x="2981134" y="270455"/>
          <a:ext cx="7394795"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6">
            <a:extLst>
              <a:ext uri="{FF2B5EF4-FFF2-40B4-BE49-F238E27FC236}">
                <a16:creationId xmlns:a16="http://schemas.microsoft.com/office/drawing/2014/main" id="{57FAE77D-F947-641E-18B6-17B962CCB304}"/>
              </a:ext>
            </a:extLst>
          </p:cNvPr>
          <p:cNvGraphicFramePr>
            <a:graphicFrameLocks noGrp="1"/>
          </p:cNvGraphicFramePr>
          <p:nvPr>
            <p:extLst>
              <p:ext uri="{D42A27DB-BD31-4B8C-83A1-F6EECF244321}">
                <p14:modId xmlns:p14="http://schemas.microsoft.com/office/powerpoint/2010/main" val="54494153"/>
              </p:ext>
            </p:extLst>
          </p:nvPr>
        </p:nvGraphicFramePr>
        <p:xfrm>
          <a:off x="450760" y="1395211"/>
          <a:ext cx="6618266" cy="4287490"/>
        </p:xfrm>
        <a:graphic>
          <a:graphicData uri="http://schemas.openxmlformats.org/drawingml/2006/table">
            <a:tbl>
              <a:tblPr firstRow="1" bandRow="1">
                <a:tableStyleId>{18603FDC-E32A-4AB5-989C-0864C3EAD2B8}</a:tableStyleId>
              </a:tblPr>
              <a:tblGrid>
                <a:gridCol w="725648">
                  <a:extLst>
                    <a:ext uri="{9D8B030D-6E8A-4147-A177-3AD203B41FA5}">
                      <a16:colId xmlns:a16="http://schemas.microsoft.com/office/drawing/2014/main" val="1724539584"/>
                    </a:ext>
                  </a:extLst>
                </a:gridCol>
                <a:gridCol w="2176944">
                  <a:extLst>
                    <a:ext uri="{9D8B030D-6E8A-4147-A177-3AD203B41FA5}">
                      <a16:colId xmlns:a16="http://schemas.microsoft.com/office/drawing/2014/main" val="3285785908"/>
                    </a:ext>
                  </a:extLst>
                </a:gridCol>
                <a:gridCol w="1864752">
                  <a:extLst>
                    <a:ext uri="{9D8B030D-6E8A-4147-A177-3AD203B41FA5}">
                      <a16:colId xmlns:a16="http://schemas.microsoft.com/office/drawing/2014/main" val="2103733421"/>
                    </a:ext>
                  </a:extLst>
                </a:gridCol>
                <a:gridCol w="898838">
                  <a:extLst>
                    <a:ext uri="{9D8B030D-6E8A-4147-A177-3AD203B41FA5}">
                      <a16:colId xmlns:a16="http://schemas.microsoft.com/office/drawing/2014/main" val="2200579315"/>
                    </a:ext>
                  </a:extLst>
                </a:gridCol>
                <a:gridCol w="952084">
                  <a:extLst>
                    <a:ext uri="{9D8B030D-6E8A-4147-A177-3AD203B41FA5}">
                      <a16:colId xmlns:a16="http://schemas.microsoft.com/office/drawing/2014/main" val="1864715665"/>
                    </a:ext>
                  </a:extLst>
                </a:gridCol>
              </a:tblGrid>
              <a:tr h="389293">
                <a:tc>
                  <a:txBody>
                    <a:bodyPr/>
                    <a:lstStyle/>
                    <a:p>
                      <a:pPr lvl="0">
                        <a:buNone/>
                      </a:pPr>
                      <a:r>
                        <a:rPr lang="en-US" sz="1200"/>
                        <a:t>Model Number</a:t>
                      </a:r>
                    </a:p>
                  </a:txBody>
                  <a:tcPr/>
                </a:tc>
                <a:tc>
                  <a:txBody>
                    <a:bodyPr/>
                    <a:lstStyle/>
                    <a:p>
                      <a:r>
                        <a:rPr lang="en-US" sz="1200"/>
                        <a:t>Learning Rate Decay Method</a:t>
                      </a:r>
                    </a:p>
                  </a:txBody>
                  <a:tcPr/>
                </a:tc>
                <a:tc>
                  <a:txBody>
                    <a:bodyPr/>
                    <a:lstStyle/>
                    <a:p>
                      <a:r>
                        <a:rPr lang="en-US" sz="1200"/>
                        <a:t>Hyperparameters (Description)</a:t>
                      </a:r>
                    </a:p>
                  </a:txBody>
                  <a:tcPr/>
                </a:tc>
                <a:tc>
                  <a:txBody>
                    <a:bodyPr/>
                    <a:lstStyle/>
                    <a:p>
                      <a:r>
                        <a:rPr lang="en-US" sz="1200"/>
                        <a:t>Optimizer</a:t>
                      </a:r>
                    </a:p>
                  </a:txBody>
                  <a:tcPr/>
                </a:tc>
                <a:tc>
                  <a:txBody>
                    <a:bodyPr/>
                    <a:lstStyle/>
                    <a:p>
                      <a:pPr lvl="0">
                        <a:buNone/>
                      </a:pPr>
                      <a:r>
                        <a:rPr lang="en-US" sz="1200"/>
                        <a:t>Validation Set RMSE</a:t>
                      </a:r>
                    </a:p>
                  </a:txBody>
                  <a:tcPr/>
                </a:tc>
                <a:extLst>
                  <a:ext uri="{0D108BD9-81ED-4DB2-BD59-A6C34878D82A}">
                    <a16:rowId xmlns:a16="http://schemas.microsoft.com/office/drawing/2014/main" val="2750600487"/>
                  </a:ext>
                </a:extLst>
              </a:tr>
              <a:tr h="886265">
                <a:tc>
                  <a:txBody>
                    <a:bodyPr/>
                    <a:lstStyle/>
                    <a:p>
                      <a:pPr lvl="0">
                        <a:buNone/>
                      </a:pPr>
                      <a:r>
                        <a:rPr lang="en-US" sz="1200"/>
                        <a:t>1</a:t>
                      </a:r>
                    </a:p>
                  </a:txBody>
                  <a:tcPr/>
                </a:tc>
                <a:tc>
                  <a:txBody>
                    <a:bodyPr/>
                    <a:lstStyle/>
                    <a:p>
                      <a:r>
                        <a:rPr lang="en-US" sz="1200" dirty="0"/>
                        <a:t>Exponential Decay Learning Rate Scheduler to Decrease Learning Rate every 603 Batches</a:t>
                      </a:r>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steps = 603</a:t>
                      </a:r>
                    </a:p>
                    <a:p>
                      <a:pPr marL="285750" lvl="0" indent="-285750">
                        <a:buFont typeface="Arial"/>
                        <a:buChar char="•"/>
                      </a:pPr>
                      <a:r>
                        <a:rPr lang="en-US" sz="1200"/>
                        <a:t>Decay rate = 0.9</a:t>
                      </a:r>
                    </a:p>
                    <a:p>
                      <a:pPr marL="285750" lvl="0" indent="-285750">
                        <a:buFont typeface="Arial"/>
                        <a:buChar char="•"/>
                      </a:pPr>
                      <a:r>
                        <a:rPr lang="en-US" sz="1200"/>
                        <a:t>Epochs = 3</a:t>
                      </a:r>
                    </a:p>
                  </a:txBody>
                  <a:tcPr/>
                </a:tc>
                <a:tc>
                  <a:txBody>
                    <a:bodyPr/>
                    <a:lstStyle/>
                    <a:p>
                      <a:r>
                        <a:rPr lang="en-US" sz="1200"/>
                        <a:t>RMSprop</a:t>
                      </a:r>
                    </a:p>
                  </a:txBody>
                  <a:tcPr/>
                </a:tc>
                <a:tc>
                  <a:txBody>
                    <a:bodyPr/>
                    <a:lstStyle/>
                    <a:p>
                      <a:pPr lvl="0">
                        <a:buNone/>
                      </a:pPr>
                      <a:r>
                        <a:rPr lang="en-US" sz="1200" b="0" i="0" u="none" strike="noStrike" noProof="0">
                          <a:latin typeface="Grandview Display"/>
                        </a:rPr>
                        <a:t>0.5498</a:t>
                      </a:r>
                      <a:endParaRPr lang="en-US"/>
                    </a:p>
                  </a:txBody>
                  <a:tcPr/>
                </a:tc>
                <a:extLst>
                  <a:ext uri="{0D108BD9-81ED-4DB2-BD59-A6C34878D82A}">
                    <a16:rowId xmlns:a16="http://schemas.microsoft.com/office/drawing/2014/main" val="371029125"/>
                  </a:ext>
                </a:extLst>
              </a:tr>
              <a:tr h="1051920">
                <a:tc>
                  <a:txBody>
                    <a:bodyPr/>
                    <a:lstStyle/>
                    <a:p>
                      <a:pPr lvl="0">
                        <a:buNone/>
                      </a:pPr>
                      <a:r>
                        <a:rPr lang="en-US" sz="1200" b="0" i="0" u="none" strike="noStrike" noProof="0">
                          <a:solidFill>
                            <a:srgbClr val="FFFFFF"/>
                          </a:solidFill>
                          <a:latin typeface="Grandview Display"/>
                        </a:rPr>
                        <a:t>2</a:t>
                      </a:r>
                    </a:p>
                  </a:txBody>
                  <a:tcPr/>
                </a:tc>
                <a:tc>
                  <a:txBody>
                    <a:bodyPr/>
                    <a:lstStyle/>
                    <a:p>
                      <a:pPr lvl="0">
                        <a:buNone/>
                      </a:pPr>
                      <a:r>
                        <a:rPr lang="en-US" sz="1200" b="0" i="0" u="none" strike="noStrike" noProof="0" dirty="0">
                          <a:solidFill>
                            <a:srgbClr val="FFFFFF"/>
                          </a:solidFill>
                          <a:latin typeface="Grandview Display"/>
                        </a:rPr>
                        <a:t>Exponential Decay Learning Rate Scheduler to Decrease Learning Rate every 603 Batches</a:t>
                      </a:r>
                      <a:endParaRPr lang="en-US" sz="1200" dirty="0"/>
                    </a:p>
                  </a:txBody>
                  <a:tcPr/>
                </a:tc>
                <a:tc>
                  <a:txBody>
                    <a:bodyPr/>
                    <a:lstStyle/>
                    <a:p>
                      <a:pPr marL="285750" lvl="0" indent="-285750" algn="l">
                        <a:lnSpc>
                          <a:spcPct val="100000"/>
                        </a:lnSpc>
                        <a:buFont typeface="Arial"/>
                        <a:buChar char="•"/>
                      </a:pPr>
                      <a:r>
                        <a:rPr lang="en-US" sz="1200" b="0" i="0" u="none" strike="noStrike" baseline="0" noProof="0">
                          <a:solidFill>
                            <a:srgbClr val="FFFFFF"/>
                          </a:solidFill>
                          <a:latin typeface="Grandview Display"/>
                        </a:rPr>
                        <a:t>Initial learning rate = 1e-5</a:t>
                      </a:r>
                    </a:p>
                    <a:p>
                      <a:pPr marL="285750" lvl="0" indent="-285750" algn="l">
                        <a:lnSpc>
                          <a:spcPct val="100000"/>
                        </a:lnSpc>
                        <a:buFont typeface="Arial"/>
                        <a:buChar char="•"/>
                      </a:pPr>
                      <a:r>
                        <a:rPr lang="en-US" sz="1200" b="0" i="0" u="none" strike="noStrike" baseline="0" noProof="0">
                          <a:solidFill>
                            <a:srgbClr val="FFFFFF"/>
                          </a:solidFill>
                          <a:latin typeface="Grandview Display"/>
                        </a:rPr>
                        <a:t>Decay steps = 603</a:t>
                      </a:r>
                    </a:p>
                    <a:p>
                      <a:pPr marL="285750" lvl="0" indent="-285750">
                        <a:buFont typeface="Arial"/>
                        <a:buChar char="•"/>
                      </a:pPr>
                      <a:r>
                        <a:rPr lang="en-US" sz="1200" b="0" i="0" u="none" strike="noStrike" baseline="0" noProof="0">
                          <a:solidFill>
                            <a:srgbClr val="FFFFFF"/>
                          </a:solidFill>
                          <a:latin typeface="Grandview Display"/>
                        </a:rPr>
                        <a:t>Decay rate = 0.9</a:t>
                      </a:r>
                    </a:p>
                    <a:p>
                      <a:pPr marL="285750" lvl="0" indent="-285750">
                        <a:buFont typeface="Arial"/>
                        <a:buChar char="•"/>
                      </a:pPr>
                      <a:r>
                        <a:rPr lang="en-US" sz="1200" b="0" i="0" u="none" strike="noStrike" baseline="0" noProof="0">
                          <a:solidFill>
                            <a:srgbClr val="FFFFFF"/>
                          </a:solidFill>
                          <a:latin typeface="Grandview Display"/>
                        </a:rPr>
                        <a:t>Epochs = 3</a:t>
                      </a:r>
                    </a:p>
                  </a:txBody>
                  <a:tcPr/>
                </a:tc>
                <a:tc>
                  <a:txBody>
                    <a:bodyPr/>
                    <a:lstStyle/>
                    <a:p>
                      <a:r>
                        <a:rPr lang="en-US" sz="1200"/>
                        <a:t>Adam</a:t>
                      </a:r>
                    </a:p>
                  </a:txBody>
                  <a:tcPr/>
                </a:tc>
                <a:tc>
                  <a:txBody>
                    <a:bodyPr/>
                    <a:lstStyle/>
                    <a:p>
                      <a:pPr lvl="0">
                        <a:buNone/>
                      </a:pPr>
                      <a:r>
                        <a:rPr lang="en-US" sz="1200" b="0" i="0" u="none" strike="noStrike" noProof="0">
                          <a:latin typeface="Grandview Display"/>
                        </a:rPr>
                        <a:t>0.5457</a:t>
                      </a:r>
                      <a:endParaRPr lang="en-US"/>
                    </a:p>
                  </a:txBody>
                  <a:tcPr/>
                </a:tc>
                <a:extLst>
                  <a:ext uri="{0D108BD9-81ED-4DB2-BD59-A6C34878D82A}">
                    <a16:rowId xmlns:a16="http://schemas.microsoft.com/office/drawing/2014/main" val="2012407621"/>
                  </a:ext>
                </a:extLst>
              </a:tr>
              <a:tr h="886265">
                <a:tc>
                  <a:txBody>
                    <a:bodyPr/>
                    <a:lstStyle/>
                    <a:p>
                      <a:pPr lvl="0">
                        <a:buNone/>
                      </a:pPr>
                      <a:r>
                        <a:rPr lang="en-US" sz="1200"/>
                        <a:t>3</a:t>
                      </a:r>
                    </a:p>
                  </a:txBody>
                  <a:tcPr/>
                </a:tc>
                <a:tc>
                  <a:txBody>
                    <a:bodyPr/>
                    <a:lstStyle/>
                    <a:p>
                      <a:pPr lvl="0">
                        <a:buNone/>
                      </a:pPr>
                      <a:r>
                        <a:rPr lang="en-US" sz="1200" b="0" i="0" u="none" strike="noStrike" noProof="0" dirty="0">
                          <a:solidFill>
                            <a:srgbClr val="FFFFFF"/>
                          </a:solidFill>
                          <a:latin typeface="Grandview Display"/>
                        </a:rPr>
                        <a:t>Constant decay factor to exponentially decrease learning rate every subsequent batch</a:t>
                      </a:r>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factor = 1e-8</a:t>
                      </a:r>
                    </a:p>
                    <a:p>
                      <a:pPr marL="285750" lvl="0" indent="-285750">
                        <a:buFont typeface="Arial"/>
                        <a:buChar char="•"/>
                      </a:pPr>
                      <a:r>
                        <a:rPr lang="en-US" sz="1200"/>
                        <a:t>Epochs = 3</a:t>
                      </a:r>
                    </a:p>
                  </a:txBody>
                  <a:tcPr/>
                </a:tc>
                <a:tc>
                  <a:txBody>
                    <a:bodyPr/>
                    <a:lstStyle/>
                    <a:p>
                      <a:r>
                        <a:rPr lang="en-US" sz="1200"/>
                        <a:t>RMSprop</a:t>
                      </a:r>
                    </a:p>
                  </a:txBody>
                  <a:tcPr/>
                </a:tc>
                <a:tc>
                  <a:txBody>
                    <a:bodyPr/>
                    <a:lstStyle/>
                    <a:p>
                      <a:pPr lvl="0">
                        <a:buNone/>
                      </a:pPr>
                      <a:r>
                        <a:rPr lang="en-US" sz="1200" b="0" i="0" u="none" strike="noStrike" noProof="0">
                          <a:latin typeface="Grandview Display"/>
                        </a:rPr>
                        <a:t>0.5515</a:t>
                      </a:r>
                      <a:endParaRPr lang="en-US"/>
                    </a:p>
                  </a:txBody>
                  <a:tcPr/>
                </a:tc>
                <a:extLst>
                  <a:ext uri="{0D108BD9-81ED-4DB2-BD59-A6C34878D82A}">
                    <a16:rowId xmlns:a16="http://schemas.microsoft.com/office/drawing/2014/main" val="4125178034"/>
                  </a:ext>
                </a:extLst>
              </a:tr>
              <a:tr h="886265">
                <a:tc>
                  <a:txBody>
                    <a:bodyPr/>
                    <a:lstStyle/>
                    <a:p>
                      <a:pPr lvl="0">
                        <a:buNone/>
                      </a:pPr>
                      <a:r>
                        <a:rPr lang="en-US" sz="1200" b="0" i="0" u="none" strike="noStrike" noProof="0">
                          <a:solidFill>
                            <a:srgbClr val="FFFFFF"/>
                          </a:solidFill>
                          <a:latin typeface="Grandview Display"/>
                        </a:rPr>
                        <a:t>4</a:t>
                      </a:r>
                    </a:p>
                  </a:txBody>
                  <a:tcPr/>
                </a:tc>
                <a:tc>
                  <a:txBody>
                    <a:bodyPr/>
                    <a:lstStyle/>
                    <a:p>
                      <a:pPr lvl="0">
                        <a:buNone/>
                      </a:pPr>
                      <a:r>
                        <a:rPr lang="en-US" sz="1200" b="0" i="0" u="none" strike="noStrike" noProof="0">
                          <a:solidFill>
                            <a:srgbClr val="FFFFFF"/>
                          </a:solidFill>
                        </a:rPr>
                        <a:t>Constant decay factor to exponentially decrease learning rate every subsequent batch</a:t>
                      </a:r>
                      <a:endParaRPr lang="en-US"/>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factor = 1e-8</a:t>
                      </a:r>
                    </a:p>
                    <a:p>
                      <a:pPr marL="285750" lvl="0" indent="-285750">
                        <a:buFont typeface="Arial"/>
                        <a:buChar char="•"/>
                      </a:pPr>
                      <a:r>
                        <a:rPr lang="en-US" sz="1200"/>
                        <a:t>Epochs = 3</a:t>
                      </a:r>
                    </a:p>
                  </a:txBody>
                  <a:tcPr/>
                </a:tc>
                <a:tc>
                  <a:txBody>
                    <a:bodyPr/>
                    <a:lstStyle/>
                    <a:p>
                      <a:r>
                        <a:rPr lang="en-US" sz="1200"/>
                        <a:t>Adam</a:t>
                      </a:r>
                    </a:p>
                  </a:txBody>
                  <a:tcPr/>
                </a:tc>
                <a:tc>
                  <a:txBody>
                    <a:bodyPr/>
                    <a:lstStyle/>
                    <a:p>
                      <a:pPr lvl="0">
                        <a:buNone/>
                      </a:pPr>
                      <a:r>
                        <a:rPr lang="en-US" sz="1200" b="0" i="0" u="none" strike="noStrike" noProof="0" dirty="0"/>
                        <a:t>0.5410</a:t>
                      </a:r>
                      <a:endParaRPr lang="en-US" dirty="0"/>
                    </a:p>
                  </a:txBody>
                  <a:tcPr/>
                </a:tc>
                <a:extLst>
                  <a:ext uri="{0D108BD9-81ED-4DB2-BD59-A6C34878D82A}">
                    <a16:rowId xmlns:a16="http://schemas.microsoft.com/office/drawing/2014/main" val="886463337"/>
                  </a:ext>
                </a:extLst>
              </a:tr>
            </a:tbl>
          </a:graphicData>
        </a:graphic>
      </p:graphicFrame>
      <p:graphicFrame>
        <p:nvGraphicFramePr>
          <p:cNvPr id="9" name="Table 8">
            <a:extLst>
              <a:ext uri="{FF2B5EF4-FFF2-40B4-BE49-F238E27FC236}">
                <a16:creationId xmlns:a16="http://schemas.microsoft.com/office/drawing/2014/main" id="{F6F40870-427B-333E-08EC-E6814145CD32}"/>
              </a:ext>
            </a:extLst>
          </p:cNvPr>
          <p:cNvGraphicFramePr>
            <a:graphicFrameLocks noGrp="1"/>
          </p:cNvGraphicFramePr>
          <p:nvPr>
            <p:extLst>
              <p:ext uri="{D42A27DB-BD31-4B8C-83A1-F6EECF244321}">
                <p14:modId xmlns:p14="http://schemas.microsoft.com/office/powerpoint/2010/main" val="374120313"/>
              </p:ext>
            </p:extLst>
          </p:nvPr>
        </p:nvGraphicFramePr>
        <p:xfrm>
          <a:off x="8322328" y="3051305"/>
          <a:ext cx="2762008" cy="1320800"/>
        </p:xfrm>
        <a:graphic>
          <a:graphicData uri="http://schemas.openxmlformats.org/drawingml/2006/table">
            <a:tbl>
              <a:tblPr firstRow="1" bandRow="1">
                <a:tableStyleId>{18603FDC-E32A-4AB5-989C-0864C3EAD2B8}</a:tableStyleId>
              </a:tblPr>
              <a:tblGrid>
                <a:gridCol w="1381004">
                  <a:extLst>
                    <a:ext uri="{9D8B030D-6E8A-4147-A177-3AD203B41FA5}">
                      <a16:colId xmlns:a16="http://schemas.microsoft.com/office/drawing/2014/main" val="1367030095"/>
                    </a:ext>
                  </a:extLst>
                </a:gridCol>
                <a:gridCol w="1381004">
                  <a:extLst>
                    <a:ext uri="{9D8B030D-6E8A-4147-A177-3AD203B41FA5}">
                      <a16:colId xmlns:a16="http://schemas.microsoft.com/office/drawing/2014/main" val="2960628788"/>
                    </a:ext>
                  </a:extLst>
                </a:gridCol>
              </a:tblGrid>
              <a:tr h="370840">
                <a:tc>
                  <a:txBody>
                    <a:bodyPr/>
                    <a:lstStyle/>
                    <a:p>
                      <a:pPr lvl="0">
                        <a:buNone/>
                      </a:pPr>
                      <a:r>
                        <a:rPr lang="en-US" sz="1600" b="1" i="0" u="none" strike="noStrike" noProof="0">
                          <a:latin typeface="Grandview Display"/>
                        </a:rPr>
                        <a:t>Dataset</a:t>
                      </a:r>
                      <a:endParaRPr lang="en-US" sz="1600" b="1"/>
                    </a:p>
                  </a:txBody>
                  <a:tcPr/>
                </a:tc>
                <a:tc>
                  <a:txBody>
                    <a:bodyPr/>
                    <a:lstStyle/>
                    <a:p>
                      <a:pPr lvl="0">
                        <a:buNone/>
                      </a:pPr>
                      <a:r>
                        <a:rPr lang="en-US" sz="1600" b="1" i="0" u="none" strike="noStrike" noProof="0">
                          <a:latin typeface="Grandview Display"/>
                        </a:rPr>
                        <a:t>Baseline RMSE</a:t>
                      </a:r>
                      <a:endParaRPr lang="en-US" sz="1600" b="1"/>
                    </a:p>
                  </a:txBody>
                  <a:tcPr/>
                </a:tc>
                <a:extLst>
                  <a:ext uri="{0D108BD9-81ED-4DB2-BD59-A6C34878D82A}">
                    <a16:rowId xmlns:a16="http://schemas.microsoft.com/office/drawing/2014/main" val="2015710737"/>
                  </a:ext>
                </a:extLst>
              </a:tr>
              <a:tr h="370840">
                <a:tc>
                  <a:txBody>
                    <a:bodyPr/>
                    <a:lstStyle/>
                    <a:p>
                      <a:pPr lvl="0">
                        <a:buNone/>
                      </a:pPr>
                      <a:r>
                        <a:rPr lang="en-US" sz="1600" b="0" i="0" u="none" strike="noStrike" noProof="0">
                          <a:latin typeface="Grandview Display"/>
                        </a:rPr>
                        <a:t>Validation set</a:t>
                      </a:r>
                      <a:endParaRPr lang="en-US" sz="1600"/>
                    </a:p>
                  </a:txBody>
                  <a:tcPr/>
                </a:tc>
                <a:tc>
                  <a:txBody>
                    <a:bodyPr/>
                    <a:lstStyle/>
                    <a:p>
                      <a:pPr lvl="0">
                        <a:buNone/>
                      </a:pPr>
                      <a:r>
                        <a:rPr lang="en-US" sz="1600" b="0" i="0" u="none" strike="noStrike" noProof="0">
                          <a:latin typeface="Grandview Display"/>
                        </a:rPr>
                        <a:t>0.5784</a:t>
                      </a:r>
                      <a:endParaRPr lang="en-US" sz="1600"/>
                    </a:p>
                  </a:txBody>
                  <a:tcPr/>
                </a:tc>
                <a:extLst>
                  <a:ext uri="{0D108BD9-81ED-4DB2-BD59-A6C34878D82A}">
                    <a16:rowId xmlns:a16="http://schemas.microsoft.com/office/drawing/2014/main" val="3384048016"/>
                  </a:ext>
                </a:extLst>
              </a:tr>
              <a:tr h="370840">
                <a:tc>
                  <a:txBody>
                    <a:bodyPr/>
                    <a:lstStyle/>
                    <a:p>
                      <a:pPr lvl="0">
                        <a:buNone/>
                      </a:pPr>
                      <a:r>
                        <a:rPr lang="en-US" sz="1600" b="0" i="0" u="none" strike="noStrike" noProof="0">
                          <a:latin typeface="Grandview Display"/>
                        </a:rPr>
                        <a:t>Test set</a:t>
                      </a:r>
                      <a:endParaRPr lang="en-US" sz="1600"/>
                    </a:p>
                  </a:txBody>
                  <a:tcPr/>
                </a:tc>
                <a:tc>
                  <a:txBody>
                    <a:bodyPr/>
                    <a:lstStyle/>
                    <a:p>
                      <a:pPr lvl="0">
                        <a:buNone/>
                      </a:pPr>
                      <a:r>
                        <a:rPr lang="en-US" sz="1600" b="0" i="0" u="none" strike="noStrike" noProof="0">
                          <a:latin typeface="Grandview Display"/>
                        </a:rPr>
                        <a:t>0.5747</a:t>
                      </a:r>
                      <a:endParaRPr lang="en-US" sz="1600"/>
                    </a:p>
                  </a:txBody>
                  <a:tcPr/>
                </a:tc>
                <a:extLst>
                  <a:ext uri="{0D108BD9-81ED-4DB2-BD59-A6C34878D82A}">
                    <a16:rowId xmlns:a16="http://schemas.microsoft.com/office/drawing/2014/main" val="1596122349"/>
                  </a:ext>
                </a:extLst>
              </a:tr>
            </a:tbl>
          </a:graphicData>
        </a:graphic>
      </p:graphicFrame>
    </p:spTree>
    <p:extLst>
      <p:ext uri="{BB962C8B-B14F-4D97-AF65-F5344CB8AC3E}">
        <p14:creationId xmlns:p14="http://schemas.microsoft.com/office/powerpoint/2010/main" val="920032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CA0C1449-D4B9-D103-EA9D-E3C9471A3A5D}"/>
              </a:ext>
            </a:extLst>
          </p:cNvPr>
          <p:cNvGraphicFramePr/>
          <p:nvPr>
            <p:extLst>
              <p:ext uri="{D42A27DB-BD31-4B8C-83A1-F6EECF244321}">
                <p14:modId xmlns:p14="http://schemas.microsoft.com/office/powerpoint/2010/main" val="1433256629"/>
              </p:ext>
            </p:extLst>
          </p:nvPr>
        </p:nvGraphicFramePr>
        <p:xfrm>
          <a:off x="2981134" y="270455"/>
          <a:ext cx="7394795"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6">
            <a:extLst>
              <a:ext uri="{FF2B5EF4-FFF2-40B4-BE49-F238E27FC236}">
                <a16:creationId xmlns:a16="http://schemas.microsoft.com/office/drawing/2014/main" id="{57FAE77D-F947-641E-18B6-17B962CCB304}"/>
              </a:ext>
            </a:extLst>
          </p:cNvPr>
          <p:cNvGraphicFramePr>
            <a:graphicFrameLocks noGrp="1"/>
          </p:cNvGraphicFramePr>
          <p:nvPr>
            <p:extLst>
              <p:ext uri="{D42A27DB-BD31-4B8C-83A1-F6EECF244321}">
                <p14:modId xmlns:p14="http://schemas.microsoft.com/office/powerpoint/2010/main" val="3237488726"/>
              </p:ext>
            </p:extLst>
          </p:nvPr>
        </p:nvGraphicFramePr>
        <p:xfrm>
          <a:off x="857249" y="1936750"/>
          <a:ext cx="10693015" cy="1828800"/>
        </p:xfrm>
        <a:graphic>
          <a:graphicData uri="http://schemas.openxmlformats.org/drawingml/2006/table">
            <a:tbl>
              <a:tblPr firstRow="1" bandRow="1">
                <a:tableStyleId>{18603FDC-E32A-4AB5-989C-0864C3EAD2B8}</a:tableStyleId>
              </a:tblPr>
              <a:tblGrid>
                <a:gridCol w="1024965">
                  <a:extLst>
                    <a:ext uri="{9D8B030D-6E8A-4147-A177-3AD203B41FA5}">
                      <a16:colId xmlns:a16="http://schemas.microsoft.com/office/drawing/2014/main" val="1724539584"/>
                    </a:ext>
                  </a:extLst>
                </a:gridCol>
                <a:gridCol w="3074906">
                  <a:extLst>
                    <a:ext uri="{9D8B030D-6E8A-4147-A177-3AD203B41FA5}">
                      <a16:colId xmlns:a16="http://schemas.microsoft.com/office/drawing/2014/main" val="3285785908"/>
                    </a:ext>
                  </a:extLst>
                </a:gridCol>
                <a:gridCol w="2633940">
                  <a:extLst>
                    <a:ext uri="{9D8B030D-6E8A-4147-A177-3AD203B41FA5}">
                      <a16:colId xmlns:a16="http://schemas.microsoft.com/office/drawing/2014/main" val="2103733421"/>
                    </a:ext>
                  </a:extLst>
                </a:gridCol>
                <a:gridCol w="1269596">
                  <a:extLst>
                    <a:ext uri="{9D8B030D-6E8A-4147-A177-3AD203B41FA5}">
                      <a16:colId xmlns:a16="http://schemas.microsoft.com/office/drawing/2014/main" val="2200579315"/>
                    </a:ext>
                  </a:extLst>
                </a:gridCol>
                <a:gridCol w="1344804">
                  <a:extLst>
                    <a:ext uri="{9D8B030D-6E8A-4147-A177-3AD203B41FA5}">
                      <a16:colId xmlns:a16="http://schemas.microsoft.com/office/drawing/2014/main" val="1864715665"/>
                    </a:ext>
                  </a:extLst>
                </a:gridCol>
                <a:gridCol w="1344804">
                  <a:extLst>
                    <a:ext uri="{9D8B030D-6E8A-4147-A177-3AD203B41FA5}">
                      <a16:colId xmlns:a16="http://schemas.microsoft.com/office/drawing/2014/main" val="1404558254"/>
                    </a:ext>
                  </a:extLst>
                </a:gridCol>
              </a:tblGrid>
              <a:tr h="389293">
                <a:tc>
                  <a:txBody>
                    <a:bodyPr/>
                    <a:lstStyle/>
                    <a:p>
                      <a:pPr lvl="0">
                        <a:buNone/>
                      </a:pPr>
                      <a:r>
                        <a:rPr lang="en-US" sz="1800"/>
                        <a:t>Model Number</a:t>
                      </a:r>
                    </a:p>
                  </a:txBody>
                  <a:tcPr/>
                </a:tc>
                <a:tc>
                  <a:txBody>
                    <a:bodyPr/>
                    <a:lstStyle/>
                    <a:p>
                      <a:r>
                        <a:rPr lang="en-US" sz="1800"/>
                        <a:t>Learning Rate Decay Method</a:t>
                      </a:r>
                    </a:p>
                  </a:txBody>
                  <a:tcPr/>
                </a:tc>
                <a:tc>
                  <a:txBody>
                    <a:bodyPr/>
                    <a:lstStyle/>
                    <a:p>
                      <a:r>
                        <a:rPr lang="en-US" sz="1800"/>
                        <a:t>Hyperparameters (Description)</a:t>
                      </a:r>
                    </a:p>
                  </a:txBody>
                  <a:tcPr/>
                </a:tc>
                <a:tc>
                  <a:txBody>
                    <a:bodyPr/>
                    <a:lstStyle/>
                    <a:p>
                      <a:r>
                        <a:rPr lang="en-US" sz="1800"/>
                        <a:t>Optimizer</a:t>
                      </a:r>
                    </a:p>
                  </a:txBody>
                  <a:tcPr/>
                </a:tc>
                <a:tc>
                  <a:txBody>
                    <a:bodyPr/>
                    <a:lstStyle/>
                    <a:p>
                      <a:pPr lvl="0">
                        <a:buNone/>
                      </a:pPr>
                      <a:r>
                        <a:rPr lang="en-US" sz="1800"/>
                        <a:t>Validation Set RMSE</a:t>
                      </a:r>
                    </a:p>
                  </a:txBody>
                  <a:tcPr/>
                </a:tc>
                <a:tc>
                  <a:txBody>
                    <a:bodyPr/>
                    <a:lstStyle/>
                    <a:p>
                      <a:pPr lvl="0">
                        <a:buNone/>
                      </a:pPr>
                      <a:r>
                        <a:rPr lang="en-US" sz="1800"/>
                        <a:t>Test Set RMSE</a:t>
                      </a:r>
                    </a:p>
                  </a:txBody>
                  <a:tcPr/>
                </a:tc>
                <a:extLst>
                  <a:ext uri="{0D108BD9-81ED-4DB2-BD59-A6C34878D82A}">
                    <a16:rowId xmlns:a16="http://schemas.microsoft.com/office/drawing/2014/main" val="2750600487"/>
                  </a:ext>
                </a:extLst>
              </a:tr>
              <a:tr h="886265">
                <a:tc>
                  <a:txBody>
                    <a:bodyPr/>
                    <a:lstStyle/>
                    <a:p>
                      <a:pPr lvl="0">
                        <a:buNone/>
                      </a:pPr>
                      <a:r>
                        <a:rPr lang="en-US" sz="1800" b="0" i="0" u="none" strike="noStrike" noProof="0">
                          <a:solidFill>
                            <a:srgbClr val="FFFFFF"/>
                          </a:solidFill>
                          <a:latin typeface="Grandview Display"/>
                        </a:rPr>
                        <a:t>4 (BEST)</a:t>
                      </a:r>
                    </a:p>
                  </a:txBody>
                  <a:tcPr/>
                </a:tc>
                <a:tc>
                  <a:txBody>
                    <a:bodyPr/>
                    <a:lstStyle/>
                    <a:p>
                      <a:pPr lvl="0">
                        <a:buNone/>
                      </a:pPr>
                      <a:r>
                        <a:rPr lang="en-US" sz="1800" b="0" i="0" u="none" strike="noStrike" noProof="0">
                          <a:solidFill>
                            <a:srgbClr val="FFFFFF"/>
                          </a:solidFill>
                        </a:rPr>
                        <a:t>Constant decay factor to exponentially decrease learning rate every subsequent batch</a:t>
                      </a:r>
                      <a:endParaRPr lang="en-US"/>
                    </a:p>
                  </a:txBody>
                  <a:tcPr/>
                </a:tc>
                <a:tc>
                  <a:txBody>
                    <a:bodyPr/>
                    <a:lstStyle/>
                    <a:p>
                      <a:pPr marL="285750" indent="-285750">
                        <a:buFont typeface="Arial"/>
                        <a:buChar char="•"/>
                      </a:pPr>
                      <a:r>
                        <a:rPr lang="en-US" sz="1800"/>
                        <a:t>Initial learning rate = 1e-5</a:t>
                      </a:r>
                    </a:p>
                    <a:p>
                      <a:pPr marL="285750" lvl="0" indent="-285750">
                        <a:buFont typeface="Arial"/>
                        <a:buChar char="•"/>
                      </a:pPr>
                      <a:r>
                        <a:rPr lang="en-US" sz="1800"/>
                        <a:t>Decay factor = 1e-8</a:t>
                      </a:r>
                    </a:p>
                    <a:p>
                      <a:pPr marL="285750" lvl="0" indent="-285750">
                        <a:buFont typeface="Arial"/>
                        <a:buChar char="•"/>
                      </a:pPr>
                      <a:r>
                        <a:rPr lang="en-US" sz="1800"/>
                        <a:t>Epochs = 3</a:t>
                      </a:r>
                    </a:p>
                  </a:txBody>
                  <a:tcPr/>
                </a:tc>
                <a:tc>
                  <a:txBody>
                    <a:bodyPr/>
                    <a:lstStyle/>
                    <a:p>
                      <a:r>
                        <a:rPr lang="en-US" sz="1800"/>
                        <a:t>Adam</a:t>
                      </a:r>
                    </a:p>
                  </a:txBody>
                  <a:tcPr/>
                </a:tc>
                <a:tc>
                  <a:txBody>
                    <a:bodyPr/>
                    <a:lstStyle/>
                    <a:p>
                      <a:pPr lvl="0">
                        <a:buNone/>
                      </a:pPr>
                      <a:r>
                        <a:rPr lang="en-US" sz="1800" b="0" i="0" u="none" strike="noStrike" noProof="0"/>
                        <a:t>0.5410</a:t>
                      </a:r>
                      <a:endParaRPr lang="en-US" sz="1800"/>
                    </a:p>
                  </a:txBody>
                  <a:tcPr/>
                </a:tc>
                <a:tc>
                  <a:txBody>
                    <a:bodyPr/>
                    <a:lstStyle/>
                    <a:p>
                      <a:pPr lvl="0">
                        <a:buNone/>
                      </a:pPr>
                      <a:r>
                        <a:rPr lang="en-US" sz="1800" b="0" i="0" u="none" strike="noStrike" noProof="0"/>
                        <a:t>0.5510</a:t>
                      </a:r>
                    </a:p>
                  </a:txBody>
                  <a:tcPr/>
                </a:tc>
                <a:extLst>
                  <a:ext uri="{0D108BD9-81ED-4DB2-BD59-A6C34878D82A}">
                    <a16:rowId xmlns:a16="http://schemas.microsoft.com/office/drawing/2014/main" val="886463337"/>
                  </a:ext>
                </a:extLst>
              </a:tr>
            </a:tbl>
          </a:graphicData>
        </a:graphic>
      </p:graphicFrame>
      <p:graphicFrame>
        <p:nvGraphicFramePr>
          <p:cNvPr id="9" name="Table 8">
            <a:extLst>
              <a:ext uri="{FF2B5EF4-FFF2-40B4-BE49-F238E27FC236}">
                <a16:creationId xmlns:a16="http://schemas.microsoft.com/office/drawing/2014/main" id="{F6F40870-427B-333E-08EC-E6814145CD32}"/>
              </a:ext>
            </a:extLst>
          </p:cNvPr>
          <p:cNvGraphicFramePr>
            <a:graphicFrameLocks noGrp="1"/>
          </p:cNvGraphicFramePr>
          <p:nvPr>
            <p:extLst>
              <p:ext uri="{D42A27DB-BD31-4B8C-83A1-F6EECF244321}">
                <p14:modId xmlns:p14="http://schemas.microsoft.com/office/powerpoint/2010/main" val="2605336098"/>
              </p:ext>
            </p:extLst>
          </p:nvPr>
        </p:nvGraphicFramePr>
        <p:xfrm>
          <a:off x="4956828" y="4416555"/>
          <a:ext cx="2762008" cy="1651000"/>
        </p:xfrm>
        <a:graphic>
          <a:graphicData uri="http://schemas.openxmlformats.org/drawingml/2006/table">
            <a:tbl>
              <a:tblPr firstRow="1" bandRow="1">
                <a:tableStyleId>{18603FDC-E32A-4AB5-989C-0864C3EAD2B8}</a:tableStyleId>
              </a:tblPr>
              <a:tblGrid>
                <a:gridCol w="1381004">
                  <a:extLst>
                    <a:ext uri="{9D8B030D-6E8A-4147-A177-3AD203B41FA5}">
                      <a16:colId xmlns:a16="http://schemas.microsoft.com/office/drawing/2014/main" val="1367030095"/>
                    </a:ext>
                  </a:extLst>
                </a:gridCol>
                <a:gridCol w="1381004">
                  <a:extLst>
                    <a:ext uri="{9D8B030D-6E8A-4147-A177-3AD203B41FA5}">
                      <a16:colId xmlns:a16="http://schemas.microsoft.com/office/drawing/2014/main" val="2960628788"/>
                    </a:ext>
                  </a:extLst>
                </a:gridCol>
              </a:tblGrid>
              <a:tr h="370840">
                <a:tc>
                  <a:txBody>
                    <a:bodyPr/>
                    <a:lstStyle/>
                    <a:p>
                      <a:pPr lvl="0">
                        <a:buNone/>
                      </a:pPr>
                      <a:r>
                        <a:rPr lang="en-US" sz="1800" b="1" i="0" u="none" strike="noStrike" noProof="0">
                          <a:latin typeface="Grandview Display"/>
                        </a:rPr>
                        <a:t>Dataset</a:t>
                      </a:r>
                      <a:endParaRPr lang="en-US" sz="1800" b="1"/>
                    </a:p>
                  </a:txBody>
                  <a:tcPr/>
                </a:tc>
                <a:tc>
                  <a:txBody>
                    <a:bodyPr/>
                    <a:lstStyle/>
                    <a:p>
                      <a:pPr lvl="0">
                        <a:buNone/>
                      </a:pPr>
                      <a:r>
                        <a:rPr lang="en-US" sz="1800" b="1" i="0" u="none" strike="noStrike" noProof="0">
                          <a:latin typeface="Grandview Display"/>
                        </a:rPr>
                        <a:t>Baseline RMSE</a:t>
                      </a:r>
                      <a:endParaRPr lang="en-US" sz="1800" b="1"/>
                    </a:p>
                  </a:txBody>
                  <a:tcPr/>
                </a:tc>
                <a:extLst>
                  <a:ext uri="{0D108BD9-81ED-4DB2-BD59-A6C34878D82A}">
                    <a16:rowId xmlns:a16="http://schemas.microsoft.com/office/drawing/2014/main" val="2015710737"/>
                  </a:ext>
                </a:extLst>
              </a:tr>
              <a:tr h="370840">
                <a:tc>
                  <a:txBody>
                    <a:bodyPr/>
                    <a:lstStyle/>
                    <a:p>
                      <a:pPr lvl="0">
                        <a:buNone/>
                      </a:pPr>
                      <a:r>
                        <a:rPr lang="en-US" sz="1800" b="0" i="0" u="none" strike="noStrike" noProof="0">
                          <a:latin typeface="Grandview Display"/>
                        </a:rPr>
                        <a:t>Validation set</a:t>
                      </a:r>
                      <a:endParaRPr lang="en-US" sz="1800"/>
                    </a:p>
                  </a:txBody>
                  <a:tcPr/>
                </a:tc>
                <a:tc>
                  <a:txBody>
                    <a:bodyPr/>
                    <a:lstStyle/>
                    <a:p>
                      <a:pPr lvl="0">
                        <a:buNone/>
                      </a:pPr>
                      <a:r>
                        <a:rPr lang="en-US" sz="1800" b="0" i="0" u="none" strike="noStrike" noProof="0">
                          <a:latin typeface="Grandview Display"/>
                        </a:rPr>
                        <a:t>0.5784</a:t>
                      </a:r>
                      <a:endParaRPr lang="en-US" sz="1800"/>
                    </a:p>
                  </a:txBody>
                  <a:tcPr/>
                </a:tc>
                <a:extLst>
                  <a:ext uri="{0D108BD9-81ED-4DB2-BD59-A6C34878D82A}">
                    <a16:rowId xmlns:a16="http://schemas.microsoft.com/office/drawing/2014/main" val="3384048016"/>
                  </a:ext>
                </a:extLst>
              </a:tr>
              <a:tr h="370840">
                <a:tc>
                  <a:txBody>
                    <a:bodyPr/>
                    <a:lstStyle/>
                    <a:p>
                      <a:pPr lvl="0">
                        <a:buNone/>
                      </a:pPr>
                      <a:r>
                        <a:rPr lang="en-US" sz="1800" b="0" i="0" u="none" strike="noStrike" noProof="0">
                          <a:latin typeface="Grandview Display"/>
                        </a:rPr>
                        <a:t>Test set</a:t>
                      </a:r>
                      <a:endParaRPr lang="en-US" sz="1800"/>
                    </a:p>
                  </a:txBody>
                  <a:tcPr/>
                </a:tc>
                <a:tc>
                  <a:txBody>
                    <a:bodyPr/>
                    <a:lstStyle/>
                    <a:p>
                      <a:pPr lvl="0">
                        <a:buNone/>
                      </a:pPr>
                      <a:r>
                        <a:rPr lang="en-US" sz="1800" b="0" i="0" u="none" strike="noStrike" noProof="0">
                          <a:latin typeface="Grandview Display"/>
                        </a:rPr>
                        <a:t>0.5747</a:t>
                      </a:r>
                      <a:endParaRPr lang="en-US" sz="1800"/>
                    </a:p>
                  </a:txBody>
                  <a:tcPr/>
                </a:tc>
                <a:extLst>
                  <a:ext uri="{0D108BD9-81ED-4DB2-BD59-A6C34878D82A}">
                    <a16:rowId xmlns:a16="http://schemas.microsoft.com/office/drawing/2014/main" val="1596122349"/>
                  </a:ext>
                </a:extLst>
              </a:tr>
            </a:tbl>
          </a:graphicData>
        </a:graphic>
      </p:graphicFrame>
      <p:sp>
        <p:nvSpPr>
          <p:cNvPr id="2" name="TextBox 1">
            <a:extLst>
              <a:ext uri="{FF2B5EF4-FFF2-40B4-BE49-F238E27FC236}">
                <a16:creationId xmlns:a16="http://schemas.microsoft.com/office/drawing/2014/main" id="{054311B0-57FF-2C8C-B146-3E0ECD552BB3}"/>
              </a:ext>
            </a:extLst>
          </p:cNvPr>
          <p:cNvSpPr txBox="1"/>
          <p:nvPr/>
        </p:nvSpPr>
        <p:spPr>
          <a:xfrm>
            <a:off x="4839228" y="1402291"/>
            <a:ext cx="3254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BEST MODEL AND SUCCESS!</a:t>
            </a:r>
          </a:p>
        </p:txBody>
      </p:sp>
    </p:spTree>
    <p:extLst>
      <p:ext uri="{BB962C8B-B14F-4D97-AF65-F5344CB8AC3E}">
        <p14:creationId xmlns:p14="http://schemas.microsoft.com/office/powerpoint/2010/main" val="1722117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FF051E5-662D-897B-D862-43786B59050A}"/>
              </a:ext>
            </a:extLst>
          </p:cNvPr>
          <p:cNvGraphicFramePr/>
          <p:nvPr>
            <p:extLst>
              <p:ext uri="{D42A27DB-BD31-4B8C-83A1-F6EECF244321}">
                <p14:modId xmlns:p14="http://schemas.microsoft.com/office/powerpoint/2010/main" val="3277627607"/>
              </p:ext>
            </p:extLst>
          </p:nvPr>
        </p:nvGraphicFramePr>
        <p:xfrm>
          <a:off x="4272002" y="65795"/>
          <a:ext cx="4484379"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A2CDE760-6DC4-24BF-6CDE-8923615AB27B}"/>
              </a:ext>
            </a:extLst>
          </p:cNvPr>
          <p:cNvGraphicFramePr>
            <a:graphicFrameLocks noGrp="1"/>
          </p:cNvGraphicFramePr>
          <p:nvPr>
            <p:extLst>
              <p:ext uri="{D42A27DB-BD31-4B8C-83A1-F6EECF244321}">
                <p14:modId xmlns:p14="http://schemas.microsoft.com/office/powerpoint/2010/main" val="2140934439"/>
              </p:ext>
            </p:extLst>
          </p:nvPr>
        </p:nvGraphicFramePr>
        <p:xfrm>
          <a:off x="3251916" y="890788"/>
          <a:ext cx="8362382" cy="1877530"/>
        </p:xfrm>
        <a:graphic>
          <a:graphicData uri="http://schemas.openxmlformats.org/drawingml/2006/table">
            <a:tbl>
              <a:tblPr firstRow="1" bandRow="1">
                <a:tableStyleId>{18603FDC-E32A-4AB5-989C-0864C3EAD2B8}</a:tableStyleId>
              </a:tblPr>
              <a:tblGrid>
                <a:gridCol w="916878">
                  <a:extLst>
                    <a:ext uri="{9D8B030D-6E8A-4147-A177-3AD203B41FA5}">
                      <a16:colId xmlns:a16="http://schemas.microsoft.com/office/drawing/2014/main" val="1724539584"/>
                    </a:ext>
                  </a:extLst>
                </a:gridCol>
                <a:gridCol w="2750636">
                  <a:extLst>
                    <a:ext uri="{9D8B030D-6E8A-4147-A177-3AD203B41FA5}">
                      <a16:colId xmlns:a16="http://schemas.microsoft.com/office/drawing/2014/main" val="3285785908"/>
                    </a:ext>
                  </a:extLst>
                </a:gridCol>
                <a:gridCol w="2356172">
                  <a:extLst>
                    <a:ext uri="{9D8B030D-6E8A-4147-A177-3AD203B41FA5}">
                      <a16:colId xmlns:a16="http://schemas.microsoft.com/office/drawing/2014/main" val="2103733421"/>
                    </a:ext>
                  </a:extLst>
                </a:gridCol>
                <a:gridCol w="1135709">
                  <a:extLst>
                    <a:ext uri="{9D8B030D-6E8A-4147-A177-3AD203B41FA5}">
                      <a16:colId xmlns:a16="http://schemas.microsoft.com/office/drawing/2014/main" val="2200579315"/>
                    </a:ext>
                  </a:extLst>
                </a:gridCol>
                <a:gridCol w="1202987">
                  <a:extLst>
                    <a:ext uri="{9D8B030D-6E8A-4147-A177-3AD203B41FA5}">
                      <a16:colId xmlns:a16="http://schemas.microsoft.com/office/drawing/2014/main" val="1864715665"/>
                    </a:ext>
                  </a:extLst>
                </a:gridCol>
              </a:tblGrid>
              <a:tr h="443852">
                <a:tc>
                  <a:txBody>
                    <a:bodyPr/>
                    <a:lstStyle/>
                    <a:p>
                      <a:pPr lvl="0">
                        <a:buNone/>
                      </a:pPr>
                      <a:r>
                        <a:rPr lang="en-US" sz="1200"/>
                        <a:t>Model Number</a:t>
                      </a:r>
                    </a:p>
                  </a:txBody>
                  <a:tcPr/>
                </a:tc>
                <a:tc>
                  <a:txBody>
                    <a:bodyPr/>
                    <a:lstStyle/>
                    <a:p>
                      <a:r>
                        <a:rPr lang="en-US" sz="1200"/>
                        <a:t>Learning Rate Decay Method</a:t>
                      </a:r>
                    </a:p>
                  </a:txBody>
                  <a:tcPr/>
                </a:tc>
                <a:tc>
                  <a:txBody>
                    <a:bodyPr/>
                    <a:lstStyle/>
                    <a:p>
                      <a:r>
                        <a:rPr lang="en-US" sz="1200"/>
                        <a:t>Hyperparameters (Description)</a:t>
                      </a:r>
                    </a:p>
                  </a:txBody>
                  <a:tcPr/>
                </a:tc>
                <a:tc>
                  <a:txBody>
                    <a:bodyPr/>
                    <a:lstStyle/>
                    <a:p>
                      <a:r>
                        <a:rPr lang="en-US" sz="1200"/>
                        <a:t>Optimizer</a:t>
                      </a:r>
                    </a:p>
                  </a:txBody>
                  <a:tcPr/>
                </a:tc>
                <a:tc>
                  <a:txBody>
                    <a:bodyPr/>
                    <a:lstStyle/>
                    <a:p>
                      <a:pPr lvl="0">
                        <a:buNone/>
                      </a:pPr>
                      <a:r>
                        <a:rPr lang="en-US" sz="1200"/>
                        <a:t>Validation Set RMSE</a:t>
                      </a:r>
                    </a:p>
                  </a:txBody>
                  <a:tcPr/>
                </a:tc>
                <a:extLst>
                  <a:ext uri="{0D108BD9-81ED-4DB2-BD59-A6C34878D82A}">
                    <a16:rowId xmlns:a16="http://schemas.microsoft.com/office/drawing/2014/main" val="2750600487"/>
                  </a:ext>
                </a:extLst>
              </a:tr>
              <a:tr h="710165">
                <a:tc>
                  <a:txBody>
                    <a:bodyPr/>
                    <a:lstStyle/>
                    <a:p>
                      <a:pPr lvl="0">
                        <a:buNone/>
                      </a:pPr>
                      <a:r>
                        <a:rPr lang="en-US" sz="1200"/>
                        <a:t>3</a:t>
                      </a:r>
                    </a:p>
                  </a:txBody>
                  <a:tcPr/>
                </a:tc>
                <a:tc>
                  <a:txBody>
                    <a:bodyPr/>
                    <a:lstStyle/>
                    <a:p>
                      <a:pPr lvl="0">
                        <a:buNone/>
                      </a:pPr>
                      <a:r>
                        <a:rPr lang="en-US" sz="1200" b="0" i="0" u="none" strike="noStrike" noProof="0">
                          <a:solidFill>
                            <a:srgbClr val="FFFFFF"/>
                          </a:solidFill>
                          <a:latin typeface="Grandview Display"/>
                        </a:rPr>
                        <a:t>Constant decay factor to exponentially decrease learning rate every subsequent batch</a:t>
                      </a:r>
                    </a:p>
                  </a:txBody>
                  <a:tcPr/>
                </a:tc>
                <a:tc>
                  <a:txBody>
                    <a:bodyPr/>
                    <a:lstStyle/>
                    <a:p>
                      <a:pPr marL="285750" indent="-285750">
                        <a:buFont typeface="Arial"/>
                        <a:buChar char="•"/>
                      </a:pPr>
                      <a:r>
                        <a:rPr lang="en-US" sz="1200"/>
                        <a:t>Initial learning rate = 1e-5</a:t>
                      </a:r>
                    </a:p>
                    <a:p>
                      <a:pPr marL="285750" lvl="0" indent="-285750">
                        <a:buFont typeface="Arial"/>
                        <a:buChar char="•"/>
                      </a:pPr>
                      <a:r>
                        <a:rPr lang="en-US" sz="1200"/>
                        <a:t>Decay factor = 1e-8</a:t>
                      </a:r>
                    </a:p>
                    <a:p>
                      <a:pPr marL="285750" lvl="0" indent="-285750">
                        <a:buFont typeface="Arial"/>
                        <a:buChar char="•"/>
                      </a:pPr>
                      <a:r>
                        <a:rPr lang="en-US" sz="1200"/>
                        <a:t>Epochs = 3</a:t>
                      </a:r>
                    </a:p>
                  </a:txBody>
                  <a:tcPr/>
                </a:tc>
                <a:tc>
                  <a:txBody>
                    <a:bodyPr/>
                    <a:lstStyle/>
                    <a:p>
                      <a:r>
                        <a:rPr lang="en-US" sz="1200"/>
                        <a:t>RMSprop</a:t>
                      </a:r>
                    </a:p>
                  </a:txBody>
                  <a:tcPr/>
                </a:tc>
                <a:tc>
                  <a:txBody>
                    <a:bodyPr/>
                    <a:lstStyle/>
                    <a:p>
                      <a:pPr lvl="0">
                        <a:buNone/>
                      </a:pPr>
                      <a:r>
                        <a:rPr lang="en-US" sz="1200" b="0" i="0" u="none" strike="noStrike" noProof="0">
                          <a:latin typeface="Grandview Display"/>
                        </a:rPr>
                        <a:t>0.5515</a:t>
                      </a:r>
                      <a:endParaRPr lang="en-US"/>
                    </a:p>
                  </a:txBody>
                  <a:tcPr/>
                </a:tc>
                <a:extLst>
                  <a:ext uri="{0D108BD9-81ED-4DB2-BD59-A6C34878D82A}">
                    <a16:rowId xmlns:a16="http://schemas.microsoft.com/office/drawing/2014/main" val="4125178034"/>
                  </a:ext>
                </a:extLst>
              </a:tr>
              <a:tr h="710165">
                <a:tc>
                  <a:txBody>
                    <a:bodyPr/>
                    <a:lstStyle/>
                    <a:p>
                      <a:pPr lvl="0">
                        <a:buNone/>
                      </a:pPr>
                      <a:r>
                        <a:rPr lang="en-US" sz="1200" b="0" i="0" u="none" strike="noStrike" noProof="0">
                          <a:solidFill>
                            <a:srgbClr val="FFFFFF"/>
                          </a:solidFill>
                          <a:latin typeface="Grandview Display"/>
                        </a:rPr>
                        <a:t>4</a:t>
                      </a:r>
                    </a:p>
                  </a:txBody>
                  <a:tcPr/>
                </a:tc>
                <a:tc>
                  <a:txBody>
                    <a:bodyPr/>
                    <a:lstStyle/>
                    <a:p>
                      <a:pPr lvl="0">
                        <a:buNone/>
                      </a:pPr>
                      <a:r>
                        <a:rPr lang="en-US" sz="1200" b="0" i="0" u="none" strike="noStrike" noProof="0">
                          <a:solidFill>
                            <a:srgbClr val="FFFFFF"/>
                          </a:solidFill>
                        </a:rPr>
                        <a:t>Constant decay factor to exponentially decrease learning rate every subsequent batch</a:t>
                      </a:r>
                      <a:endParaRPr lang="en-US"/>
                    </a:p>
                  </a:txBody>
                  <a:tcPr/>
                </a:tc>
                <a:tc>
                  <a:txBody>
                    <a:bodyPr/>
                    <a:lstStyle/>
                    <a:p>
                      <a:pPr marL="285750" indent="-285750">
                        <a:buClr>
                          <a:srgbClr val="FFFFFF"/>
                        </a:buClr>
                        <a:buFont typeface="Arial,Sans-Serif"/>
                        <a:buChar char="•"/>
                      </a:pPr>
                      <a:r>
                        <a:rPr lang="en-US" sz="1200" b="0" i="0" u="none" strike="noStrike" noProof="0">
                          <a:solidFill>
                            <a:srgbClr val="FFFFFF"/>
                          </a:solidFill>
                        </a:rPr>
                        <a:t>Initial learning rate = 1e-5</a:t>
                      </a:r>
                    </a:p>
                    <a:p>
                      <a:pPr marL="285750" lvl="0" indent="-285750">
                        <a:buClr>
                          <a:srgbClr val="FFFFFF"/>
                        </a:buClr>
                        <a:buFont typeface="Arial,Sans-Serif"/>
                        <a:buChar char="•"/>
                      </a:pPr>
                      <a:r>
                        <a:rPr lang="en-US" sz="1200" b="0" i="0" u="none" strike="noStrike" noProof="0">
                          <a:solidFill>
                            <a:srgbClr val="FFFFFF"/>
                          </a:solidFill>
                        </a:rPr>
                        <a:t>Decay factor = 1e-8</a:t>
                      </a:r>
                    </a:p>
                    <a:p>
                      <a:pPr marL="285750" lvl="0" indent="-285750">
                        <a:buClr>
                          <a:srgbClr val="FFFFFF"/>
                        </a:buClr>
                        <a:buFont typeface="Arial,Sans-Serif"/>
                        <a:buChar char="•"/>
                      </a:pPr>
                      <a:r>
                        <a:rPr lang="en-US" sz="1200" b="0" i="0" u="none" strike="noStrike" noProof="0">
                          <a:solidFill>
                            <a:srgbClr val="FFFFFF"/>
                          </a:solidFill>
                        </a:rPr>
                        <a:t>Epochs = 3</a:t>
                      </a:r>
                      <a:endParaRPr lang="en-US"/>
                    </a:p>
                  </a:txBody>
                  <a:tcPr/>
                </a:tc>
                <a:tc>
                  <a:txBody>
                    <a:bodyPr/>
                    <a:lstStyle/>
                    <a:p>
                      <a:r>
                        <a:rPr lang="en-US" sz="1200"/>
                        <a:t>Adam</a:t>
                      </a:r>
                    </a:p>
                  </a:txBody>
                  <a:tcPr/>
                </a:tc>
                <a:tc>
                  <a:txBody>
                    <a:bodyPr/>
                    <a:lstStyle/>
                    <a:p>
                      <a:pPr lvl="0">
                        <a:buNone/>
                      </a:pPr>
                      <a:r>
                        <a:rPr lang="en-US" sz="1200" b="0" i="0" u="none" strike="noStrike" noProof="0"/>
                        <a:t>0.5410</a:t>
                      </a:r>
                      <a:endParaRPr lang="en-US"/>
                    </a:p>
                  </a:txBody>
                  <a:tcPr/>
                </a:tc>
                <a:extLst>
                  <a:ext uri="{0D108BD9-81ED-4DB2-BD59-A6C34878D82A}">
                    <a16:rowId xmlns:a16="http://schemas.microsoft.com/office/drawing/2014/main" val="886463337"/>
                  </a:ext>
                </a:extLst>
              </a:tr>
            </a:tbl>
          </a:graphicData>
        </a:graphic>
      </p:graphicFrame>
      <p:sp>
        <p:nvSpPr>
          <p:cNvPr id="6" name="TextBox 5">
            <a:extLst>
              <a:ext uri="{FF2B5EF4-FFF2-40B4-BE49-F238E27FC236}">
                <a16:creationId xmlns:a16="http://schemas.microsoft.com/office/drawing/2014/main" id="{7B8592D9-5FDF-677D-D755-41308F060FA4}"/>
              </a:ext>
            </a:extLst>
          </p:cNvPr>
          <p:cNvSpPr txBox="1"/>
          <p:nvPr/>
        </p:nvSpPr>
        <p:spPr>
          <a:xfrm>
            <a:off x="313924" y="1360331"/>
            <a:ext cx="161254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Our experimental results</a:t>
            </a:r>
          </a:p>
        </p:txBody>
      </p:sp>
      <p:cxnSp>
        <p:nvCxnSpPr>
          <p:cNvPr id="8" name="Straight Arrow Connector 7">
            <a:extLst>
              <a:ext uri="{FF2B5EF4-FFF2-40B4-BE49-F238E27FC236}">
                <a16:creationId xmlns:a16="http://schemas.microsoft.com/office/drawing/2014/main" id="{0973E536-C980-80F0-A7A1-D4E1F6F560D3}"/>
              </a:ext>
            </a:extLst>
          </p:cNvPr>
          <p:cNvCxnSpPr/>
          <p:nvPr/>
        </p:nvCxnSpPr>
        <p:spPr>
          <a:xfrm flipV="1">
            <a:off x="1842885" y="1828934"/>
            <a:ext cx="1161246" cy="8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9">
            <a:extLst>
              <a:ext uri="{FF2B5EF4-FFF2-40B4-BE49-F238E27FC236}">
                <a16:creationId xmlns:a16="http://schemas.microsoft.com/office/drawing/2014/main" id="{4A0CC922-C6CE-49DC-F4A6-5330B5F2E4AF}"/>
              </a:ext>
            </a:extLst>
          </p:cNvPr>
          <p:cNvGraphicFramePr>
            <a:graphicFrameLocks noGrp="1"/>
          </p:cNvGraphicFramePr>
          <p:nvPr>
            <p:extLst>
              <p:ext uri="{D42A27DB-BD31-4B8C-83A1-F6EECF244321}">
                <p14:modId xmlns:p14="http://schemas.microsoft.com/office/powerpoint/2010/main" val="964667642"/>
              </p:ext>
            </p:extLst>
          </p:nvPr>
        </p:nvGraphicFramePr>
        <p:xfrm>
          <a:off x="3230451" y="3176788"/>
          <a:ext cx="8362382" cy="1877530"/>
        </p:xfrm>
        <a:graphic>
          <a:graphicData uri="http://schemas.openxmlformats.org/drawingml/2006/table">
            <a:tbl>
              <a:tblPr firstRow="1" bandRow="1">
                <a:tableStyleId>{18603FDC-E32A-4AB5-989C-0864C3EAD2B8}</a:tableStyleId>
              </a:tblPr>
              <a:tblGrid>
                <a:gridCol w="916878">
                  <a:extLst>
                    <a:ext uri="{9D8B030D-6E8A-4147-A177-3AD203B41FA5}">
                      <a16:colId xmlns:a16="http://schemas.microsoft.com/office/drawing/2014/main" val="1724539584"/>
                    </a:ext>
                  </a:extLst>
                </a:gridCol>
                <a:gridCol w="2750636">
                  <a:extLst>
                    <a:ext uri="{9D8B030D-6E8A-4147-A177-3AD203B41FA5}">
                      <a16:colId xmlns:a16="http://schemas.microsoft.com/office/drawing/2014/main" val="3285785908"/>
                    </a:ext>
                  </a:extLst>
                </a:gridCol>
                <a:gridCol w="2356172">
                  <a:extLst>
                    <a:ext uri="{9D8B030D-6E8A-4147-A177-3AD203B41FA5}">
                      <a16:colId xmlns:a16="http://schemas.microsoft.com/office/drawing/2014/main" val="2103733421"/>
                    </a:ext>
                  </a:extLst>
                </a:gridCol>
                <a:gridCol w="1135709">
                  <a:extLst>
                    <a:ext uri="{9D8B030D-6E8A-4147-A177-3AD203B41FA5}">
                      <a16:colId xmlns:a16="http://schemas.microsoft.com/office/drawing/2014/main" val="2200579315"/>
                    </a:ext>
                  </a:extLst>
                </a:gridCol>
                <a:gridCol w="1202987">
                  <a:extLst>
                    <a:ext uri="{9D8B030D-6E8A-4147-A177-3AD203B41FA5}">
                      <a16:colId xmlns:a16="http://schemas.microsoft.com/office/drawing/2014/main" val="1864715665"/>
                    </a:ext>
                  </a:extLst>
                </a:gridCol>
              </a:tblGrid>
              <a:tr h="443852">
                <a:tc>
                  <a:txBody>
                    <a:bodyPr/>
                    <a:lstStyle/>
                    <a:p>
                      <a:pPr lvl="0">
                        <a:buNone/>
                      </a:pPr>
                      <a:r>
                        <a:rPr lang="en-US" sz="1200"/>
                        <a:t>Model Number</a:t>
                      </a:r>
                    </a:p>
                  </a:txBody>
                  <a:tcPr/>
                </a:tc>
                <a:tc>
                  <a:txBody>
                    <a:bodyPr/>
                    <a:lstStyle/>
                    <a:p>
                      <a:r>
                        <a:rPr lang="en-US" sz="1200"/>
                        <a:t>Learning Rate Decay Method</a:t>
                      </a:r>
                    </a:p>
                  </a:txBody>
                  <a:tcPr/>
                </a:tc>
                <a:tc>
                  <a:txBody>
                    <a:bodyPr/>
                    <a:lstStyle/>
                    <a:p>
                      <a:r>
                        <a:rPr lang="en-US" sz="1200"/>
                        <a:t>Hyperparameters (Description)</a:t>
                      </a:r>
                    </a:p>
                  </a:txBody>
                  <a:tcPr/>
                </a:tc>
                <a:tc>
                  <a:txBody>
                    <a:bodyPr/>
                    <a:lstStyle/>
                    <a:p>
                      <a:r>
                        <a:rPr lang="en-US" sz="1200"/>
                        <a:t>Optimizer</a:t>
                      </a:r>
                    </a:p>
                  </a:txBody>
                  <a:tcPr/>
                </a:tc>
                <a:tc>
                  <a:txBody>
                    <a:bodyPr/>
                    <a:lstStyle/>
                    <a:p>
                      <a:pPr lvl="0">
                        <a:buNone/>
                      </a:pPr>
                      <a:r>
                        <a:rPr lang="en-US" sz="1200"/>
                        <a:t>Validation Set RMSE</a:t>
                      </a:r>
                    </a:p>
                  </a:txBody>
                  <a:tcPr/>
                </a:tc>
                <a:extLst>
                  <a:ext uri="{0D108BD9-81ED-4DB2-BD59-A6C34878D82A}">
                    <a16:rowId xmlns:a16="http://schemas.microsoft.com/office/drawing/2014/main" val="2750600487"/>
                  </a:ext>
                </a:extLst>
              </a:tr>
              <a:tr h="710165">
                <a:tc>
                  <a:txBody>
                    <a:bodyPr/>
                    <a:lstStyle/>
                    <a:p>
                      <a:pPr lvl="0">
                        <a:buNone/>
                      </a:pPr>
                      <a:r>
                        <a:rPr lang="en-US" sz="1200"/>
                        <a:t>3</a:t>
                      </a:r>
                    </a:p>
                  </a:txBody>
                  <a:tcPr/>
                </a:tc>
                <a:tc>
                  <a:txBody>
                    <a:bodyPr/>
                    <a:lstStyle/>
                    <a:p>
                      <a:pPr lvl="0">
                        <a:buNone/>
                      </a:pPr>
                      <a:r>
                        <a:rPr lang="en-US" sz="1200" b="0" i="0" u="none" strike="noStrike" noProof="0">
                          <a:solidFill>
                            <a:srgbClr val="FFFFFF"/>
                          </a:solidFill>
                          <a:latin typeface="Grandview Display"/>
                        </a:rPr>
                        <a:t>Constant decay factor to exponentially decrease learning rate every subsequent batch</a:t>
                      </a:r>
                    </a:p>
                  </a:txBody>
                  <a:tcPr/>
                </a:tc>
                <a:tc>
                  <a:txBody>
                    <a:bodyPr/>
                    <a:lstStyle/>
                    <a:p>
                      <a:pPr marL="285750" indent="-285750">
                        <a:buClr>
                          <a:srgbClr val="FFFFFF"/>
                        </a:buClr>
                        <a:buFont typeface="Arial,Sans-Serif"/>
                        <a:buChar char="•"/>
                      </a:pPr>
                      <a:r>
                        <a:rPr lang="en-US" sz="1200" b="0" i="0" u="none" strike="noStrike" noProof="0">
                          <a:latin typeface="Grandview Display"/>
                        </a:rPr>
                        <a:t>Initial learning rate = 1e-5</a:t>
                      </a:r>
                    </a:p>
                    <a:p>
                      <a:pPr marL="285750" lvl="0" indent="-285750">
                        <a:buClr>
                          <a:srgbClr val="FFFFFF"/>
                        </a:buClr>
                        <a:buFont typeface="Arial,Sans-Serif"/>
                        <a:buChar char="•"/>
                      </a:pPr>
                      <a:r>
                        <a:rPr lang="en-US" sz="1200" b="0" i="0" u="none" strike="noStrike" noProof="0">
                          <a:latin typeface="Grandview Display"/>
                        </a:rPr>
                        <a:t>Decay factor = 1e-8</a:t>
                      </a:r>
                    </a:p>
                    <a:p>
                      <a:pPr marL="285750" lvl="0" indent="-285750">
                        <a:buClr>
                          <a:srgbClr val="FFFFFF"/>
                        </a:buClr>
                        <a:buFont typeface="Arial,Sans-Serif"/>
                        <a:buChar char="•"/>
                      </a:pPr>
                      <a:r>
                        <a:rPr lang="en-US" sz="1200" b="0" i="0" u="none" strike="noStrike" noProof="0">
                          <a:latin typeface="Grandview Display"/>
                        </a:rPr>
                        <a:t>Epochs = 3</a:t>
                      </a:r>
                      <a:endParaRPr lang="en-US" b="0" i="0" u="none" strike="noStrike" noProof="0">
                        <a:latin typeface="Grandview Display"/>
                      </a:endParaRPr>
                    </a:p>
                  </a:txBody>
                  <a:tcPr/>
                </a:tc>
                <a:tc>
                  <a:txBody>
                    <a:bodyPr/>
                    <a:lstStyle/>
                    <a:p>
                      <a:r>
                        <a:rPr lang="en-US" sz="1200"/>
                        <a:t>RMSprop</a:t>
                      </a:r>
                    </a:p>
                  </a:txBody>
                  <a:tcPr/>
                </a:tc>
                <a:tc>
                  <a:txBody>
                    <a:bodyPr/>
                    <a:lstStyle/>
                    <a:p>
                      <a:pPr lvl="0">
                        <a:buNone/>
                      </a:pPr>
                      <a:r>
                        <a:rPr lang="en-US" sz="1200" b="0" i="0" u="none" strike="noStrike" noProof="0">
                          <a:latin typeface="Grandview Display"/>
                        </a:rPr>
                        <a:t>0.4569</a:t>
                      </a:r>
                      <a:endParaRPr lang="en-US"/>
                    </a:p>
                  </a:txBody>
                  <a:tcPr/>
                </a:tc>
                <a:extLst>
                  <a:ext uri="{0D108BD9-81ED-4DB2-BD59-A6C34878D82A}">
                    <a16:rowId xmlns:a16="http://schemas.microsoft.com/office/drawing/2014/main" val="4125178034"/>
                  </a:ext>
                </a:extLst>
              </a:tr>
              <a:tr h="710165">
                <a:tc>
                  <a:txBody>
                    <a:bodyPr/>
                    <a:lstStyle/>
                    <a:p>
                      <a:pPr lvl="0">
                        <a:buNone/>
                      </a:pPr>
                      <a:r>
                        <a:rPr lang="en-US" sz="1200" b="0" i="0" u="none" strike="noStrike" noProof="0">
                          <a:solidFill>
                            <a:srgbClr val="FFFFFF"/>
                          </a:solidFill>
                          <a:latin typeface="Grandview Display"/>
                        </a:rPr>
                        <a:t>4</a:t>
                      </a:r>
                    </a:p>
                  </a:txBody>
                  <a:tcPr/>
                </a:tc>
                <a:tc>
                  <a:txBody>
                    <a:bodyPr/>
                    <a:lstStyle/>
                    <a:p>
                      <a:pPr lvl="0">
                        <a:buNone/>
                      </a:pPr>
                      <a:r>
                        <a:rPr lang="en-US" sz="1200" b="0" i="0" u="none" strike="noStrike" noProof="0">
                          <a:solidFill>
                            <a:srgbClr val="FFFFFF"/>
                          </a:solidFill>
                        </a:rPr>
                        <a:t>Constant decay factor to exponentially decrease learning rate every subsequent batch</a:t>
                      </a:r>
                      <a:endParaRPr lang="en-US"/>
                    </a:p>
                  </a:txBody>
                  <a:tcPr/>
                </a:tc>
                <a:tc>
                  <a:txBody>
                    <a:bodyPr/>
                    <a:lstStyle/>
                    <a:p>
                      <a:pPr marL="285750" indent="-285750">
                        <a:buClr>
                          <a:srgbClr val="FFFFFF"/>
                        </a:buClr>
                        <a:buFont typeface="Arial,Sans-Serif"/>
                        <a:buChar char="•"/>
                      </a:pPr>
                      <a:r>
                        <a:rPr lang="en-US" sz="1200" b="0" i="0" u="none" strike="noStrike" noProof="0">
                          <a:latin typeface="Grandview Display"/>
                        </a:rPr>
                        <a:t>Initial learning rate = 1e-5</a:t>
                      </a:r>
                    </a:p>
                    <a:p>
                      <a:pPr marL="285750" lvl="0" indent="-285750">
                        <a:buClr>
                          <a:srgbClr val="FFFFFF"/>
                        </a:buClr>
                        <a:buFont typeface="Arial,Sans-Serif"/>
                        <a:buChar char="•"/>
                      </a:pPr>
                      <a:r>
                        <a:rPr lang="en-US" sz="1200" b="0" i="0" u="none" strike="noStrike" noProof="0">
                          <a:latin typeface="Grandview Display"/>
                        </a:rPr>
                        <a:t>Decay factor = 1e-8</a:t>
                      </a:r>
                    </a:p>
                    <a:p>
                      <a:pPr marL="285750" lvl="0" indent="-285750">
                        <a:buClr>
                          <a:srgbClr val="FFFFFF"/>
                        </a:buClr>
                        <a:buFont typeface="Arial,Sans-Serif"/>
                        <a:buChar char="•"/>
                      </a:pPr>
                      <a:r>
                        <a:rPr lang="en-US" sz="1200" b="0" i="0" u="none" strike="noStrike" noProof="0">
                          <a:latin typeface="Grandview Display"/>
                        </a:rPr>
                        <a:t>Epochs = 3</a:t>
                      </a:r>
                      <a:endParaRPr lang="en-US" b="0" i="0" u="none" strike="noStrike" noProof="0">
                        <a:latin typeface="Grandview Display"/>
                      </a:endParaRPr>
                    </a:p>
                  </a:txBody>
                  <a:tcPr/>
                </a:tc>
                <a:tc>
                  <a:txBody>
                    <a:bodyPr/>
                    <a:lstStyle/>
                    <a:p>
                      <a:r>
                        <a:rPr lang="en-US" sz="1200"/>
                        <a:t>Adam</a:t>
                      </a:r>
                    </a:p>
                  </a:txBody>
                  <a:tcPr/>
                </a:tc>
                <a:tc>
                  <a:txBody>
                    <a:bodyPr/>
                    <a:lstStyle/>
                    <a:p>
                      <a:pPr lvl="0">
                        <a:buNone/>
                      </a:pPr>
                      <a:r>
                        <a:rPr lang="en-US" sz="1200" b="0" i="0" u="none" strike="noStrike" noProof="0"/>
                        <a:t>0.4944</a:t>
                      </a:r>
                      <a:endParaRPr lang="en-US"/>
                    </a:p>
                  </a:txBody>
                  <a:tcPr/>
                </a:tc>
                <a:extLst>
                  <a:ext uri="{0D108BD9-81ED-4DB2-BD59-A6C34878D82A}">
                    <a16:rowId xmlns:a16="http://schemas.microsoft.com/office/drawing/2014/main" val="886463337"/>
                  </a:ext>
                </a:extLst>
              </a:tr>
            </a:tbl>
          </a:graphicData>
        </a:graphic>
      </p:graphicFrame>
      <p:sp>
        <p:nvSpPr>
          <p:cNvPr id="11" name="TextBox 10">
            <a:extLst>
              <a:ext uri="{FF2B5EF4-FFF2-40B4-BE49-F238E27FC236}">
                <a16:creationId xmlns:a16="http://schemas.microsoft.com/office/drawing/2014/main" id="{97BDCFFA-954F-54E6-F29E-60F8712F8355}"/>
              </a:ext>
            </a:extLst>
          </p:cNvPr>
          <p:cNvSpPr txBox="1"/>
          <p:nvPr/>
        </p:nvSpPr>
        <p:spPr>
          <a:xfrm>
            <a:off x="238797" y="3646331"/>
            <a:ext cx="227794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Tuncer's (2021) experimental results</a:t>
            </a:r>
          </a:p>
        </p:txBody>
      </p:sp>
      <p:cxnSp>
        <p:nvCxnSpPr>
          <p:cNvPr id="12" name="Straight Arrow Connector 11">
            <a:extLst>
              <a:ext uri="{FF2B5EF4-FFF2-40B4-BE49-F238E27FC236}">
                <a16:creationId xmlns:a16="http://schemas.microsoft.com/office/drawing/2014/main" id="{159BFE9C-4798-77C4-3316-3F0170B2B3A3}"/>
              </a:ext>
            </a:extLst>
          </p:cNvPr>
          <p:cNvCxnSpPr>
            <a:cxnSpLocks/>
          </p:cNvCxnSpPr>
          <p:nvPr/>
        </p:nvCxnSpPr>
        <p:spPr>
          <a:xfrm>
            <a:off x="1842885" y="4359633"/>
            <a:ext cx="1161245" cy="2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EAF868D-564D-76A1-B9CF-83100889F4CC}"/>
              </a:ext>
            </a:extLst>
          </p:cNvPr>
          <p:cNvSpPr txBox="1"/>
          <p:nvPr/>
        </p:nvSpPr>
        <p:spPr>
          <a:xfrm>
            <a:off x="1078606" y="5210576"/>
            <a:ext cx="1078873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Issue: Large discrepancies in validation set RMSE values between our experiments and Tuncer's (2021) experiments.</a:t>
            </a:r>
          </a:p>
          <a:p>
            <a:pPr marL="285750" indent="-285750">
              <a:buFont typeface="Arial"/>
              <a:buChar char="•"/>
            </a:pPr>
            <a:r>
              <a:rPr lang="en-US"/>
              <a:t>Possible reasons: </a:t>
            </a:r>
          </a:p>
          <a:p>
            <a:pPr marL="742950" lvl="1" indent="-285750">
              <a:buFont typeface="Arial"/>
              <a:buChar char="•"/>
            </a:pPr>
            <a:r>
              <a:rPr lang="en-US"/>
              <a:t>We used </a:t>
            </a:r>
            <a:r>
              <a:rPr lang="en-US" err="1"/>
              <a:t>Tensorflow</a:t>
            </a:r>
            <a:r>
              <a:rPr lang="en-US"/>
              <a:t> 2.14 while he used </a:t>
            </a:r>
            <a:r>
              <a:rPr lang="en-US" err="1"/>
              <a:t>Tensorflow</a:t>
            </a:r>
            <a:r>
              <a:rPr lang="en-US"/>
              <a:t> 2.6</a:t>
            </a:r>
          </a:p>
          <a:p>
            <a:pPr marL="742950" lvl="1" indent="-285750">
              <a:buFont typeface="Arial"/>
              <a:buChar char="•"/>
            </a:pPr>
            <a:r>
              <a:rPr lang="en-US"/>
              <a:t>We set a random seed (he did not set a random seed)</a:t>
            </a:r>
          </a:p>
          <a:p>
            <a:pPr marL="285750" indent="-285750">
              <a:buFont typeface="Arial"/>
              <a:buChar char="•"/>
            </a:pPr>
            <a:endParaRPr lang="en-US"/>
          </a:p>
        </p:txBody>
      </p:sp>
    </p:spTree>
    <p:extLst>
      <p:ext uri="{BB962C8B-B14F-4D97-AF65-F5344CB8AC3E}">
        <p14:creationId xmlns:p14="http://schemas.microsoft.com/office/powerpoint/2010/main" val="2666483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365B530E-A97B-A4A8-512E-1A5AC2C64575}"/>
              </a:ext>
            </a:extLst>
          </p:cNvPr>
          <p:cNvGraphicFramePr/>
          <p:nvPr>
            <p:extLst>
              <p:ext uri="{D42A27DB-BD31-4B8C-83A1-F6EECF244321}">
                <p14:modId xmlns:p14="http://schemas.microsoft.com/office/powerpoint/2010/main" val="1746150459"/>
              </p:ext>
            </p:extLst>
          </p:nvPr>
        </p:nvGraphicFramePr>
        <p:xfrm>
          <a:off x="4218340" y="291175"/>
          <a:ext cx="4484379"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853286FC-7A56-DDDF-1530-4654A1F02F67}"/>
              </a:ext>
            </a:extLst>
          </p:cNvPr>
          <p:cNvSpPr txBox="1"/>
          <p:nvPr/>
        </p:nvSpPr>
        <p:spPr>
          <a:xfrm>
            <a:off x="1497392" y="1273539"/>
            <a:ext cx="858572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a:t>We were able to accomplish SemEval-2020 Task 7 – Subtask 1 by experimenting with several ALBERT models to ultimately choose the best configuration for funniness score prediction.  In the end, our best performing ALBERT model </a:t>
            </a:r>
            <a:r>
              <a:rPr lang="en-US" sz="2800">
                <a:ea typeface="+mn-lt"/>
                <a:cs typeface="+mn-lt"/>
              </a:rPr>
              <a:t>used a constant decay factor of 1e-8 to exponentially decrease the learning rate for every subsequent batch during the training process and the Adam Optimizer.  The final model's generalized root mean square error against the test set was 0.5510.</a:t>
            </a:r>
            <a:endParaRPr lang="en-US" sz="2800"/>
          </a:p>
        </p:txBody>
      </p:sp>
    </p:spTree>
    <p:extLst>
      <p:ext uri="{BB962C8B-B14F-4D97-AF65-F5344CB8AC3E}">
        <p14:creationId xmlns:p14="http://schemas.microsoft.com/office/powerpoint/2010/main" val="2672983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DE3122D-61AE-86A9-6513-86C53003BE79}"/>
              </a:ext>
            </a:extLst>
          </p:cNvPr>
          <p:cNvGraphicFramePr/>
          <p:nvPr>
            <p:extLst>
              <p:ext uri="{D42A27DB-BD31-4B8C-83A1-F6EECF244321}">
                <p14:modId xmlns:p14="http://schemas.microsoft.com/office/powerpoint/2010/main" val="4267934398"/>
              </p:ext>
            </p:extLst>
          </p:nvPr>
        </p:nvGraphicFramePr>
        <p:xfrm>
          <a:off x="596777" y="3996"/>
          <a:ext cx="10625229" cy="11470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3DB77C63-D948-9960-E6CE-ADEA30D0B638}"/>
              </a:ext>
            </a:extLst>
          </p:cNvPr>
          <p:cNvSpPr>
            <a:spLocks noGrp="1"/>
          </p:cNvSpPr>
          <p:nvPr>
            <p:ph idx="1"/>
          </p:nvPr>
        </p:nvSpPr>
        <p:spPr>
          <a:xfrm>
            <a:off x="469920" y="1151049"/>
            <a:ext cx="10620855" cy="3848100"/>
          </a:xfrm>
        </p:spPr>
        <p:txBody>
          <a:bodyPr vert="horz" lIns="91440" tIns="45720" rIns="91440" bIns="45720" rtlCol="0" anchor="t">
            <a:normAutofit/>
          </a:bodyPr>
          <a:lstStyle/>
          <a:p>
            <a:pPr marL="0" indent="0">
              <a:buNone/>
            </a:pPr>
            <a:r>
              <a:rPr lang="en-US"/>
              <a:t>Code and Methods Inspired by:</a:t>
            </a:r>
          </a:p>
          <a:p>
            <a:r>
              <a:rPr lang="en-US">
                <a:ea typeface="+mn-lt"/>
                <a:cs typeface="+mn-lt"/>
              </a:rPr>
              <a:t>Nabil Hossain, John Krumm, Michael </a:t>
            </a:r>
            <a:r>
              <a:rPr lang="en-US" err="1">
                <a:ea typeface="+mn-lt"/>
                <a:cs typeface="+mn-lt"/>
              </a:rPr>
              <a:t>Gamon</a:t>
            </a:r>
            <a:r>
              <a:rPr lang="en-US">
                <a:ea typeface="+mn-lt"/>
                <a:cs typeface="+mn-lt"/>
              </a:rPr>
              <a:t>, and Henry Kautz. 2020. Semeval-2020 task 7: Assessing humor in edited news headlines. In </a:t>
            </a:r>
            <a:r>
              <a:rPr lang="en-US" i="1">
                <a:ea typeface="+mn-lt"/>
                <a:cs typeface="+mn-lt"/>
              </a:rPr>
              <a:t>Proceedings of the 14th International Workshop on Semantic Evaluation</a:t>
            </a:r>
            <a:r>
              <a:rPr lang="en-US">
                <a:ea typeface="+mn-lt"/>
                <a:cs typeface="+mn-lt"/>
              </a:rPr>
              <a:t>, pages 746–758, Barcelona, Spain (Online).</a:t>
            </a:r>
            <a:endParaRPr lang="en-US"/>
          </a:p>
          <a:p>
            <a:r>
              <a:rPr lang="en-US">
                <a:ea typeface="+mn-lt"/>
                <a:cs typeface="+mn-lt"/>
              </a:rPr>
              <a:t>Nabil Hossain. 2019. semeval-2020-task-7-humicroedit. </a:t>
            </a:r>
            <a:r>
              <a:rPr lang="en-US" i="1">
                <a:ea typeface="+mn-lt"/>
                <a:cs typeface="+mn-lt"/>
              </a:rPr>
              <a:t>GitHub</a:t>
            </a:r>
            <a:r>
              <a:rPr lang="en-US">
                <a:ea typeface="+mn-lt"/>
                <a:cs typeface="+mn-lt"/>
              </a:rPr>
              <a:t>.</a:t>
            </a:r>
          </a:p>
          <a:p>
            <a:r>
              <a:rPr lang="en-US">
                <a:ea typeface="+mn-lt"/>
                <a:cs typeface="+mn-lt"/>
              </a:rPr>
              <a:t>Salih Tuncer. 2021. Semeval-2020 task 7: Assessing humor in edited news headlines - subtask 1 (regression). </a:t>
            </a:r>
            <a:r>
              <a:rPr lang="en-US" i="1">
                <a:ea typeface="+mn-lt"/>
                <a:cs typeface="+mn-lt"/>
              </a:rPr>
              <a:t>GitHub</a:t>
            </a:r>
            <a:r>
              <a:rPr lang="en-US">
                <a:ea typeface="+mn-lt"/>
                <a:cs typeface="+mn-lt"/>
              </a:rPr>
              <a:t>.</a:t>
            </a:r>
          </a:p>
          <a:p>
            <a:pPr marL="0" indent="0">
              <a:buNone/>
            </a:pPr>
            <a:endParaRPr lang="en-US"/>
          </a:p>
        </p:txBody>
      </p:sp>
    </p:spTree>
    <p:extLst>
      <p:ext uri="{BB962C8B-B14F-4D97-AF65-F5344CB8AC3E}">
        <p14:creationId xmlns:p14="http://schemas.microsoft.com/office/powerpoint/2010/main" val="2712711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8" name="Picture 7" descr="A screenshot of a computer screen&#10;&#10;Description automatically generated">
            <a:extLst>
              <a:ext uri="{FF2B5EF4-FFF2-40B4-BE49-F238E27FC236}">
                <a16:creationId xmlns:a16="http://schemas.microsoft.com/office/drawing/2014/main" id="{3DBB2CAE-B699-A60E-EDAB-4911C4F2FA81}"/>
              </a:ext>
            </a:extLst>
          </p:cNvPr>
          <p:cNvPicPr>
            <a:picLocks noChangeAspect="1"/>
          </p:cNvPicPr>
          <p:nvPr/>
        </p:nvPicPr>
        <p:blipFill>
          <a:blip r:embed="rId3"/>
          <a:stretch>
            <a:fillRect/>
          </a:stretch>
        </p:blipFill>
        <p:spPr>
          <a:xfrm flipH="1">
            <a:off x="0" y="0"/>
            <a:ext cx="12230828" cy="6858000"/>
          </a:xfrm>
          <a:prstGeom prst="rect">
            <a:avLst/>
          </a:prstGeom>
        </p:spPr>
      </p:pic>
      <p:sp>
        <p:nvSpPr>
          <p:cNvPr id="9" name="TextBox 8">
            <a:extLst>
              <a:ext uri="{FF2B5EF4-FFF2-40B4-BE49-F238E27FC236}">
                <a16:creationId xmlns:a16="http://schemas.microsoft.com/office/drawing/2014/main" id="{4AE34138-AF20-4178-05BB-EA3308DE3917}"/>
              </a:ext>
            </a:extLst>
          </p:cNvPr>
          <p:cNvSpPr txBox="1"/>
          <p:nvPr/>
        </p:nvSpPr>
        <p:spPr>
          <a:xfrm>
            <a:off x="8432800" y="2967335"/>
            <a:ext cx="3393440" cy="923330"/>
          </a:xfrm>
          <a:prstGeom prst="rect">
            <a:avLst/>
          </a:prstGeom>
          <a:noFill/>
        </p:spPr>
        <p:txBody>
          <a:bodyPr wrap="square" rtlCol="0">
            <a:spAutoFit/>
          </a:bodyPr>
          <a:lstStyle/>
          <a:p>
            <a:r>
              <a:rPr lang="en-US" sz="5400" b="1">
                <a:solidFill>
                  <a:schemeClr val="bg1"/>
                </a:solidFill>
                <a:latin typeface="+mj-lt"/>
              </a:rPr>
              <a:t>Thank You</a:t>
            </a:r>
          </a:p>
        </p:txBody>
      </p:sp>
    </p:spTree>
    <p:extLst>
      <p:ext uri="{BB962C8B-B14F-4D97-AF65-F5344CB8AC3E}">
        <p14:creationId xmlns:p14="http://schemas.microsoft.com/office/powerpoint/2010/main" val="1842062378"/>
      </p:ext>
    </p:extLst>
  </p:cSld>
  <p:clrMapOvr>
    <a:masterClrMapping/>
  </p:clrMapOvr>
</p:sld>
</file>

<file path=ppt/theme/theme1.xml><?xml version="1.0" encoding="utf-8"?>
<a:theme xmlns:a="http://schemas.openxmlformats.org/drawingml/2006/main" name="CitationVTI">
  <a:themeElements>
    <a:clrScheme name="Citation">
      <a:dk1>
        <a:sysClr val="windowText" lastClr="000000"/>
      </a:dk1>
      <a:lt1>
        <a:sysClr val="window" lastClr="FFFFFF"/>
      </a:lt1>
      <a:dk2>
        <a:srgbClr val="01375D"/>
      </a:dk2>
      <a:lt2>
        <a:srgbClr val="F3F2EF"/>
      </a:lt2>
      <a:accent1>
        <a:srgbClr val="29A3D2"/>
      </a:accent1>
      <a:accent2>
        <a:srgbClr val="0669AC"/>
      </a:accent2>
      <a:accent3>
        <a:srgbClr val="FD891C"/>
      </a:accent3>
      <a:accent4>
        <a:srgbClr val="FD6927"/>
      </a:accent4>
      <a:accent5>
        <a:srgbClr val="F95131"/>
      </a:accent5>
      <a:accent6>
        <a:srgbClr val="CE5FAE"/>
      </a:accent6>
      <a:hlink>
        <a:srgbClr val="0F8EC1"/>
      </a:hlink>
      <a:folHlink>
        <a:srgbClr val="DC6400"/>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{C06B90F4-262A-B845-BDBF-2E81CC4E5CF1}tf10001058</Template>
  <TotalTime>187</TotalTime>
  <Words>1847</Words>
  <Application>Microsoft Office PowerPoint</Application>
  <PresentationFormat>Widescreen</PresentationFormat>
  <Paragraphs>309</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Arial,Sans-Serif</vt:lpstr>
      <vt:lpstr>Calibri</vt:lpstr>
      <vt:lpstr>Courier New</vt:lpstr>
      <vt:lpstr>Courier New,monospace</vt:lpstr>
      <vt:lpstr>Grandview</vt:lpstr>
      <vt:lpstr>Grandview Display</vt:lpstr>
      <vt:lpstr>Times New Roman</vt:lpstr>
      <vt:lpstr>CitationVTI</vt:lpstr>
      <vt:lpstr>SemEval-2020 Task 7: Assessing Humor in Edited News Headlines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SemEval-2020 Task 7: Assessing Humor in Edited News Headlines</dc:title>
  <dc:creator>Ganga Prapurna Penmathsa</dc:creator>
  <cp:lastModifiedBy>Matthew L Vu</cp:lastModifiedBy>
  <cp:revision>2</cp:revision>
  <dcterms:created xsi:type="dcterms:W3CDTF">2023-11-12T04:05:07Z</dcterms:created>
  <dcterms:modified xsi:type="dcterms:W3CDTF">2023-11-16T08:03:57Z</dcterms:modified>
</cp:coreProperties>
</file>